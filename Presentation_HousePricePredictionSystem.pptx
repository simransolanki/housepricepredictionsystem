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7"/>
  </p:notesMasterIdLst>
  <p:handoutMasterIdLst>
    <p:handoutMasterId r:id="rId38"/>
  </p:handoutMasterIdLst>
  <p:sldIdLst>
    <p:sldId id="256" r:id="rId5"/>
    <p:sldId id="278" r:id="rId6"/>
    <p:sldId id="297" r:id="rId7"/>
    <p:sldId id="288" r:id="rId8"/>
    <p:sldId id="310" r:id="rId9"/>
    <p:sldId id="311" r:id="rId10"/>
    <p:sldId id="277" r:id="rId11"/>
    <p:sldId id="279" r:id="rId12"/>
    <p:sldId id="292" r:id="rId13"/>
    <p:sldId id="312" r:id="rId14"/>
    <p:sldId id="293" r:id="rId15"/>
    <p:sldId id="313" r:id="rId16"/>
    <p:sldId id="314" r:id="rId17"/>
    <p:sldId id="294" r:id="rId18"/>
    <p:sldId id="295" r:id="rId19"/>
    <p:sldId id="296" r:id="rId20"/>
    <p:sldId id="289" r:id="rId21"/>
    <p:sldId id="290" r:id="rId22"/>
    <p:sldId id="291" r:id="rId23"/>
    <p:sldId id="298" r:id="rId24"/>
    <p:sldId id="299" r:id="rId25"/>
    <p:sldId id="300" r:id="rId26"/>
    <p:sldId id="301" r:id="rId27"/>
    <p:sldId id="302" r:id="rId28"/>
    <p:sldId id="303" r:id="rId29"/>
    <p:sldId id="304" r:id="rId30"/>
    <p:sldId id="305" r:id="rId31"/>
    <p:sldId id="307" r:id="rId32"/>
    <p:sldId id="306" r:id="rId33"/>
    <p:sldId id="308" r:id="rId34"/>
    <p:sldId id="309" r:id="rId35"/>
    <p:sldId id="28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E16"/>
    <a:srgbClr val="FA9322"/>
    <a:srgbClr val="CC9900"/>
    <a:srgbClr val="C8C0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52" autoAdjust="0"/>
  </p:normalViewPr>
  <p:slideViewPr>
    <p:cSldViewPr snapToGrid="0" showGuides="1">
      <p:cViewPr varScale="1">
        <p:scale>
          <a:sx n="86" d="100"/>
          <a:sy n="86" d="100"/>
        </p:scale>
        <p:origin x="562" y="67"/>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7/1/2021</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7/1/2021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1772151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3</a:t>
            </a:fld>
            <a:endParaRPr lang="en-US" dirty="0"/>
          </a:p>
        </p:txBody>
      </p:sp>
    </p:spTree>
    <p:extLst>
      <p:ext uri="{BB962C8B-B14F-4D97-AF65-F5344CB8AC3E}">
        <p14:creationId xmlns:p14="http://schemas.microsoft.com/office/powerpoint/2010/main" val="2535774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5</a:t>
            </a:fld>
            <a:endParaRPr lang="en-US" dirty="0"/>
          </a:p>
        </p:txBody>
      </p:sp>
    </p:spTree>
    <p:extLst>
      <p:ext uri="{BB962C8B-B14F-4D97-AF65-F5344CB8AC3E}">
        <p14:creationId xmlns:p14="http://schemas.microsoft.com/office/powerpoint/2010/main" val="2268654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7</a:t>
            </a:fld>
            <a:endParaRPr lang="en-US" dirty="0"/>
          </a:p>
        </p:txBody>
      </p:sp>
    </p:spTree>
    <p:extLst>
      <p:ext uri="{BB962C8B-B14F-4D97-AF65-F5344CB8AC3E}">
        <p14:creationId xmlns:p14="http://schemas.microsoft.com/office/powerpoint/2010/main" val="2200471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8</a:t>
            </a:fld>
            <a:endParaRPr lang="en-US" dirty="0"/>
          </a:p>
        </p:txBody>
      </p:sp>
    </p:spTree>
    <p:extLst>
      <p:ext uri="{BB962C8B-B14F-4D97-AF65-F5344CB8AC3E}">
        <p14:creationId xmlns:p14="http://schemas.microsoft.com/office/powerpoint/2010/main" val="1171546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31</a:t>
            </a:fld>
            <a:endParaRPr lang="en-US" dirty="0"/>
          </a:p>
        </p:txBody>
      </p:sp>
    </p:spTree>
    <p:extLst>
      <p:ext uri="{BB962C8B-B14F-4D97-AF65-F5344CB8AC3E}">
        <p14:creationId xmlns:p14="http://schemas.microsoft.com/office/powerpoint/2010/main" val="2647260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32</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7/1/2021</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7/1/2021</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7/1/2021</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7/1/2021</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7/1/2021</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7/1/2021</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7/1/2021</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7/1/2021</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7/1/2021</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7/1/2021</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7/1/2021</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7/1/2021</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title"/>
          </p:nvPr>
        </p:nvSpPr>
        <p:spPr/>
        <p:txBody>
          <a:bodyPr lIns="0" tIns="0" rIns="0" bIns="0" anchor="t">
            <a:spAutoFit/>
          </a:bodyPr>
          <a:lstStyle/>
          <a:p>
            <a:pPr algn="ctr"/>
            <a:r>
              <a:rPr lang="en-US" dirty="0">
                <a:solidFill>
                  <a:srgbClr val="FFC000"/>
                </a:solidFill>
              </a:rPr>
              <a:t>Project Presentation</a:t>
            </a:r>
            <a:br>
              <a:rPr lang="en-US" dirty="0">
                <a:solidFill>
                  <a:srgbClr val="FFC000"/>
                </a:solidFill>
              </a:rPr>
            </a:br>
            <a:r>
              <a:rPr lang="en-US" dirty="0">
                <a:solidFill>
                  <a:srgbClr val="FFC000"/>
                </a:solidFill>
              </a:rPr>
              <a:t>On</a:t>
            </a:r>
            <a:br>
              <a:rPr lang="en-US" dirty="0">
                <a:solidFill>
                  <a:srgbClr val="FFC000"/>
                </a:solidFill>
              </a:rPr>
            </a:br>
            <a:r>
              <a:rPr lang="en-US" dirty="0">
                <a:solidFill>
                  <a:srgbClr val="FFC000"/>
                </a:solidFill>
              </a:rPr>
              <a:t>House Price Prediction System</a:t>
            </a:r>
            <a:br>
              <a:rPr lang="en-US" dirty="0">
                <a:solidFill>
                  <a:srgbClr val="FFC000"/>
                </a:solidFill>
              </a:rPr>
            </a:br>
            <a:endParaRPr lang="en-US" dirty="0">
              <a:solidFill>
                <a:srgbClr val="FFC000"/>
              </a:solidFill>
            </a:endParaRPr>
          </a:p>
        </p:txBody>
      </p:sp>
      <p:sp>
        <p:nvSpPr>
          <p:cNvPr id="3" name="Content Placeholder 2">
            <a:extLst>
              <a:ext uri="{FF2B5EF4-FFF2-40B4-BE49-F238E27FC236}">
                <a16:creationId xmlns:a16="http://schemas.microsoft.com/office/drawing/2014/main" id="{E4589C9A-9746-479A-A72B-7CC4328E0725}"/>
              </a:ext>
            </a:extLst>
          </p:cNvPr>
          <p:cNvSpPr>
            <a:spLocks noGrp="1"/>
          </p:cNvSpPr>
          <p:nvPr>
            <p:ph sz="half" idx="1"/>
          </p:nvPr>
        </p:nvSpPr>
        <p:spPr>
          <a:xfrm>
            <a:off x="838200" y="5047279"/>
            <a:ext cx="10898080" cy="1129683"/>
          </a:xfrm>
        </p:spPr>
        <p:txBody>
          <a:bodyPr>
            <a:normAutofit fontScale="85000" lnSpcReduction="20000"/>
          </a:bodyPr>
          <a:lstStyle/>
          <a:p>
            <a:pPr marL="0" indent="0" algn="ctr">
              <a:buNone/>
            </a:pPr>
            <a:r>
              <a:rPr lang="en-US" dirty="0">
                <a:solidFill>
                  <a:schemeClr val="bg1"/>
                </a:solidFill>
              </a:rPr>
              <a:t>  Presented By                                                                                            </a:t>
            </a:r>
          </a:p>
          <a:p>
            <a:pPr marL="0" indent="0" algn="ctr">
              <a:buNone/>
            </a:pPr>
            <a:r>
              <a:rPr lang="en-US" b="1" dirty="0">
                <a:solidFill>
                  <a:schemeClr val="bg1"/>
                </a:solidFill>
              </a:rPr>
              <a:t>  Name:</a:t>
            </a:r>
            <a:r>
              <a:rPr lang="en-US" dirty="0">
                <a:solidFill>
                  <a:schemeClr val="bg1"/>
                </a:solidFill>
              </a:rPr>
              <a:t> Simran B Solanki    </a:t>
            </a:r>
            <a:r>
              <a:rPr lang="en-US" b="1" dirty="0">
                <a:solidFill>
                  <a:schemeClr val="bg1"/>
                </a:solidFill>
              </a:rPr>
              <a:t>Roll No: </a:t>
            </a:r>
            <a:r>
              <a:rPr lang="en-US" dirty="0">
                <a:solidFill>
                  <a:schemeClr val="bg1"/>
                </a:solidFill>
              </a:rPr>
              <a:t>19020   </a:t>
            </a:r>
          </a:p>
        </p:txBody>
      </p:sp>
      <p:sp>
        <p:nvSpPr>
          <p:cNvPr id="12" name="Content Placeholder 11">
            <a:extLst>
              <a:ext uri="{FF2B5EF4-FFF2-40B4-BE49-F238E27FC236}">
                <a16:creationId xmlns:a16="http://schemas.microsoft.com/office/drawing/2014/main" id="{FA3D1749-8E52-4141-92E9-533D906768ED}"/>
              </a:ext>
            </a:extLst>
          </p:cNvPr>
          <p:cNvSpPr>
            <a:spLocks noGrp="1"/>
          </p:cNvSpPr>
          <p:nvPr>
            <p:ph sz="half" idx="2"/>
          </p:nvPr>
        </p:nvSpPr>
        <p:spPr>
          <a:xfrm>
            <a:off x="1793289" y="3018408"/>
            <a:ext cx="9560511" cy="756820"/>
          </a:xfrm>
        </p:spPr>
        <p:txBody>
          <a:bodyPr>
            <a:normAutofit fontScale="85000" lnSpcReduction="20000"/>
          </a:bodyPr>
          <a:lstStyle/>
          <a:p>
            <a:pPr marL="0" indent="0" algn="ctr">
              <a:buNone/>
            </a:pPr>
            <a:r>
              <a:rPr lang="en-US" b="1" dirty="0">
                <a:solidFill>
                  <a:schemeClr val="bg1"/>
                </a:solidFill>
              </a:rPr>
              <a:t>Course: Computer Science</a:t>
            </a:r>
          </a:p>
          <a:p>
            <a:pPr marL="0" indent="0" algn="ctr">
              <a:buNone/>
            </a:pPr>
            <a:r>
              <a:rPr lang="en-US" b="1" dirty="0">
                <a:solidFill>
                  <a:schemeClr val="bg1"/>
                </a:solidFill>
              </a:rPr>
              <a:t>MSC Semester 4</a:t>
            </a:r>
          </a:p>
        </p:txBody>
      </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p:nvPr>
        </p:nvSpPr>
        <p:spPr/>
        <p:txBody>
          <a:bodyPr/>
          <a:lstStyle/>
          <a:p>
            <a:r>
              <a:rPr lang="en-US" dirty="0"/>
              <a:t>Project analysis slide 4</a:t>
            </a:r>
          </a:p>
        </p:txBody>
      </p:sp>
      <p:sp>
        <p:nvSpPr>
          <p:cNvPr id="2" name="Content Placeholder 1">
            <a:extLst>
              <a:ext uri="{FF2B5EF4-FFF2-40B4-BE49-F238E27FC236}">
                <a16:creationId xmlns:a16="http://schemas.microsoft.com/office/drawing/2014/main" id="{D485D20B-7EC1-4476-AB07-150CC198B08B}"/>
              </a:ext>
            </a:extLst>
          </p:cNvPr>
          <p:cNvSpPr>
            <a:spLocks noGrp="1"/>
          </p:cNvSpPr>
          <p:nvPr>
            <p:ph idx="1"/>
          </p:nvPr>
        </p:nvSpPr>
        <p:spPr/>
        <p:txBody>
          <a:bodyPr>
            <a:normAutofit/>
          </a:bodyPr>
          <a:lstStyle/>
          <a:p>
            <a:r>
              <a:rPr lang="en-IN" sz="1800" b="0" i="0" u="none" strike="noStrike" baseline="0" dirty="0">
                <a:solidFill>
                  <a:srgbClr val="000000"/>
                </a:solidFill>
                <a:latin typeface="Times New Roman" panose="02020603050405020304" pitchFamily="18" charset="0"/>
              </a:rPr>
              <a:t>Trends in housing prices indicate the current economic situation and also are a concern to the buyers and sellers. </a:t>
            </a:r>
          </a:p>
          <a:p>
            <a:r>
              <a:rPr lang="en-IN" sz="1800" b="0" i="0" u="none" strike="noStrike" baseline="0" dirty="0">
                <a:solidFill>
                  <a:srgbClr val="000000"/>
                </a:solidFill>
                <a:latin typeface="Times New Roman" panose="02020603050405020304" pitchFamily="18" charset="0"/>
              </a:rPr>
              <a:t>Now a days everyone wishes for a house that suits their lifestyle and provides amenities according to their needs. House prices keep on changing very frequently which proves that house prices are often exaggerated. </a:t>
            </a:r>
          </a:p>
          <a:p>
            <a:r>
              <a:rPr lang="en-IN" sz="1800" b="0" i="0" u="none" strike="noStrike" baseline="0" dirty="0">
                <a:solidFill>
                  <a:srgbClr val="000000"/>
                </a:solidFill>
                <a:latin typeface="Times New Roman" panose="02020603050405020304" pitchFamily="18" charset="0"/>
              </a:rPr>
              <a:t>There are many factors that have an impact on house prices, such as the number of bedrooms and bathrooms. House price depends upon its location as well. </a:t>
            </a:r>
          </a:p>
          <a:p>
            <a:r>
              <a:rPr lang="en-IN" sz="1800" b="0" i="0" u="none" strike="noStrike" baseline="0" dirty="0">
                <a:solidFill>
                  <a:srgbClr val="000000"/>
                </a:solidFill>
                <a:latin typeface="Times New Roman" panose="02020603050405020304" pitchFamily="18" charset="0"/>
              </a:rPr>
              <a:t>Regardless of whether someone wants to sells or buy the house identifying the correct price is still a challenge. </a:t>
            </a:r>
          </a:p>
          <a:p>
            <a:r>
              <a:rPr lang="en-IN" sz="1800" b="0" i="0" u="none" strike="noStrike" baseline="0" dirty="0">
                <a:solidFill>
                  <a:srgbClr val="000000"/>
                </a:solidFill>
                <a:latin typeface="Times New Roman" panose="02020603050405020304" pitchFamily="18" charset="0"/>
              </a:rPr>
              <a:t>We need an autonomous system which will help people to find the correct house price based on their requirements. Such autonomous system can be build using various Machine learning algorithms and performing data analysis.</a:t>
            </a:r>
          </a:p>
          <a:p>
            <a:r>
              <a:rPr lang="en-IN" sz="1800" b="0" i="0" u="none" strike="noStrike" baseline="0" dirty="0">
                <a:solidFill>
                  <a:srgbClr val="000000"/>
                </a:solidFill>
                <a:latin typeface="Times New Roman" panose="02020603050405020304" pitchFamily="18" charset="0"/>
              </a:rPr>
              <a:t>The proposed system will take different features such as location, carpet area, etc as input and various regression algorithms. The proposed system predicts house prices using a regression machine learning algorithm. </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753383" y="522898"/>
            <a:ext cx="343861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House Price Prediction System</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471169"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87" name="Rectangle 86">
            <a:extLst>
              <a:ext uri="{FF2B5EF4-FFF2-40B4-BE49-F238E27FC236}">
                <a16:creationId xmlns:a16="http://schemas.microsoft.com/office/drawing/2014/main" id="{D927301F-4FAD-47A6-987B-1D9C411B7CC1}"/>
              </a:ext>
            </a:extLst>
          </p:cNvPr>
          <p:cNvSpPr/>
          <p:nvPr/>
        </p:nvSpPr>
        <p:spPr>
          <a:xfrm>
            <a:off x="10576718" y="1789886"/>
            <a:ext cx="1348582" cy="223394"/>
          </a:xfrm>
          <a:prstGeom prst="rect">
            <a:avLst/>
          </a:prstGeom>
        </p:spPr>
        <p:txBody>
          <a:bodyPr wrap="square" lIns="0" tIns="0" rIns="0" bIns="0" anchor="ctr">
            <a:spAutoFit/>
          </a:bodyPr>
          <a:lstStyle/>
          <a:p>
            <a:pPr>
              <a:lnSpc>
                <a:spcPts val="1900"/>
              </a:lnSpc>
            </a:pPr>
            <a:r>
              <a:rPr lang="en-US" sz="1400" dirty="0">
                <a:solidFill>
                  <a:schemeClr val="tx1">
                    <a:lumMod val="75000"/>
                    <a:lumOff val="25000"/>
                  </a:schemeClr>
                </a:solidFill>
                <a:cs typeface="Segoe UI" panose="020B0502040204020203" pitchFamily="34" charset="0"/>
              </a:rPr>
              <a:t>.</a:t>
            </a:r>
          </a:p>
        </p:txBody>
      </p:sp>
      <p:sp>
        <p:nvSpPr>
          <p:cNvPr id="89" name="Rectangle 88">
            <a:extLst>
              <a:ext uri="{FF2B5EF4-FFF2-40B4-BE49-F238E27FC236}">
                <a16:creationId xmlns:a16="http://schemas.microsoft.com/office/drawing/2014/main" id="{AAC2972F-490F-4F2F-8A08-930B8C850374}"/>
              </a:ext>
            </a:extLst>
          </p:cNvPr>
          <p:cNvSpPr/>
          <p:nvPr/>
        </p:nvSpPr>
        <p:spPr>
          <a:xfrm>
            <a:off x="10576718" y="5431847"/>
            <a:ext cx="1348582" cy="223394"/>
          </a:xfrm>
          <a:prstGeom prst="rect">
            <a:avLst/>
          </a:prstGeom>
        </p:spPr>
        <p:txBody>
          <a:bodyPr wrap="square" lIns="0" tIns="0" rIns="0" bIns="0" anchor="ctr">
            <a:spAutoFit/>
          </a:bodyPr>
          <a:lstStyle/>
          <a:p>
            <a:pPr>
              <a:lnSpc>
                <a:spcPts val="1900"/>
              </a:lnSpc>
            </a:pPr>
            <a:r>
              <a:rPr lang="en-US" sz="1400" dirty="0">
                <a:solidFill>
                  <a:schemeClr val="tx1">
                    <a:lumMod val="75000"/>
                    <a:lumOff val="25000"/>
                  </a:schemeClr>
                </a:solidFill>
                <a:cs typeface="Segoe UI" panose="020B0502040204020203" pitchFamily="34" charset="0"/>
              </a:rPr>
              <a:t>.</a:t>
            </a:r>
          </a:p>
        </p:txBody>
      </p:sp>
      <p:sp>
        <p:nvSpPr>
          <p:cNvPr id="92" name="Rectangle 91">
            <a:extLst>
              <a:ext uri="{FF2B5EF4-FFF2-40B4-BE49-F238E27FC236}">
                <a16:creationId xmlns:a16="http://schemas.microsoft.com/office/drawing/2014/main" id="{A69BDC62-882D-49FD-B60A-05F493B04723}"/>
              </a:ext>
            </a:extLst>
          </p:cNvPr>
          <p:cNvSpPr/>
          <p:nvPr/>
        </p:nvSpPr>
        <p:spPr>
          <a:xfrm>
            <a:off x="266700" y="2468356"/>
            <a:ext cx="1348582" cy="223394"/>
          </a:xfrm>
          <a:prstGeom prst="rect">
            <a:avLst/>
          </a:prstGeom>
        </p:spPr>
        <p:txBody>
          <a:bodyPr wrap="square" lIns="0" tIns="0" rIns="0" bIns="0" anchor="ctr">
            <a:spAutoFit/>
          </a:bodyPr>
          <a:lstStyle/>
          <a:p>
            <a:pPr algn="r">
              <a:lnSpc>
                <a:spcPts val="1900"/>
              </a:lnSpc>
            </a:pPr>
            <a:r>
              <a:rPr lang="en-US" sz="1400" dirty="0">
                <a:solidFill>
                  <a:schemeClr val="tx1">
                    <a:lumMod val="75000"/>
                    <a:lumOff val="25000"/>
                  </a:schemeClr>
                </a:solidFill>
                <a:cs typeface="Segoe UI" panose="020B0502040204020203" pitchFamily="34" charset="0"/>
              </a:rPr>
              <a:t>.</a:t>
            </a:r>
          </a:p>
        </p:txBody>
      </p:sp>
      <p:sp>
        <p:nvSpPr>
          <p:cNvPr id="93" name="Rectangle 92">
            <a:extLst>
              <a:ext uri="{FF2B5EF4-FFF2-40B4-BE49-F238E27FC236}">
                <a16:creationId xmlns:a16="http://schemas.microsoft.com/office/drawing/2014/main" id="{FC109BEC-95E0-4EA0-B65C-A8353481F394}"/>
              </a:ext>
            </a:extLst>
          </p:cNvPr>
          <p:cNvSpPr/>
          <p:nvPr/>
        </p:nvSpPr>
        <p:spPr>
          <a:xfrm>
            <a:off x="266700" y="4753379"/>
            <a:ext cx="1348582" cy="223394"/>
          </a:xfrm>
          <a:prstGeom prst="rect">
            <a:avLst/>
          </a:prstGeom>
        </p:spPr>
        <p:txBody>
          <a:bodyPr wrap="square" lIns="0" tIns="0" rIns="0" bIns="0" anchor="ctr">
            <a:spAutoFit/>
          </a:bodyPr>
          <a:lstStyle/>
          <a:p>
            <a:pPr algn="r">
              <a:lnSpc>
                <a:spcPts val="1900"/>
              </a:lnSpc>
            </a:pPr>
            <a:r>
              <a:rPr lang="en-US" sz="1400" dirty="0">
                <a:solidFill>
                  <a:schemeClr val="tx1">
                    <a:lumMod val="75000"/>
                    <a:lumOff val="25000"/>
                  </a:schemeClr>
                </a:solidFill>
                <a:cs typeface="Segoe UI" panose="020B0502040204020203" pitchFamily="34" charset="0"/>
              </a:rPr>
              <a:t> .</a:t>
            </a:r>
          </a:p>
        </p:txBody>
      </p:sp>
      <p:sp>
        <p:nvSpPr>
          <p:cNvPr id="40" name="Rectangle: Top Corners Rounded 39">
            <a:extLst>
              <a:ext uri="{FF2B5EF4-FFF2-40B4-BE49-F238E27FC236}">
                <a16:creationId xmlns:a16="http://schemas.microsoft.com/office/drawing/2014/main" id="{209B9788-B6A3-4180-85C9-FF1B97E514BD}"/>
              </a:ext>
            </a:extLst>
          </p:cNvPr>
          <p:cNvSpPr/>
          <p:nvPr/>
        </p:nvSpPr>
        <p:spPr>
          <a:xfrm>
            <a:off x="4202467" y="850987"/>
            <a:ext cx="3787066" cy="435003"/>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Introduction</a:t>
            </a:r>
          </a:p>
        </p:txBody>
      </p:sp>
    </p:spTree>
    <p:extLst>
      <p:ext uri="{BB962C8B-B14F-4D97-AF65-F5344CB8AC3E}">
        <p14:creationId xmlns:p14="http://schemas.microsoft.com/office/powerpoint/2010/main" val="843768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753383" y="522898"/>
            <a:ext cx="343861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190500" y="153741"/>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House Price Prediction System</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471169"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9F23A462-D581-4451-A275-D8FA412E142C}"/>
              </a:ext>
              <a:ext uri="{C183D7F6-B498-43B3-948B-1728B52AA6E4}">
                <adec:decorative xmlns:adec="http://schemas.microsoft.com/office/drawing/2017/decorative" val="1"/>
              </a:ext>
            </a:extLst>
          </p:cNvPr>
          <p:cNvSpPr/>
          <p:nvPr/>
        </p:nvSpPr>
        <p:spPr>
          <a:xfrm>
            <a:off x="1723232" y="1786303"/>
            <a:ext cx="1587500" cy="15875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41" name="Oval 40">
            <a:extLst>
              <a:ext uri="{FF2B5EF4-FFF2-40B4-BE49-F238E27FC236}">
                <a16:creationId xmlns:a16="http://schemas.microsoft.com/office/drawing/2014/main" id="{3FAD125B-9A3B-49A4-B9EC-C8A6D3CF9CBF}"/>
              </a:ext>
              <a:ext uri="{C183D7F6-B498-43B3-948B-1728B52AA6E4}">
                <adec:decorative xmlns:adec="http://schemas.microsoft.com/office/drawing/2017/decorative" val="1"/>
              </a:ext>
            </a:extLst>
          </p:cNvPr>
          <p:cNvSpPr/>
          <p:nvPr/>
        </p:nvSpPr>
        <p:spPr>
          <a:xfrm>
            <a:off x="1723232" y="4071326"/>
            <a:ext cx="1587500" cy="15875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233E4AB5-6FC1-4454-9421-850EF5A4ADF3}"/>
              </a:ext>
              <a:ext uri="{C183D7F6-B498-43B3-948B-1728B52AA6E4}">
                <adec:decorative xmlns:adec="http://schemas.microsoft.com/office/drawing/2017/decorative" val="1"/>
              </a:ext>
            </a:extLst>
          </p:cNvPr>
          <p:cNvSpPr/>
          <p:nvPr/>
        </p:nvSpPr>
        <p:spPr>
          <a:xfrm>
            <a:off x="4109245" y="2928814"/>
            <a:ext cx="1587500" cy="15875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Oval 72">
            <a:extLst>
              <a:ext uri="{FF2B5EF4-FFF2-40B4-BE49-F238E27FC236}">
                <a16:creationId xmlns:a16="http://schemas.microsoft.com/office/drawing/2014/main" id="{40123448-0B37-4226-B26C-A3081E6142FF}"/>
              </a:ext>
              <a:ext uri="{C183D7F6-B498-43B3-948B-1728B52AA6E4}">
                <adec:decorative xmlns:adec="http://schemas.microsoft.com/office/drawing/2017/decorative" val="1"/>
              </a:ext>
            </a:extLst>
          </p:cNvPr>
          <p:cNvSpPr/>
          <p:nvPr/>
        </p:nvSpPr>
        <p:spPr>
          <a:xfrm>
            <a:off x="6495256" y="2928814"/>
            <a:ext cx="1587500" cy="15875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Connector: Elbow 9">
            <a:extLst>
              <a:ext uri="{FF2B5EF4-FFF2-40B4-BE49-F238E27FC236}">
                <a16:creationId xmlns:a16="http://schemas.microsoft.com/office/drawing/2014/main" id="{78C71AAC-D0D2-4BBF-B302-54163A284EC6}"/>
              </a:ext>
              <a:ext uri="{C183D7F6-B498-43B3-948B-1728B52AA6E4}">
                <adec:decorative xmlns:adec="http://schemas.microsoft.com/office/drawing/2017/decorative" val="1"/>
              </a:ext>
            </a:extLst>
          </p:cNvPr>
          <p:cNvCxnSpPr>
            <a:stCxn id="3" idx="6"/>
            <a:endCxn id="41" idx="6"/>
          </p:cNvCxnSpPr>
          <p:nvPr/>
        </p:nvCxnSpPr>
        <p:spPr>
          <a:xfrm>
            <a:off x="3310732" y="2580053"/>
            <a:ext cx="12700" cy="2285023"/>
          </a:xfrm>
          <a:prstGeom prst="bentConnector3">
            <a:avLst>
              <a:gd name="adj1" fmla="val 1800000"/>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31AB5AC-284A-472B-B8E5-2F198F4E96D7}"/>
              </a:ext>
              <a:ext uri="{C183D7F6-B498-43B3-948B-1728B52AA6E4}">
                <adec:decorative xmlns:adec="http://schemas.microsoft.com/office/drawing/2017/decorative" val="1"/>
              </a:ext>
            </a:extLst>
          </p:cNvPr>
          <p:cNvCxnSpPr>
            <a:cxnSpLocks/>
            <a:endCxn id="42" idx="2"/>
          </p:cNvCxnSpPr>
          <p:nvPr/>
        </p:nvCxnSpPr>
        <p:spPr>
          <a:xfrm>
            <a:off x="3540126" y="3722564"/>
            <a:ext cx="569119" cy="0"/>
          </a:xfrm>
          <a:prstGeom prst="straightConnector1">
            <a:avLst/>
          </a:prstGeom>
          <a:ln w="2222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1394D4E-BC7A-418D-B233-6C374456AEAE}"/>
              </a:ext>
              <a:ext uri="{C183D7F6-B498-43B3-948B-1728B52AA6E4}">
                <adec:decorative xmlns:adec="http://schemas.microsoft.com/office/drawing/2017/decorative" val="1"/>
              </a:ext>
            </a:extLst>
          </p:cNvPr>
          <p:cNvCxnSpPr>
            <a:cxnSpLocks/>
            <a:stCxn id="42" idx="6"/>
            <a:endCxn id="73" idx="2"/>
          </p:cNvCxnSpPr>
          <p:nvPr/>
        </p:nvCxnSpPr>
        <p:spPr>
          <a:xfrm>
            <a:off x="5696745" y="3722564"/>
            <a:ext cx="798511" cy="0"/>
          </a:xfrm>
          <a:prstGeom prst="straightConnector1">
            <a:avLst/>
          </a:prstGeom>
          <a:ln w="2222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61AAA85B-D8C7-43BE-844A-625265015123}"/>
              </a:ext>
              <a:ext uri="{C183D7F6-B498-43B3-948B-1728B52AA6E4}">
                <adec:decorative xmlns:adec="http://schemas.microsoft.com/office/drawing/2017/decorative" val="1"/>
              </a:ext>
            </a:extLst>
          </p:cNvPr>
          <p:cNvCxnSpPr>
            <a:cxnSpLocks/>
            <a:stCxn id="73" idx="6"/>
          </p:cNvCxnSpPr>
          <p:nvPr/>
        </p:nvCxnSpPr>
        <p:spPr>
          <a:xfrm>
            <a:off x="8082756" y="3722564"/>
            <a:ext cx="798512" cy="0"/>
          </a:xfrm>
          <a:prstGeom prst="straightConnector1">
            <a:avLst/>
          </a:prstGeom>
          <a:ln w="22225">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6BEBF752-C33D-4EC4-8210-F7B1D3A10097}"/>
              </a:ext>
            </a:extLst>
          </p:cNvPr>
          <p:cNvSpPr/>
          <p:nvPr/>
        </p:nvSpPr>
        <p:spPr>
          <a:xfrm>
            <a:off x="1831182" y="2087612"/>
            <a:ext cx="1371600" cy="984885"/>
          </a:xfrm>
          <a:prstGeom prst="rect">
            <a:avLst/>
          </a:prstGeom>
        </p:spPr>
        <p:txBody>
          <a:bodyPr wrap="square" lIns="0" tIns="0" rIns="0" bIns="0" anchor="ctr">
            <a:spAutoFit/>
          </a:bodyPr>
          <a:lstStyle/>
          <a:p>
            <a:pPr algn="ctr"/>
            <a:r>
              <a:rPr lang="en-US" sz="1600" dirty="0">
                <a:solidFill>
                  <a:schemeClr val="bg1"/>
                </a:solidFill>
              </a:rPr>
              <a:t>Create an effective House</a:t>
            </a:r>
          </a:p>
          <a:p>
            <a:pPr algn="ctr"/>
            <a:r>
              <a:rPr lang="en-US" sz="1600" dirty="0">
                <a:solidFill>
                  <a:schemeClr val="bg1"/>
                </a:solidFill>
              </a:rPr>
              <a:t>Price Prediction</a:t>
            </a:r>
          </a:p>
          <a:p>
            <a:pPr algn="ctr"/>
            <a:r>
              <a:rPr lang="en-US" sz="1600" dirty="0">
                <a:solidFill>
                  <a:schemeClr val="bg1"/>
                </a:solidFill>
              </a:rPr>
              <a:t>Model</a:t>
            </a:r>
          </a:p>
        </p:txBody>
      </p:sp>
      <p:sp>
        <p:nvSpPr>
          <p:cNvPr id="81" name="Rectangle 80">
            <a:extLst>
              <a:ext uri="{FF2B5EF4-FFF2-40B4-BE49-F238E27FC236}">
                <a16:creationId xmlns:a16="http://schemas.microsoft.com/office/drawing/2014/main" id="{D4EC02E4-F054-4111-9038-AE0BDA4C8060}"/>
              </a:ext>
            </a:extLst>
          </p:cNvPr>
          <p:cNvSpPr/>
          <p:nvPr/>
        </p:nvSpPr>
        <p:spPr>
          <a:xfrm>
            <a:off x="1831182" y="4372634"/>
            <a:ext cx="1371600" cy="984885"/>
          </a:xfrm>
          <a:prstGeom prst="rect">
            <a:avLst/>
          </a:prstGeom>
        </p:spPr>
        <p:txBody>
          <a:bodyPr wrap="square" lIns="0" tIns="0" rIns="0" bIns="0" anchor="ctr">
            <a:spAutoFit/>
          </a:bodyPr>
          <a:lstStyle/>
          <a:p>
            <a:pPr algn="ctr"/>
            <a:r>
              <a:rPr lang="en-US" sz="1600" dirty="0">
                <a:solidFill>
                  <a:schemeClr val="bg1"/>
                </a:solidFill>
              </a:rPr>
              <a:t>Best fit regression model with less error rate</a:t>
            </a:r>
          </a:p>
        </p:txBody>
      </p:sp>
      <p:sp>
        <p:nvSpPr>
          <p:cNvPr id="82" name="Rectangle 81">
            <a:extLst>
              <a:ext uri="{FF2B5EF4-FFF2-40B4-BE49-F238E27FC236}">
                <a16:creationId xmlns:a16="http://schemas.microsoft.com/office/drawing/2014/main" id="{9771041D-83B6-4693-BC25-25AABB3CE3BF}"/>
              </a:ext>
            </a:extLst>
          </p:cNvPr>
          <p:cNvSpPr/>
          <p:nvPr/>
        </p:nvSpPr>
        <p:spPr>
          <a:xfrm>
            <a:off x="4217194" y="3476343"/>
            <a:ext cx="1371600" cy="492443"/>
          </a:xfrm>
          <a:prstGeom prst="rect">
            <a:avLst/>
          </a:prstGeom>
        </p:spPr>
        <p:txBody>
          <a:bodyPr wrap="square" lIns="0" tIns="0" rIns="0" bIns="0" anchor="ctr">
            <a:spAutoFit/>
          </a:bodyPr>
          <a:lstStyle/>
          <a:p>
            <a:pPr algn="ctr"/>
            <a:r>
              <a:rPr lang="en-US" sz="1600" dirty="0">
                <a:solidFill>
                  <a:schemeClr val="bg1"/>
                </a:solidFill>
              </a:rPr>
              <a:t>Project Objectives</a:t>
            </a:r>
          </a:p>
        </p:txBody>
      </p:sp>
      <p:sp>
        <p:nvSpPr>
          <p:cNvPr id="83" name="Rectangle 82">
            <a:extLst>
              <a:ext uri="{FF2B5EF4-FFF2-40B4-BE49-F238E27FC236}">
                <a16:creationId xmlns:a16="http://schemas.microsoft.com/office/drawing/2014/main" id="{9F6EE26A-3174-49AD-900E-08C045755F3C}"/>
              </a:ext>
            </a:extLst>
          </p:cNvPr>
          <p:cNvSpPr/>
          <p:nvPr/>
        </p:nvSpPr>
        <p:spPr>
          <a:xfrm>
            <a:off x="6607968" y="3476343"/>
            <a:ext cx="1371600" cy="492443"/>
          </a:xfrm>
          <a:prstGeom prst="rect">
            <a:avLst/>
          </a:prstGeom>
        </p:spPr>
        <p:txBody>
          <a:bodyPr wrap="square" lIns="0" tIns="0" rIns="0" bIns="0" anchor="ctr">
            <a:spAutoFit/>
          </a:bodyPr>
          <a:lstStyle/>
          <a:p>
            <a:pPr algn="ctr"/>
            <a:r>
              <a:rPr lang="en-US" sz="1600" dirty="0">
                <a:solidFill>
                  <a:schemeClr val="bg1"/>
                </a:solidFill>
              </a:rPr>
              <a:t>Implementation Plan</a:t>
            </a:r>
          </a:p>
        </p:txBody>
      </p:sp>
      <p:sp>
        <p:nvSpPr>
          <p:cNvPr id="84" name="Rectangle 83">
            <a:extLst>
              <a:ext uri="{FF2B5EF4-FFF2-40B4-BE49-F238E27FC236}">
                <a16:creationId xmlns:a16="http://schemas.microsoft.com/office/drawing/2014/main" id="{3B69453F-B845-4467-8C29-7A6677641EC0}"/>
              </a:ext>
            </a:extLst>
          </p:cNvPr>
          <p:cNvSpPr/>
          <p:nvPr/>
        </p:nvSpPr>
        <p:spPr>
          <a:xfrm>
            <a:off x="8989218" y="3599454"/>
            <a:ext cx="1371600" cy="246221"/>
          </a:xfrm>
          <a:prstGeom prst="rect">
            <a:avLst/>
          </a:prstGeom>
        </p:spPr>
        <p:txBody>
          <a:bodyPr wrap="square" lIns="0" tIns="0" rIns="0" bIns="0" anchor="ctr">
            <a:spAutoFit/>
          </a:bodyPr>
          <a:lstStyle/>
          <a:p>
            <a:pPr algn="ctr"/>
            <a:r>
              <a:rPr lang="en-US" sz="1600" dirty="0">
                <a:solidFill>
                  <a:schemeClr val="bg1"/>
                </a:solidFill>
              </a:rPr>
              <a:t>Schedules</a:t>
            </a:r>
          </a:p>
        </p:txBody>
      </p:sp>
      <p:sp>
        <p:nvSpPr>
          <p:cNvPr id="86" name="Rectangle 85">
            <a:extLst>
              <a:ext uri="{FF2B5EF4-FFF2-40B4-BE49-F238E27FC236}">
                <a16:creationId xmlns:a16="http://schemas.microsoft.com/office/drawing/2014/main" id="{6B499F5E-706B-4272-818B-C87149038662}"/>
              </a:ext>
            </a:extLst>
          </p:cNvPr>
          <p:cNvSpPr/>
          <p:nvPr/>
        </p:nvSpPr>
        <p:spPr>
          <a:xfrm>
            <a:off x="8989218" y="5420435"/>
            <a:ext cx="1371600" cy="246221"/>
          </a:xfrm>
          <a:prstGeom prst="rect">
            <a:avLst/>
          </a:prstGeom>
        </p:spPr>
        <p:txBody>
          <a:bodyPr wrap="square" lIns="0" tIns="0" rIns="0" bIns="0" anchor="ctr">
            <a:spAutoFit/>
          </a:bodyPr>
          <a:lstStyle/>
          <a:p>
            <a:pPr algn="ctr"/>
            <a:r>
              <a:rPr lang="en-US" sz="1600" dirty="0">
                <a:solidFill>
                  <a:schemeClr val="bg1"/>
                </a:solidFill>
              </a:rPr>
              <a:t>Resources</a:t>
            </a:r>
          </a:p>
        </p:txBody>
      </p:sp>
      <p:sp>
        <p:nvSpPr>
          <p:cNvPr id="90" name="Rectangle 89">
            <a:extLst>
              <a:ext uri="{FF2B5EF4-FFF2-40B4-BE49-F238E27FC236}">
                <a16:creationId xmlns:a16="http://schemas.microsoft.com/office/drawing/2014/main" id="{79B46693-ED1F-429F-9B11-2794939E3B99}"/>
              </a:ext>
            </a:extLst>
          </p:cNvPr>
          <p:cNvSpPr/>
          <p:nvPr/>
        </p:nvSpPr>
        <p:spPr>
          <a:xfrm>
            <a:off x="6614715" y="4753377"/>
            <a:ext cx="1348582" cy="223394"/>
          </a:xfrm>
          <a:prstGeom prst="rect">
            <a:avLst/>
          </a:prstGeom>
        </p:spPr>
        <p:txBody>
          <a:bodyPr wrap="square" lIns="0" tIns="0" rIns="0" bIns="0" anchor="ctr">
            <a:spAutoFit/>
          </a:bodyPr>
          <a:lstStyle/>
          <a:p>
            <a:pPr algn="ctr">
              <a:lnSpc>
                <a:spcPts val="1900"/>
              </a:lnSpc>
            </a:pPr>
            <a:r>
              <a:rPr lang="en-US" sz="1400" dirty="0">
                <a:solidFill>
                  <a:schemeClr val="tx1">
                    <a:lumMod val="75000"/>
                    <a:lumOff val="25000"/>
                  </a:schemeClr>
                </a:solidFill>
                <a:cs typeface="Segoe UI" panose="020B0502040204020203" pitchFamily="34" charset="0"/>
              </a:rPr>
              <a:t>.</a:t>
            </a:r>
          </a:p>
        </p:txBody>
      </p:sp>
      <p:sp>
        <p:nvSpPr>
          <p:cNvPr id="87" name="Rectangle 86">
            <a:extLst>
              <a:ext uri="{FF2B5EF4-FFF2-40B4-BE49-F238E27FC236}">
                <a16:creationId xmlns:a16="http://schemas.microsoft.com/office/drawing/2014/main" id="{D927301F-4FAD-47A6-987B-1D9C411B7CC1}"/>
              </a:ext>
            </a:extLst>
          </p:cNvPr>
          <p:cNvSpPr/>
          <p:nvPr/>
        </p:nvSpPr>
        <p:spPr>
          <a:xfrm>
            <a:off x="10576718" y="1789886"/>
            <a:ext cx="1348582" cy="223394"/>
          </a:xfrm>
          <a:prstGeom prst="rect">
            <a:avLst/>
          </a:prstGeom>
        </p:spPr>
        <p:txBody>
          <a:bodyPr wrap="square" lIns="0" tIns="0" rIns="0" bIns="0" anchor="ctr">
            <a:spAutoFit/>
          </a:bodyPr>
          <a:lstStyle/>
          <a:p>
            <a:pPr>
              <a:lnSpc>
                <a:spcPts val="1900"/>
              </a:lnSpc>
            </a:pPr>
            <a:r>
              <a:rPr lang="en-US" sz="1400" dirty="0">
                <a:solidFill>
                  <a:schemeClr val="tx1">
                    <a:lumMod val="75000"/>
                    <a:lumOff val="25000"/>
                  </a:schemeClr>
                </a:solidFill>
                <a:cs typeface="Segoe UI" panose="020B0502040204020203" pitchFamily="34" charset="0"/>
              </a:rPr>
              <a:t>.</a:t>
            </a:r>
          </a:p>
        </p:txBody>
      </p:sp>
      <p:sp>
        <p:nvSpPr>
          <p:cNvPr id="89" name="Rectangle 88">
            <a:extLst>
              <a:ext uri="{FF2B5EF4-FFF2-40B4-BE49-F238E27FC236}">
                <a16:creationId xmlns:a16="http://schemas.microsoft.com/office/drawing/2014/main" id="{AAC2972F-490F-4F2F-8A08-930B8C850374}"/>
              </a:ext>
            </a:extLst>
          </p:cNvPr>
          <p:cNvSpPr/>
          <p:nvPr/>
        </p:nvSpPr>
        <p:spPr>
          <a:xfrm>
            <a:off x="10576718" y="5431847"/>
            <a:ext cx="1348582" cy="223394"/>
          </a:xfrm>
          <a:prstGeom prst="rect">
            <a:avLst/>
          </a:prstGeom>
        </p:spPr>
        <p:txBody>
          <a:bodyPr wrap="square" lIns="0" tIns="0" rIns="0" bIns="0" anchor="ctr">
            <a:spAutoFit/>
          </a:bodyPr>
          <a:lstStyle/>
          <a:p>
            <a:pPr>
              <a:lnSpc>
                <a:spcPts val="1900"/>
              </a:lnSpc>
            </a:pPr>
            <a:r>
              <a:rPr lang="en-US" sz="1400" dirty="0">
                <a:solidFill>
                  <a:schemeClr val="tx1">
                    <a:lumMod val="75000"/>
                    <a:lumOff val="25000"/>
                  </a:schemeClr>
                </a:solidFill>
                <a:cs typeface="Segoe UI" panose="020B0502040204020203" pitchFamily="34" charset="0"/>
              </a:rPr>
              <a:t>.</a:t>
            </a:r>
          </a:p>
        </p:txBody>
      </p:sp>
      <p:sp>
        <p:nvSpPr>
          <p:cNvPr id="92" name="Rectangle 91">
            <a:extLst>
              <a:ext uri="{FF2B5EF4-FFF2-40B4-BE49-F238E27FC236}">
                <a16:creationId xmlns:a16="http://schemas.microsoft.com/office/drawing/2014/main" id="{A69BDC62-882D-49FD-B60A-05F493B04723}"/>
              </a:ext>
            </a:extLst>
          </p:cNvPr>
          <p:cNvSpPr/>
          <p:nvPr/>
        </p:nvSpPr>
        <p:spPr>
          <a:xfrm>
            <a:off x="266700" y="2468356"/>
            <a:ext cx="1348582" cy="223394"/>
          </a:xfrm>
          <a:prstGeom prst="rect">
            <a:avLst/>
          </a:prstGeom>
        </p:spPr>
        <p:txBody>
          <a:bodyPr wrap="square" lIns="0" tIns="0" rIns="0" bIns="0" anchor="ctr">
            <a:spAutoFit/>
          </a:bodyPr>
          <a:lstStyle/>
          <a:p>
            <a:pPr algn="r">
              <a:lnSpc>
                <a:spcPts val="1900"/>
              </a:lnSpc>
            </a:pPr>
            <a:r>
              <a:rPr lang="en-US" sz="1400" dirty="0">
                <a:solidFill>
                  <a:schemeClr val="tx1">
                    <a:lumMod val="75000"/>
                    <a:lumOff val="25000"/>
                  </a:schemeClr>
                </a:solidFill>
                <a:cs typeface="Segoe UI" panose="020B0502040204020203" pitchFamily="34" charset="0"/>
              </a:rPr>
              <a:t>.</a:t>
            </a:r>
          </a:p>
        </p:txBody>
      </p:sp>
      <p:sp>
        <p:nvSpPr>
          <p:cNvPr id="93" name="Rectangle 92">
            <a:extLst>
              <a:ext uri="{FF2B5EF4-FFF2-40B4-BE49-F238E27FC236}">
                <a16:creationId xmlns:a16="http://schemas.microsoft.com/office/drawing/2014/main" id="{FC109BEC-95E0-4EA0-B65C-A8353481F394}"/>
              </a:ext>
            </a:extLst>
          </p:cNvPr>
          <p:cNvSpPr/>
          <p:nvPr/>
        </p:nvSpPr>
        <p:spPr>
          <a:xfrm>
            <a:off x="266700" y="4753379"/>
            <a:ext cx="1348582" cy="223394"/>
          </a:xfrm>
          <a:prstGeom prst="rect">
            <a:avLst/>
          </a:prstGeom>
        </p:spPr>
        <p:txBody>
          <a:bodyPr wrap="square" lIns="0" tIns="0" rIns="0" bIns="0" anchor="ctr">
            <a:spAutoFit/>
          </a:bodyPr>
          <a:lstStyle/>
          <a:p>
            <a:pPr algn="r">
              <a:lnSpc>
                <a:spcPts val="1900"/>
              </a:lnSpc>
            </a:pPr>
            <a:r>
              <a:rPr lang="en-US" sz="1400" dirty="0">
                <a:solidFill>
                  <a:schemeClr val="tx1">
                    <a:lumMod val="75000"/>
                    <a:lumOff val="25000"/>
                  </a:schemeClr>
                </a:solidFill>
                <a:cs typeface="Segoe UI" panose="020B0502040204020203" pitchFamily="34" charset="0"/>
              </a:rPr>
              <a:t> .</a:t>
            </a:r>
          </a:p>
        </p:txBody>
      </p:sp>
      <p:cxnSp>
        <p:nvCxnSpPr>
          <p:cNvPr id="24" name="Straight Connector 23">
            <a:extLst>
              <a:ext uri="{FF2B5EF4-FFF2-40B4-BE49-F238E27FC236}">
                <a16:creationId xmlns:a16="http://schemas.microsoft.com/office/drawing/2014/main" id="{12EE5519-7EC3-49E2-80DC-525808F2C7D3}"/>
              </a:ext>
            </a:extLst>
          </p:cNvPr>
          <p:cNvCxnSpPr>
            <a:cxnSpLocks/>
          </p:cNvCxnSpPr>
          <p:nvPr/>
        </p:nvCxnSpPr>
        <p:spPr>
          <a:xfrm flipV="1">
            <a:off x="8881268" y="852942"/>
            <a:ext cx="0" cy="5096578"/>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8F64D699-C501-4D39-B933-D9423E4D0C57}"/>
              </a:ext>
            </a:extLst>
          </p:cNvPr>
          <p:cNvCxnSpPr/>
          <p:nvPr/>
        </p:nvCxnSpPr>
        <p:spPr>
          <a:xfrm>
            <a:off x="8881268" y="1454766"/>
            <a:ext cx="280487"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EC227F82-AF92-4F23-AFC6-D6241C38D9B7}"/>
              </a:ext>
            </a:extLst>
          </p:cNvPr>
          <p:cNvCxnSpPr/>
          <p:nvPr/>
        </p:nvCxnSpPr>
        <p:spPr>
          <a:xfrm>
            <a:off x="8881268" y="2106847"/>
            <a:ext cx="280487"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A94D5E3C-5F4B-4A8D-B89D-22B97AA8828A}"/>
              </a:ext>
            </a:extLst>
          </p:cNvPr>
          <p:cNvCxnSpPr/>
          <p:nvPr/>
        </p:nvCxnSpPr>
        <p:spPr>
          <a:xfrm>
            <a:off x="8881268" y="2921416"/>
            <a:ext cx="280487"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F8127767-33EA-4B22-8BAC-612DCA46C973}"/>
              </a:ext>
            </a:extLst>
          </p:cNvPr>
          <p:cNvCxnSpPr/>
          <p:nvPr/>
        </p:nvCxnSpPr>
        <p:spPr>
          <a:xfrm>
            <a:off x="8881268" y="3750677"/>
            <a:ext cx="280487"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EBC2DFB4-987A-4420-993B-68AE2B764993}"/>
              </a:ext>
            </a:extLst>
          </p:cNvPr>
          <p:cNvCxnSpPr/>
          <p:nvPr/>
        </p:nvCxnSpPr>
        <p:spPr>
          <a:xfrm>
            <a:off x="8881268" y="4391869"/>
            <a:ext cx="280487"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CD94D717-E146-46A8-9619-1D7E6501CF5F}"/>
              </a:ext>
            </a:extLst>
          </p:cNvPr>
          <p:cNvCxnSpPr/>
          <p:nvPr/>
        </p:nvCxnSpPr>
        <p:spPr>
          <a:xfrm>
            <a:off x="8881268" y="5154325"/>
            <a:ext cx="280487"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5F5326B7-0A4B-4641-99EB-439D5CD741D4}"/>
              </a:ext>
            </a:extLst>
          </p:cNvPr>
          <p:cNvCxnSpPr/>
          <p:nvPr/>
        </p:nvCxnSpPr>
        <p:spPr>
          <a:xfrm>
            <a:off x="8881268" y="5949519"/>
            <a:ext cx="280487"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1" name="Rectangle: Rounded Corners 30">
            <a:extLst>
              <a:ext uri="{FF2B5EF4-FFF2-40B4-BE49-F238E27FC236}">
                <a16:creationId xmlns:a16="http://schemas.microsoft.com/office/drawing/2014/main" id="{AAF537CE-5770-4B23-9651-6E4835AE1A79}"/>
              </a:ext>
            </a:extLst>
          </p:cNvPr>
          <p:cNvSpPr/>
          <p:nvPr/>
        </p:nvSpPr>
        <p:spPr>
          <a:xfrm>
            <a:off x="9161755" y="1233080"/>
            <a:ext cx="2441358" cy="439615"/>
          </a:xfrm>
          <a:prstGeom prst="roundRect">
            <a:avLst/>
          </a:prstGeom>
          <a:solidFill>
            <a:srgbClr val="EA9E16"/>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Data Cleaning</a:t>
            </a:r>
          </a:p>
        </p:txBody>
      </p:sp>
      <p:sp>
        <p:nvSpPr>
          <p:cNvPr id="60" name="Rectangle: Rounded Corners 59">
            <a:extLst>
              <a:ext uri="{FF2B5EF4-FFF2-40B4-BE49-F238E27FC236}">
                <a16:creationId xmlns:a16="http://schemas.microsoft.com/office/drawing/2014/main" id="{563B3482-20A7-4280-A77C-2E63F3F9FC94}"/>
              </a:ext>
            </a:extLst>
          </p:cNvPr>
          <p:cNvSpPr/>
          <p:nvPr/>
        </p:nvSpPr>
        <p:spPr>
          <a:xfrm>
            <a:off x="9161755" y="1877850"/>
            <a:ext cx="2441358" cy="545111"/>
          </a:xfrm>
          <a:prstGeom prst="roundRect">
            <a:avLst/>
          </a:prstGeom>
          <a:solidFill>
            <a:srgbClr val="EA9E16"/>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Exploratory Data Analysis</a:t>
            </a:r>
          </a:p>
        </p:txBody>
      </p:sp>
      <p:sp>
        <p:nvSpPr>
          <p:cNvPr id="61" name="Rectangle: Rounded Corners 60">
            <a:extLst>
              <a:ext uri="{FF2B5EF4-FFF2-40B4-BE49-F238E27FC236}">
                <a16:creationId xmlns:a16="http://schemas.microsoft.com/office/drawing/2014/main" id="{A201799A-9FAB-445F-9E95-02487685B23D}"/>
              </a:ext>
            </a:extLst>
          </p:cNvPr>
          <p:cNvSpPr/>
          <p:nvPr/>
        </p:nvSpPr>
        <p:spPr>
          <a:xfrm>
            <a:off x="9161755" y="2705824"/>
            <a:ext cx="2441358" cy="439615"/>
          </a:xfrm>
          <a:prstGeom prst="roundRect">
            <a:avLst/>
          </a:prstGeom>
          <a:solidFill>
            <a:srgbClr val="EA9E16"/>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Feature Selection</a:t>
            </a:r>
          </a:p>
        </p:txBody>
      </p:sp>
      <p:sp>
        <p:nvSpPr>
          <p:cNvPr id="62" name="Rectangle: Rounded Corners 61">
            <a:extLst>
              <a:ext uri="{FF2B5EF4-FFF2-40B4-BE49-F238E27FC236}">
                <a16:creationId xmlns:a16="http://schemas.microsoft.com/office/drawing/2014/main" id="{B9112AFB-BE66-4883-ACD7-9B5A24744271}"/>
              </a:ext>
            </a:extLst>
          </p:cNvPr>
          <p:cNvSpPr/>
          <p:nvPr/>
        </p:nvSpPr>
        <p:spPr>
          <a:xfrm>
            <a:off x="9161755" y="3465649"/>
            <a:ext cx="2441358" cy="439615"/>
          </a:xfrm>
          <a:prstGeom prst="roundRect">
            <a:avLst/>
          </a:prstGeom>
          <a:solidFill>
            <a:srgbClr val="EA9E16"/>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Data Transformation</a:t>
            </a:r>
          </a:p>
        </p:txBody>
      </p:sp>
      <p:sp>
        <p:nvSpPr>
          <p:cNvPr id="63" name="Rectangle: Rounded Corners 62">
            <a:extLst>
              <a:ext uri="{FF2B5EF4-FFF2-40B4-BE49-F238E27FC236}">
                <a16:creationId xmlns:a16="http://schemas.microsoft.com/office/drawing/2014/main" id="{84DDDA0F-93B1-4020-ABDA-6DC06CAAE343}"/>
              </a:ext>
            </a:extLst>
          </p:cNvPr>
          <p:cNvSpPr/>
          <p:nvPr/>
        </p:nvSpPr>
        <p:spPr>
          <a:xfrm>
            <a:off x="9161755" y="4128538"/>
            <a:ext cx="2441358" cy="496453"/>
          </a:xfrm>
          <a:prstGeom prst="roundRect">
            <a:avLst/>
          </a:prstGeom>
          <a:solidFill>
            <a:srgbClr val="EA9E16"/>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Train Data Set</a:t>
            </a:r>
          </a:p>
          <a:p>
            <a:pPr algn="ctr"/>
            <a:r>
              <a:rPr lang="en-US" dirty="0"/>
              <a:t>Test Data set</a:t>
            </a:r>
          </a:p>
        </p:txBody>
      </p:sp>
      <p:sp>
        <p:nvSpPr>
          <p:cNvPr id="64" name="Rectangle: Rounded Corners 63">
            <a:extLst>
              <a:ext uri="{FF2B5EF4-FFF2-40B4-BE49-F238E27FC236}">
                <a16:creationId xmlns:a16="http://schemas.microsoft.com/office/drawing/2014/main" id="{649B6633-6A1A-40A6-AEEE-F40C69DC5852}"/>
              </a:ext>
            </a:extLst>
          </p:cNvPr>
          <p:cNvSpPr/>
          <p:nvPr/>
        </p:nvSpPr>
        <p:spPr>
          <a:xfrm>
            <a:off x="9161755" y="4907854"/>
            <a:ext cx="2441358" cy="439615"/>
          </a:xfrm>
          <a:prstGeom prst="roundRect">
            <a:avLst/>
          </a:prstGeom>
          <a:solidFill>
            <a:srgbClr val="EA9E16"/>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Regression Model</a:t>
            </a:r>
          </a:p>
        </p:txBody>
      </p:sp>
      <p:sp>
        <p:nvSpPr>
          <p:cNvPr id="65" name="Rectangle: Rounded Corners 64">
            <a:extLst>
              <a:ext uri="{FF2B5EF4-FFF2-40B4-BE49-F238E27FC236}">
                <a16:creationId xmlns:a16="http://schemas.microsoft.com/office/drawing/2014/main" id="{22E02A88-AF71-4220-990B-A230CBA9466A}"/>
              </a:ext>
            </a:extLst>
          </p:cNvPr>
          <p:cNvSpPr/>
          <p:nvPr/>
        </p:nvSpPr>
        <p:spPr>
          <a:xfrm>
            <a:off x="9161755" y="5712957"/>
            <a:ext cx="2441358" cy="545795"/>
          </a:xfrm>
          <a:prstGeom prst="roundRect">
            <a:avLst/>
          </a:prstGeom>
          <a:solidFill>
            <a:srgbClr val="EA9E16"/>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Evaluating Regression</a:t>
            </a:r>
          </a:p>
          <a:p>
            <a:pPr algn="ctr"/>
            <a:r>
              <a:rPr lang="en-US" dirty="0"/>
              <a:t>Model</a:t>
            </a:r>
          </a:p>
        </p:txBody>
      </p:sp>
      <p:cxnSp>
        <p:nvCxnSpPr>
          <p:cNvPr id="43" name="Straight Arrow Connector 42">
            <a:extLst>
              <a:ext uri="{FF2B5EF4-FFF2-40B4-BE49-F238E27FC236}">
                <a16:creationId xmlns:a16="http://schemas.microsoft.com/office/drawing/2014/main" id="{B6C94E85-7C37-4DCA-96E8-56FAA26E0FA2}"/>
              </a:ext>
            </a:extLst>
          </p:cNvPr>
          <p:cNvCxnSpPr/>
          <p:nvPr/>
        </p:nvCxnSpPr>
        <p:spPr>
          <a:xfrm>
            <a:off x="8875045" y="842060"/>
            <a:ext cx="280487"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45" name="Rectangle: Rounded Corners 44">
            <a:extLst>
              <a:ext uri="{FF2B5EF4-FFF2-40B4-BE49-F238E27FC236}">
                <a16:creationId xmlns:a16="http://schemas.microsoft.com/office/drawing/2014/main" id="{E7685C80-149A-4AF2-9FEE-2F7EE22E8917}"/>
              </a:ext>
            </a:extLst>
          </p:cNvPr>
          <p:cNvSpPr/>
          <p:nvPr/>
        </p:nvSpPr>
        <p:spPr>
          <a:xfrm>
            <a:off x="9158799" y="629213"/>
            <a:ext cx="2441358" cy="439615"/>
          </a:xfrm>
          <a:prstGeom prst="roundRect">
            <a:avLst/>
          </a:prstGeom>
          <a:solidFill>
            <a:srgbClr val="EA9E16"/>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Data  Collection</a:t>
            </a:r>
          </a:p>
        </p:txBody>
      </p:sp>
    </p:spTree>
    <p:extLst>
      <p:ext uri="{BB962C8B-B14F-4D97-AF65-F5344CB8AC3E}">
        <p14:creationId xmlns:p14="http://schemas.microsoft.com/office/powerpoint/2010/main" val="767551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35E61A2-0301-4F44-A354-C3F6E4ECD77C}"/>
              </a:ext>
            </a:extLst>
          </p:cNvPr>
          <p:cNvSpPr>
            <a:spLocks noGrp="1"/>
          </p:cNvSpPr>
          <p:nvPr>
            <p:ph type="title"/>
          </p:nvPr>
        </p:nvSpPr>
        <p:spPr>
          <a:xfrm>
            <a:off x="838200" y="156262"/>
            <a:ext cx="10515600" cy="408369"/>
          </a:xfrm>
        </p:spPr>
        <p:txBody>
          <a:bodyPr>
            <a:normAutofit fontScale="90000"/>
          </a:bodyPr>
          <a:lstStyle/>
          <a:p>
            <a:pPr algn="ctr"/>
            <a:r>
              <a:rPr lang="en-US" sz="2800" b="1" dirty="0">
                <a:solidFill>
                  <a:schemeClr val="tx1">
                    <a:lumMod val="75000"/>
                    <a:lumOff val="25000"/>
                  </a:schemeClr>
                </a:solidFill>
              </a:rPr>
              <a:t>Experimental Setup</a:t>
            </a:r>
            <a:endParaRPr lang="en-US" sz="2800" dirty="0"/>
          </a:p>
        </p:txBody>
      </p:sp>
      <p:cxnSp>
        <p:nvCxnSpPr>
          <p:cNvPr id="7" name="Straight Connector 6">
            <a:extLst>
              <a:ext uri="{FF2B5EF4-FFF2-40B4-BE49-F238E27FC236}">
                <a16:creationId xmlns:a16="http://schemas.microsoft.com/office/drawing/2014/main" id="{32EA1173-C47E-4FAF-910D-401BE2466F3D}"/>
              </a:ext>
              <a:ext uri="{C183D7F6-B498-43B3-948B-1728B52AA6E4}">
                <adec:decorative xmlns:adec="http://schemas.microsoft.com/office/drawing/2017/decorative" val="1"/>
              </a:ext>
            </a:extLst>
          </p:cNvPr>
          <p:cNvCxnSpPr>
            <a:cxnSpLocks/>
          </p:cNvCxnSpPr>
          <p:nvPr/>
        </p:nvCxnSpPr>
        <p:spPr>
          <a:xfrm>
            <a:off x="0" y="564631"/>
            <a:ext cx="443883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A94A25B-E4E1-485A-A765-16BBA08C8637}"/>
              </a:ext>
              <a:ext uri="{C183D7F6-B498-43B3-948B-1728B52AA6E4}">
                <adec:decorative xmlns:adec="http://schemas.microsoft.com/office/drawing/2017/decorative" val="1"/>
              </a:ext>
            </a:extLst>
          </p:cNvPr>
          <p:cNvCxnSpPr>
            <a:cxnSpLocks/>
          </p:cNvCxnSpPr>
          <p:nvPr/>
        </p:nvCxnSpPr>
        <p:spPr>
          <a:xfrm>
            <a:off x="7723573" y="565516"/>
            <a:ext cx="446842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Rectangle: Top Corners Rounded 10">
            <a:extLst>
              <a:ext uri="{FF2B5EF4-FFF2-40B4-BE49-F238E27FC236}">
                <a16:creationId xmlns:a16="http://schemas.microsoft.com/office/drawing/2014/main" id="{28D8AE33-2150-476C-81FE-9984CBB8983F}"/>
              </a:ext>
            </a:extLst>
          </p:cNvPr>
          <p:cNvSpPr/>
          <p:nvPr/>
        </p:nvSpPr>
        <p:spPr>
          <a:xfrm>
            <a:off x="4518734" y="852256"/>
            <a:ext cx="2982897" cy="479395"/>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Programming Language</a:t>
            </a:r>
          </a:p>
        </p:txBody>
      </p:sp>
      <p:cxnSp>
        <p:nvCxnSpPr>
          <p:cNvPr id="13" name="Straight Arrow Connector 12">
            <a:extLst>
              <a:ext uri="{FF2B5EF4-FFF2-40B4-BE49-F238E27FC236}">
                <a16:creationId xmlns:a16="http://schemas.microsoft.com/office/drawing/2014/main" id="{A1B3181D-ACB6-4587-AF51-4D5C59E2BB45}"/>
              </a:ext>
            </a:extLst>
          </p:cNvPr>
          <p:cNvCxnSpPr>
            <a:stCxn id="11" idx="1"/>
          </p:cNvCxnSpPr>
          <p:nvPr/>
        </p:nvCxnSpPr>
        <p:spPr>
          <a:xfrm flipH="1">
            <a:off x="6010182" y="1331651"/>
            <a:ext cx="1" cy="461638"/>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14" name="Rectangle: Top Corners Rounded 13">
            <a:extLst>
              <a:ext uri="{FF2B5EF4-FFF2-40B4-BE49-F238E27FC236}">
                <a16:creationId xmlns:a16="http://schemas.microsoft.com/office/drawing/2014/main" id="{A9F02E9A-0FD2-4D37-B587-D15300C9139C}"/>
              </a:ext>
            </a:extLst>
          </p:cNvPr>
          <p:cNvSpPr/>
          <p:nvPr/>
        </p:nvSpPr>
        <p:spPr>
          <a:xfrm>
            <a:off x="5273336" y="1793289"/>
            <a:ext cx="1411544" cy="461638"/>
          </a:xfrm>
          <a:prstGeom prst="round2Same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Python</a:t>
            </a:r>
          </a:p>
        </p:txBody>
      </p:sp>
      <p:sp>
        <p:nvSpPr>
          <p:cNvPr id="17" name="Rectangle: Top Corners Rounded 16">
            <a:extLst>
              <a:ext uri="{FF2B5EF4-FFF2-40B4-BE49-F238E27FC236}">
                <a16:creationId xmlns:a16="http://schemas.microsoft.com/office/drawing/2014/main" id="{884E8C52-FC68-448E-B274-6A52FA09204C}"/>
              </a:ext>
            </a:extLst>
          </p:cNvPr>
          <p:cNvSpPr/>
          <p:nvPr/>
        </p:nvSpPr>
        <p:spPr>
          <a:xfrm>
            <a:off x="4518734" y="2716565"/>
            <a:ext cx="2982897" cy="479395"/>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Tools</a:t>
            </a:r>
          </a:p>
        </p:txBody>
      </p:sp>
      <p:sp>
        <p:nvSpPr>
          <p:cNvPr id="19" name="Rectangle: Top Corners Rounded 18">
            <a:extLst>
              <a:ext uri="{FF2B5EF4-FFF2-40B4-BE49-F238E27FC236}">
                <a16:creationId xmlns:a16="http://schemas.microsoft.com/office/drawing/2014/main" id="{07036AF5-F941-45A6-88E7-B6C92A33D4F1}"/>
              </a:ext>
            </a:extLst>
          </p:cNvPr>
          <p:cNvSpPr/>
          <p:nvPr/>
        </p:nvSpPr>
        <p:spPr>
          <a:xfrm>
            <a:off x="4168069" y="3748592"/>
            <a:ext cx="1411544" cy="589307"/>
          </a:xfrm>
          <a:prstGeom prst="round2Same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err="1"/>
              <a:t>Jupyter</a:t>
            </a:r>
            <a:r>
              <a:rPr lang="en-US" b="1" dirty="0"/>
              <a:t> Notebook</a:t>
            </a:r>
          </a:p>
        </p:txBody>
      </p:sp>
      <p:sp>
        <p:nvSpPr>
          <p:cNvPr id="20" name="Rectangle: Top Corners Rounded 19">
            <a:extLst>
              <a:ext uri="{FF2B5EF4-FFF2-40B4-BE49-F238E27FC236}">
                <a16:creationId xmlns:a16="http://schemas.microsoft.com/office/drawing/2014/main" id="{93771A31-4BEC-4A15-9BFB-8DF1B526E028}"/>
              </a:ext>
            </a:extLst>
          </p:cNvPr>
          <p:cNvSpPr/>
          <p:nvPr/>
        </p:nvSpPr>
        <p:spPr>
          <a:xfrm>
            <a:off x="6428912" y="3748593"/>
            <a:ext cx="1411544" cy="461638"/>
          </a:xfrm>
          <a:prstGeom prst="round2Same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Spyder</a:t>
            </a:r>
          </a:p>
        </p:txBody>
      </p:sp>
      <p:cxnSp>
        <p:nvCxnSpPr>
          <p:cNvPr id="21" name="Straight Arrow Connector 20">
            <a:extLst>
              <a:ext uri="{FF2B5EF4-FFF2-40B4-BE49-F238E27FC236}">
                <a16:creationId xmlns:a16="http://schemas.microsoft.com/office/drawing/2014/main" id="{B78131D3-F994-47D6-A3E0-7141190A07A4}"/>
              </a:ext>
            </a:extLst>
          </p:cNvPr>
          <p:cNvCxnSpPr>
            <a:cxnSpLocks/>
          </p:cNvCxnSpPr>
          <p:nvPr/>
        </p:nvCxnSpPr>
        <p:spPr>
          <a:xfrm flipH="1">
            <a:off x="4981853" y="3198181"/>
            <a:ext cx="1" cy="550411"/>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23" name="Straight Arrow Connector 22">
            <a:extLst>
              <a:ext uri="{FF2B5EF4-FFF2-40B4-BE49-F238E27FC236}">
                <a16:creationId xmlns:a16="http://schemas.microsoft.com/office/drawing/2014/main" id="{4B731D24-9099-4EB4-9468-6499E6737A6E}"/>
              </a:ext>
            </a:extLst>
          </p:cNvPr>
          <p:cNvCxnSpPr>
            <a:cxnSpLocks/>
          </p:cNvCxnSpPr>
          <p:nvPr/>
        </p:nvCxnSpPr>
        <p:spPr>
          <a:xfrm flipH="1">
            <a:off x="6980809" y="3198180"/>
            <a:ext cx="1" cy="550411"/>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24" name="Rectangle: Top Corners Rounded 23">
            <a:extLst>
              <a:ext uri="{FF2B5EF4-FFF2-40B4-BE49-F238E27FC236}">
                <a16:creationId xmlns:a16="http://schemas.microsoft.com/office/drawing/2014/main" id="{91BFE853-537F-46AA-8F83-9D3A158D8E0A}"/>
              </a:ext>
            </a:extLst>
          </p:cNvPr>
          <p:cNvSpPr/>
          <p:nvPr/>
        </p:nvSpPr>
        <p:spPr>
          <a:xfrm>
            <a:off x="4518734" y="4671869"/>
            <a:ext cx="2982897" cy="479395"/>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Libraries</a:t>
            </a:r>
          </a:p>
        </p:txBody>
      </p:sp>
      <p:cxnSp>
        <p:nvCxnSpPr>
          <p:cNvPr id="25" name="Straight Arrow Connector 24">
            <a:extLst>
              <a:ext uri="{FF2B5EF4-FFF2-40B4-BE49-F238E27FC236}">
                <a16:creationId xmlns:a16="http://schemas.microsoft.com/office/drawing/2014/main" id="{ACB1BF02-4D8D-439C-B493-EC3AB876FA06}"/>
              </a:ext>
            </a:extLst>
          </p:cNvPr>
          <p:cNvCxnSpPr>
            <a:cxnSpLocks/>
          </p:cNvCxnSpPr>
          <p:nvPr/>
        </p:nvCxnSpPr>
        <p:spPr>
          <a:xfrm flipH="1">
            <a:off x="5979108" y="5167910"/>
            <a:ext cx="1" cy="327368"/>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28" name="Straight Connector 27">
            <a:extLst>
              <a:ext uri="{FF2B5EF4-FFF2-40B4-BE49-F238E27FC236}">
                <a16:creationId xmlns:a16="http://schemas.microsoft.com/office/drawing/2014/main" id="{71628305-8D16-4A8E-BDDB-4A09F792C696}"/>
              </a:ext>
            </a:extLst>
          </p:cNvPr>
          <p:cNvCxnSpPr>
            <a:cxnSpLocks/>
          </p:cNvCxnSpPr>
          <p:nvPr/>
        </p:nvCxnSpPr>
        <p:spPr>
          <a:xfrm flipH="1">
            <a:off x="838200" y="5485233"/>
            <a:ext cx="9328935" cy="47870"/>
          </a:xfrm>
          <a:prstGeom prst="line">
            <a:avLst/>
          </a:prstGeom>
          <a:ln w="19050"/>
        </p:spPr>
        <p:style>
          <a:lnRef idx="1">
            <a:schemeClr val="accent5"/>
          </a:lnRef>
          <a:fillRef idx="0">
            <a:schemeClr val="accent5"/>
          </a:fillRef>
          <a:effectRef idx="0">
            <a:schemeClr val="accent5"/>
          </a:effectRef>
          <a:fontRef idx="minor">
            <a:schemeClr val="tx1"/>
          </a:fontRef>
        </p:style>
      </p:cxnSp>
      <p:cxnSp>
        <p:nvCxnSpPr>
          <p:cNvPr id="31" name="Straight Arrow Connector 30">
            <a:extLst>
              <a:ext uri="{FF2B5EF4-FFF2-40B4-BE49-F238E27FC236}">
                <a16:creationId xmlns:a16="http://schemas.microsoft.com/office/drawing/2014/main" id="{3880BBF5-D376-43F3-AA77-1694789861B2}"/>
              </a:ext>
            </a:extLst>
          </p:cNvPr>
          <p:cNvCxnSpPr>
            <a:cxnSpLocks/>
          </p:cNvCxnSpPr>
          <p:nvPr/>
        </p:nvCxnSpPr>
        <p:spPr>
          <a:xfrm flipH="1">
            <a:off x="2535318" y="5511925"/>
            <a:ext cx="1" cy="327368"/>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32" name="Straight Arrow Connector 31">
            <a:extLst>
              <a:ext uri="{FF2B5EF4-FFF2-40B4-BE49-F238E27FC236}">
                <a16:creationId xmlns:a16="http://schemas.microsoft.com/office/drawing/2014/main" id="{98DBD8B3-D4A8-46D6-A695-2FE5B5561D45}"/>
              </a:ext>
            </a:extLst>
          </p:cNvPr>
          <p:cNvCxnSpPr>
            <a:cxnSpLocks/>
          </p:cNvCxnSpPr>
          <p:nvPr/>
        </p:nvCxnSpPr>
        <p:spPr>
          <a:xfrm flipH="1">
            <a:off x="4168069" y="5515880"/>
            <a:ext cx="1" cy="327368"/>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33" name="Straight Arrow Connector 32">
            <a:extLst>
              <a:ext uri="{FF2B5EF4-FFF2-40B4-BE49-F238E27FC236}">
                <a16:creationId xmlns:a16="http://schemas.microsoft.com/office/drawing/2014/main" id="{E1D0726A-DB8F-4A89-88CE-EE1FAFF0E8AC}"/>
              </a:ext>
            </a:extLst>
          </p:cNvPr>
          <p:cNvCxnSpPr>
            <a:cxnSpLocks/>
          </p:cNvCxnSpPr>
          <p:nvPr/>
        </p:nvCxnSpPr>
        <p:spPr>
          <a:xfrm flipH="1">
            <a:off x="5645827" y="5491945"/>
            <a:ext cx="1" cy="327368"/>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34" name="Straight Arrow Connector 33">
            <a:extLst>
              <a:ext uri="{FF2B5EF4-FFF2-40B4-BE49-F238E27FC236}">
                <a16:creationId xmlns:a16="http://schemas.microsoft.com/office/drawing/2014/main" id="{39D1D25A-612C-4F8A-B6FC-0DEEE95B77A4}"/>
              </a:ext>
            </a:extLst>
          </p:cNvPr>
          <p:cNvCxnSpPr>
            <a:cxnSpLocks/>
          </p:cNvCxnSpPr>
          <p:nvPr/>
        </p:nvCxnSpPr>
        <p:spPr>
          <a:xfrm flipH="1">
            <a:off x="6972289" y="5535412"/>
            <a:ext cx="5" cy="280394"/>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35" name="Straight Arrow Connector 34">
            <a:extLst>
              <a:ext uri="{FF2B5EF4-FFF2-40B4-BE49-F238E27FC236}">
                <a16:creationId xmlns:a16="http://schemas.microsoft.com/office/drawing/2014/main" id="{0D7B646B-A496-4CE2-9BAD-B71AF0978159}"/>
              </a:ext>
            </a:extLst>
          </p:cNvPr>
          <p:cNvCxnSpPr>
            <a:cxnSpLocks/>
          </p:cNvCxnSpPr>
          <p:nvPr/>
        </p:nvCxnSpPr>
        <p:spPr>
          <a:xfrm flipH="1">
            <a:off x="8510714" y="5485233"/>
            <a:ext cx="1" cy="327368"/>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36" name="Straight Arrow Connector 35">
            <a:extLst>
              <a:ext uri="{FF2B5EF4-FFF2-40B4-BE49-F238E27FC236}">
                <a16:creationId xmlns:a16="http://schemas.microsoft.com/office/drawing/2014/main" id="{CB0AF9EE-93CA-40B3-B75B-61CA5D92F97A}"/>
              </a:ext>
            </a:extLst>
          </p:cNvPr>
          <p:cNvCxnSpPr>
            <a:cxnSpLocks/>
          </p:cNvCxnSpPr>
          <p:nvPr/>
        </p:nvCxnSpPr>
        <p:spPr>
          <a:xfrm flipH="1">
            <a:off x="10167135" y="5471853"/>
            <a:ext cx="1" cy="327368"/>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37" name="Straight Arrow Connector 36">
            <a:extLst>
              <a:ext uri="{FF2B5EF4-FFF2-40B4-BE49-F238E27FC236}">
                <a16:creationId xmlns:a16="http://schemas.microsoft.com/office/drawing/2014/main" id="{99261E0D-0092-4242-9267-6CEB4D42C922}"/>
              </a:ext>
            </a:extLst>
          </p:cNvPr>
          <p:cNvCxnSpPr>
            <a:cxnSpLocks/>
          </p:cNvCxnSpPr>
          <p:nvPr/>
        </p:nvCxnSpPr>
        <p:spPr>
          <a:xfrm flipH="1">
            <a:off x="856320" y="5546483"/>
            <a:ext cx="1" cy="327368"/>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38" name="Rectangle: Top Corners Rounded 37">
            <a:extLst>
              <a:ext uri="{FF2B5EF4-FFF2-40B4-BE49-F238E27FC236}">
                <a16:creationId xmlns:a16="http://schemas.microsoft.com/office/drawing/2014/main" id="{C85C8C1B-B8F8-411F-9DE1-52DC7EB00EC3}"/>
              </a:ext>
            </a:extLst>
          </p:cNvPr>
          <p:cNvSpPr/>
          <p:nvPr/>
        </p:nvSpPr>
        <p:spPr>
          <a:xfrm>
            <a:off x="1972880" y="5834903"/>
            <a:ext cx="1411544" cy="461638"/>
          </a:xfrm>
          <a:prstGeom prst="round2Same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err="1"/>
              <a:t>Numpy</a:t>
            </a:r>
            <a:endParaRPr lang="en-US" b="1" dirty="0"/>
          </a:p>
        </p:txBody>
      </p:sp>
      <p:sp>
        <p:nvSpPr>
          <p:cNvPr id="39" name="Rectangle: Top Corners Rounded 38">
            <a:extLst>
              <a:ext uri="{FF2B5EF4-FFF2-40B4-BE49-F238E27FC236}">
                <a16:creationId xmlns:a16="http://schemas.microsoft.com/office/drawing/2014/main" id="{6DCAB591-2CBE-424A-9C9A-5674C17D0646}"/>
              </a:ext>
            </a:extLst>
          </p:cNvPr>
          <p:cNvSpPr/>
          <p:nvPr/>
        </p:nvSpPr>
        <p:spPr>
          <a:xfrm>
            <a:off x="5041224" y="5826025"/>
            <a:ext cx="1411544" cy="461638"/>
          </a:xfrm>
          <a:prstGeom prst="round2Same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Seaborn</a:t>
            </a:r>
          </a:p>
        </p:txBody>
      </p:sp>
      <p:sp>
        <p:nvSpPr>
          <p:cNvPr id="40" name="Rectangle: Top Corners Rounded 39">
            <a:extLst>
              <a:ext uri="{FF2B5EF4-FFF2-40B4-BE49-F238E27FC236}">
                <a16:creationId xmlns:a16="http://schemas.microsoft.com/office/drawing/2014/main" id="{E7818B3E-8D70-47E6-9756-95F78056AD06}"/>
              </a:ext>
            </a:extLst>
          </p:cNvPr>
          <p:cNvSpPr/>
          <p:nvPr/>
        </p:nvSpPr>
        <p:spPr>
          <a:xfrm>
            <a:off x="3507052" y="5819313"/>
            <a:ext cx="1411544" cy="461638"/>
          </a:xfrm>
          <a:prstGeom prst="round2Same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err="1"/>
              <a:t>Matplot</a:t>
            </a:r>
            <a:endParaRPr lang="en-US" b="1" dirty="0"/>
          </a:p>
        </p:txBody>
      </p:sp>
      <p:sp>
        <p:nvSpPr>
          <p:cNvPr id="41" name="Rectangle: Top Corners Rounded 40">
            <a:extLst>
              <a:ext uri="{FF2B5EF4-FFF2-40B4-BE49-F238E27FC236}">
                <a16:creationId xmlns:a16="http://schemas.microsoft.com/office/drawing/2014/main" id="{8644A156-412A-4AB9-BA6A-F0393E6FD4D4}"/>
              </a:ext>
            </a:extLst>
          </p:cNvPr>
          <p:cNvSpPr/>
          <p:nvPr/>
        </p:nvSpPr>
        <p:spPr>
          <a:xfrm>
            <a:off x="6575396" y="5812601"/>
            <a:ext cx="1411544" cy="461638"/>
          </a:xfrm>
          <a:prstGeom prst="round2Same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Altair</a:t>
            </a:r>
          </a:p>
        </p:txBody>
      </p:sp>
      <p:sp>
        <p:nvSpPr>
          <p:cNvPr id="44" name="Rectangle: Top Corners Rounded 43">
            <a:extLst>
              <a:ext uri="{FF2B5EF4-FFF2-40B4-BE49-F238E27FC236}">
                <a16:creationId xmlns:a16="http://schemas.microsoft.com/office/drawing/2014/main" id="{81DF3DB4-BB20-48FE-A6DB-443CAF646EB2}"/>
              </a:ext>
            </a:extLst>
          </p:cNvPr>
          <p:cNvSpPr/>
          <p:nvPr/>
        </p:nvSpPr>
        <p:spPr>
          <a:xfrm>
            <a:off x="8089031" y="5799221"/>
            <a:ext cx="1411544" cy="461638"/>
          </a:xfrm>
          <a:prstGeom prst="round2Same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err="1"/>
              <a:t>Sklearn</a:t>
            </a:r>
            <a:endParaRPr lang="en-US" b="1" dirty="0"/>
          </a:p>
        </p:txBody>
      </p:sp>
      <p:sp>
        <p:nvSpPr>
          <p:cNvPr id="46" name="Rectangle: Top Corners Rounded 45">
            <a:extLst>
              <a:ext uri="{FF2B5EF4-FFF2-40B4-BE49-F238E27FC236}">
                <a16:creationId xmlns:a16="http://schemas.microsoft.com/office/drawing/2014/main" id="{7652C122-CA5D-446B-995C-6DA1FF6A1AFF}"/>
              </a:ext>
            </a:extLst>
          </p:cNvPr>
          <p:cNvSpPr/>
          <p:nvPr/>
        </p:nvSpPr>
        <p:spPr>
          <a:xfrm>
            <a:off x="9602666" y="5801494"/>
            <a:ext cx="1411544" cy="461638"/>
          </a:xfrm>
          <a:prstGeom prst="round2Same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err="1"/>
              <a:t>Streamlit</a:t>
            </a:r>
            <a:endParaRPr lang="en-US" b="1" dirty="0"/>
          </a:p>
        </p:txBody>
      </p:sp>
      <p:sp>
        <p:nvSpPr>
          <p:cNvPr id="48" name="Rectangle: Top Corners Rounded 47">
            <a:extLst>
              <a:ext uri="{FF2B5EF4-FFF2-40B4-BE49-F238E27FC236}">
                <a16:creationId xmlns:a16="http://schemas.microsoft.com/office/drawing/2014/main" id="{18536DB2-F20E-4079-ABF6-018B81EB3F05}"/>
              </a:ext>
            </a:extLst>
          </p:cNvPr>
          <p:cNvSpPr/>
          <p:nvPr/>
        </p:nvSpPr>
        <p:spPr>
          <a:xfrm>
            <a:off x="459245" y="5850426"/>
            <a:ext cx="1411544" cy="461638"/>
          </a:xfrm>
          <a:prstGeom prst="round2Same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Pandas</a:t>
            </a:r>
          </a:p>
        </p:txBody>
      </p:sp>
    </p:spTree>
    <p:extLst>
      <p:ext uri="{BB962C8B-B14F-4D97-AF65-F5344CB8AC3E}">
        <p14:creationId xmlns:p14="http://schemas.microsoft.com/office/powerpoint/2010/main" val="3076801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a:extLst>
              <a:ext uri="{FF2B5EF4-FFF2-40B4-BE49-F238E27FC236}">
                <a16:creationId xmlns:a16="http://schemas.microsoft.com/office/drawing/2014/main" id="{364CFD90-D0E1-4BC3-9D8B-7503E2632C39}"/>
              </a:ext>
              <a:ext uri="{C183D7F6-B498-43B3-948B-1728B52AA6E4}">
                <adec:decorative xmlns:adec="http://schemas.microsoft.com/office/drawing/2017/decorative" val="1"/>
              </a:ext>
            </a:extLst>
          </p:cNvPr>
          <p:cNvSpPr/>
          <p:nvPr/>
        </p:nvSpPr>
        <p:spPr>
          <a:xfrm>
            <a:off x="4111626" y="1720850"/>
            <a:ext cx="3968750" cy="396875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a:lstStyle/>
          <a:p>
            <a:r>
              <a:rPr lang="en-US" dirty="0"/>
              <a:t>Project analysis slide 2</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6943725" y="534623"/>
            <a:ext cx="5248275" cy="14908"/>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63867"/>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Overview</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5061419"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E3ECCC05-FF78-40FA-84FF-172821D8B58A}"/>
              </a:ext>
              <a:ext uri="{C183D7F6-B498-43B3-948B-1728B52AA6E4}">
                <adec:decorative xmlns:adec="http://schemas.microsoft.com/office/drawing/2017/decorative" val="1"/>
              </a:ext>
            </a:extLst>
          </p:cNvPr>
          <p:cNvSpPr/>
          <p:nvPr/>
        </p:nvSpPr>
        <p:spPr>
          <a:xfrm>
            <a:off x="5248275" y="2857500"/>
            <a:ext cx="1892301" cy="169545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House Price Prediction</a:t>
            </a:r>
          </a:p>
          <a:p>
            <a:pPr algn="ctr"/>
            <a:r>
              <a:rPr lang="en-US" b="1" dirty="0">
                <a:latin typeface="+mj-lt"/>
              </a:rPr>
              <a:t>System</a:t>
            </a:r>
          </a:p>
        </p:txBody>
      </p:sp>
      <p:sp>
        <p:nvSpPr>
          <p:cNvPr id="16" name="Rectangle: Rounded Corners 15">
            <a:extLst>
              <a:ext uri="{FF2B5EF4-FFF2-40B4-BE49-F238E27FC236}">
                <a16:creationId xmlns:a16="http://schemas.microsoft.com/office/drawing/2014/main" id="{D6178536-4D8A-4FF2-BBDC-4B3E7E0FCF26}"/>
              </a:ext>
              <a:ext uri="{C183D7F6-B498-43B3-948B-1728B52AA6E4}">
                <adec:decorative xmlns:adec="http://schemas.microsoft.com/office/drawing/2017/decorative" val="1"/>
              </a:ext>
            </a:extLst>
          </p:cNvPr>
          <p:cNvSpPr/>
          <p:nvPr/>
        </p:nvSpPr>
        <p:spPr>
          <a:xfrm>
            <a:off x="6943725" y="161387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Data Transformation</a:t>
            </a:r>
          </a:p>
        </p:txBody>
      </p:sp>
      <p:sp>
        <p:nvSpPr>
          <p:cNvPr id="15" name="Oval 14">
            <a:extLst>
              <a:ext uri="{FF2B5EF4-FFF2-40B4-BE49-F238E27FC236}">
                <a16:creationId xmlns:a16="http://schemas.microsoft.com/office/drawing/2014/main" id="{416F1356-9015-4B5C-9C64-3C1D963E5F59}"/>
              </a:ext>
              <a:ext uri="{C183D7F6-B498-43B3-948B-1728B52AA6E4}">
                <adec:decorative xmlns:adec="http://schemas.microsoft.com/office/drawing/2017/decorative" val="1"/>
              </a:ext>
            </a:extLst>
          </p:cNvPr>
          <p:cNvSpPr/>
          <p:nvPr/>
        </p:nvSpPr>
        <p:spPr>
          <a:xfrm>
            <a:off x="6832600" y="151447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B7F2E37-0ACF-4E8A-9C1D-EC5B65BA2906}"/>
              </a:ext>
              <a:ext uri="{C183D7F6-B498-43B3-948B-1728B52AA6E4}">
                <adec:decorative xmlns:adec="http://schemas.microsoft.com/office/drawing/2017/decorative" val="1"/>
              </a:ext>
            </a:extLst>
          </p:cNvPr>
          <p:cNvSpPr/>
          <p:nvPr/>
        </p:nvSpPr>
        <p:spPr>
          <a:xfrm>
            <a:off x="7693025" y="3334727"/>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Regression Model</a:t>
            </a:r>
          </a:p>
        </p:txBody>
      </p:sp>
      <p:sp>
        <p:nvSpPr>
          <p:cNvPr id="20" name="Oval 19">
            <a:extLst>
              <a:ext uri="{FF2B5EF4-FFF2-40B4-BE49-F238E27FC236}">
                <a16:creationId xmlns:a16="http://schemas.microsoft.com/office/drawing/2014/main" id="{88F812F5-70AF-4FBD-80D9-D59B3C456D5E}"/>
              </a:ext>
              <a:ext uri="{C183D7F6-B498-43B3-948B-1728B52AA6E4}">
                <adec:decorative xmlns:adec="http://schemas.microsoft.com/office/drawing/2017/decorative" val="1"/>
              </a:ext>
            </a:extLst>
          </p:cNvPr>
          <p:cNvSpPr/>
          <p:nvPr/>
        </p:nvSpPr>
        <p:spPr>
          <a:xfrm>
            <a:off x="7491927" y="323532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Rounded Corners 20">
            <a:extLst>
              <a:ext uri="{FF2B5EF4-FFF2-40B4-BE49-F238E27FC236}">
                <a16:creationId xmlns:a16="http://schemas.microsoft.com/office/drawing/2014/main" id="{952C5002-7E64-4069-ACA0-6876E54A9B46}"/>
              </a:ext>
              <a:ext uri="{C183D7F6-B498-43B3-948B-1728B52AA6E4}">
                <adec:decorative xmlns:adec="http://schemas.microsoft.com/office/drawing/2017/decorative" val="1"/>
              </a:ext>
            </a:extLst>
          </p:cNvPr>
          <p:cNvSpPr/>
          <p:nvPr/>
        </p:nvSpPr>
        <p:spPr>
          <a:xfrm>
            <a:off x="6943725" y="5154978"/>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Classification Model</a:t>
            </a:r>
          </a:p>
        </p:txBody>
      </p:sp>
      <p:sp>
        <p:nvSpPr>
          <p:cNvPr id="22" name="Oval 21">
            <a:extLst>
              <a:ext uri="{FF2B5EF4-FFF2-40B4-BE49-F238E27FC236}">
                <a16:creationId xmlns:a16="http://schemas.microsoft.com/office/drawing/2014/main" id="{A49C5F3A-6F0D-4A0F-AE6E-92F342C22ACD}"/>
              </a:ext>
              <a:ext uri="{C183D7F6-B498-43B3-948B-1728B52AA6E4}">
                <adec:decorative xmlns:adec="http://schemas.microsoft.com/office/drawing/2017/decorative" val="1"/>
              </a:ext>
            </a:extLst>
          </p:cNvPr>
          <p:cNvSpPr/>
          <p:nvPr/>
        </p:nvSpPr>
        <p:spPr>
          <a:xfrm>
            <a:off x="6832600" y="5055576"/>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94A75A79-A67A-4A23-8588-7FC5EB9A5183}"/>
              </a:ext>
              <a:ext uri="{C183D7F6-B498-43B3-948B-1728B52AA6E4}">
                <adec:decorative xmlns:adec="http://schemas.microsoft.com/office/drawing/2017/decorative" val="1"/>
              </a:ext>
            </a:extLst>
          </p:cNvPr>
          <p:cNvSpPr/>
          <p:nvPr/>
        </p:nvSpPr>
        <p:spPr>
          <a:xfrm>
            <a:off x="905753" y="2786746"/>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Data Cleaning</a:t>
            </a:r>
          </a:p>
        </p:txBody>
      </p:sp>
      <p:sp>
        <p:nvSpPr>
          <p:cNvPr id="26" name="Oval 25">
            <a:extLst>
              <a:ext uri="{FF2B5EF4-FFF2-40B4-BE49-F238E27FC236}">
                <a16:creationId xmlns:a16="http://schemas.microsoft.com/office/drawing/2014/main" id="{BBC62739-FA35-49F8-8929-743B31F55A69}"/>
              </a:ext>
              <a:ext uri="{C183D7F6-B498-43B3-948B-1728B52AA6E4}">
                <adec:decorative xmlns:adec="http://schemas.microsoft.com/office/drawing/2017/decorative" val="1"/>
              </a:ext>
            </a:extLst>
          </p:cNvPr>
          <p:cNvSpPr/>
          <p:nvPr/>
        </p:nvSpPr>
        <p:spPr>
          <a:xfrm>
            <a:off x="3728940" y="267672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71BB375D-5EE6-4428-9817-2C7DB6B94332}"/>
              </a:ext>
              <a:ext uri="{C183D7F6-B498-43B3-948B-1728B52AA6E4}">
                <adec:decorative xmlns:adec="http://schemas.microsoft.com/office/drawing/2017/decorative" val="1"/>
              </a:ext>
            </a:extLst>
          </p:cNvPr>
          <p:cNvSpPr/>
          <p:nvPr/>
        </p:nvSpPr>
        <p:spPr>
          <a:xfrm>
            <a:off x="789047" y="4021824"/>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Exploratory Data </a:t>
            </a:r>
          </a:p>
          <a:p>
            <a:pPr algn="ctr"/>
            <a:r>
              <a:rPr lang="en-US" sz="1600" b="1" dirty="0"/>
              <a:t>Analysis</a:t>
            </a:r>
          </a:p>
        </p:txBody>
      </p:sp>
      <p:sp>
        <p:nvSpPr>
          <p:cNvPr id="28" name="Oval 27">
            <a:extLst>
              <a:ext uri="{FF2B5EF4-FFF2-40B4-BE49-F238E27FC236}">
                <a16:creationId xmlns:a16="http://schemas.microsoft.com/office/drawing/2014/main" id="{B3A511B7-C7F3-4107-9962-1E10D2E087DD}"/>
              </a:ext>
              <a:ext uri="{C183D7F6-B498-43B3-948B-1728B52AA6E4}">
                <adec:decorative xmlns:adec="http://schemas.microsoft.com/office/drawing/2017/decorative" val="1"/>
              </a:ext>
            </a:extLst>
          </p:cNvPr>
          <p:cNvSpPr/>
          <p:nvPr/>
        </p:nvSpPr>
        <p:spPr>
          <a:xfrm>
            <a:off x="3777782" y="3895472"/>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Rounded Corners 28">
            <a:extLst>
              <a:ext uri="{FF2B5EF4-FFF2-40B4-BE49-F238E27FC236}">
                <a16:creationId xmlns:a16="http://schemas.microsoft.com/office/drawing/2014/main" id="{D4D7D4B6-62C2-45AB-89A5-3A41DA021FD2}"/>
              </a:ext>
              <a:ext uri="{C183D7F6-B498-43B3-948B-1728B52AA6E4}">
                <adec:decorative xmlns:adec="http://schemas.microsoft.com/office/drawing/2017/decorative" val="1"/>
              </a:ext>
            </a:extLst>
          </p:cNvPr>
          <p:cNvSpPr/>
          <p:nvPr/>
        </p:nvSpPr>
        <p:spPr>
          <a:xfrm>
            <a:off x="1587500" y="5154978"/>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Feature Selection</a:t>
            </a:r>
          </a:p>
        </p:txBody>
      </p:sp>
      <p:sp>
        <p:nvSpPr>
          <p:cNvPr id="30" name="Oval 29">
            <a:extLst>
              <a:ext uri="{FF2B5EF4-FFF2-40B4-BE49-F238E27FC236}">
                <a16:creationId xmlns:a16="http://schemas.microsoft.com/office/drawing/2014/main" id="{83902602-D4BC-4D44-AC14-BB55A86C5D06}"/>
              </a:ext>
              <a:ext uri="{C183D7F6-B498-43B3-948B-1728B52AA6E4}">
                <adec:decorative xmlns:adec="http://schemas.microsoft.com/office/drawing/2017/decorative" val="1"/>
              </a:ext>
            </a:extLst>
          </p:cNvPr>
          <p:cNvSpPr/>
          <p:nvPr/>
        </p:nvSpPr>
        <p:spPr>
          <a:xfrm>
            <a:off x="4419600" y="5055576"/>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1" name="Group 30" descr="Icons of bar chart and line graph.">
            <a:extLst>
              <a:ext uri="{FF2B5EF4-FFF2-40B4-BE49-F238E27FC236}">
                <a16:creationId xmlns:a16="http://schemas.microsoft.com/office/drawing/2014/main" id="{044C3643-8A0E-47C1-BEB8-C73203B5E58D}"/>
              </a:ext>
            </a:extLst>
          </p:cNvPr>
          <p:cNvGrpSpPr/>
          <p:nvPr/>
        </p:nvGrpSpPr>
        <p:grpSpPr>
          <a:xfrm>
            <a:off x="1019158" y="2354874"/>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56E8F5A5-5318-470B-8F42-337C264086A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6AA1356D-8F1B-4281-BEC5-5B4EBF7467B1}"/>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43" name="Group 42" descr="Icons of bar chart and line graph.">
            <a:extLst>
              <a:ext uri="{FF2B5EF4-FFF2-40B4-BE49-F238E27FC236}">
                <a16:creationId xmlns:a16="http://schemas.microsoft.com/office/drawing/2014/main" id="{B25ABD26-173D-42C9-B400-45692BF26E09}"/>
              </a:ext>
            </a:extLst>
          </p:cNvPr>
          <p:cNvGrpSpPr/>
          <p:nvPr/>
        </p:nvGrpSpPr>
        <p:grpSpPr>
          <a:xfrm>
            <a:off x="4052774" y="4166139"/>
            <a:ext cx="347679" cy="347679"/>
            <a:chOff x="4319588" y="2492375"/>
            <a:chExt cx="287338" cy="287338"/>
          </a:xfrm>
          <a:solidFill>
            <a:schemeClr val="bg1"/>
          </a:solidFill>
        </p:grpSpPr>
        <p:sp>
          <p:nvSpPr>
            <p:cNvPr id="44" name="Freeform 372">
              <a:extLst>
                <a:ext uri="{FF2B5EF4-FFF2-40B4-BE49-F238E27FC236}">
                  <a16:creationId xmlns:a16="http://schemas.microsoft.com/office/drawing/2014/main" id="{11A4960A-4984-460D-BC9B-C1A5249C99E5}"/>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dirty="0"/>
            </a:p>
          </p:txBody>
        </p:sp>
        <p:sp>
          <p:nvSpPr>
            <p:cNvPr id="45" name="Freeform 373">
              <a:extLst>
                <a:ext uri="{FF2B5EF4-FFF2-40B4-BE49-F238E27FC236}">
                  <a16:creationId xmlns:a16="http://schemas.microsoft.com/office/drawing/2014/main" id="{4A746F6A-3787-40BC-95D8-88D715360E12}"/>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dirty="0"/>
            </a:p>
          </p:txBody>
        </p:sp>
      </p:grpSp>
      <p:sp>
        <p:nvSpPr>
          <p:cNvPr id="46" name="Rectangle: Rounded Corners 45">
            <a:extLst>
              <a:ext uri="{FF2B5EF4-FFF2-40B4-BE49-F238E27FC236}">
                <a16:creationId xmlns:a16="http://schemas.microsoft.com/office/drawing/2014/main" id="{DC4B554F-B513-4055-8C95-26C802980A52}"/>
              </a:ext>
              <a:ext uri="{C183D7F6-B498-43B3-948B-1728B52AA6E4}">
                <adec:decorative xmlns:adec="http://schemas.microsoft.com/office/drawing/2017/decorative" val="1"/>
              </a:ext>
            </a:extLst>
          </p:cNvPr>
          <p:cNvSpPr/>
          <p:nvPr/>
        </p:nvSpPr>
        <p:spPr>
          <a:xfrm>
            <a:off x="1472807" y="1663284"/>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Data Collection</a:t>
            </a:r>
          </a:p>
        </p:txBody>
      </p:sp>
      <p:sp>
        <p:nvSpPr>
          <p:cNvPr id="47" name="Oval 46">
            <a:extLst>
              <a:ext uri="{FF2B5EF4-FFF2-40B4-BE49-F238E27FC236}">
                <a16:creationId xmlns:a16="http://schemas.microsoft.com/office/drawing/2014/main" id="{E68A3227-6818-4C0C-91B4-52B298924965}"/>
              </a:ext>
              <a:ext uri="{C183D7F6-B498-43B3-948B-1728B52AA6E4}">
                <adec:decorative xmlns:adec="http://schemas.microsoft.com/office/drawing/2017/decorative" val="1"/>
              </a:ext>
            </a:extLst>
          </p:cNvPr>
          <p:cNvSpPr/>
          <p:nvPr/>
        </p:nvSpPr>
        <p:spPr>
          <a:xfrm>
            <a:off x="4457858" y="1540139"/>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2" name="Picture 51">
            <a:extLst>
              <a:ext uri="{FF2B5EF4-FFF2-40B4-BE49-F238E27FC236}">
                <a16:creationId xmlns:a16="http://schemas.microsoft.com/office/drawing/2014/main" id="{F9FB83F6-ECAA-4DA6-8C0F-C5040648D28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952458" y="2915309"/>
            <a:ext cx="484995" cy="462631"/>
          </a:xfrm>
          <a:prstGeom prst="rect">
            <a:avLst/>
          </a:prstGeom>
          <a:noFill/>
          <a:ln>
            <a:noFill/>
          </a:ln>
        </p:spPr>
      </p:pic>
      <p:pic>
        <p:nvPicPr>
          <p:cNvPr id="1026" name="Picture 2" descr="Feature Selection Icons - Download Free Vector Icons | Noun Project">
            <a:extLst>
              <a:ext uri="{FF2B5EF4-FFF2-40B4-BE49-F238E27FC236}">
                <a16:creationId xmlns:a16="http://schemas.microsoft.com/office/drawing/2014/main" id="{9CDDA0B6-1901-4000-ADCE-2DBDFB489C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6111" y="5288845"/>
            <a:ext cx="450455" cy="45045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ata Transformation Icons - Download Free Vector Icons | Noun Project">
            <a:extLst>
              <a:ext uri="{FF2B5EF4-FFF2-40B4-BE49-F238E27FC236}">
                <a16:creationId xmlns:a16="http://schemas.microsoft.com/office/drawing/2014/main" id="{ED08D473-7C33-4161-B88F-98A9F85EDD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76710" y="1752384"/>
            <a:ext cx="470790" cy="47079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egression Analysis Icons - Download Free Vector Icons | Noun Project">
            <a:extLst>
              <a:ext uri="{FF2B5EF4-FFF2-40B4-BE49-F238E27FC236}">
                <a16:creationId xmlns:a16="http://schemas.microsoft.com/office/drawing/2014/main" id="{B741838C-DBC8-4814-8060-0944C6CF83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29351" y="3462561"/>
            <a:ext cx="432911" cy="432911"/>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53">
            <a:extLst>
              <a:ext uri="{FF2B5EF4-FFF2-40B4-BE49-F238E27FC236}">
                <a16:creationId xmlns:a16="http://schemas.microsoft.com/office/drawing/2014/main" id="{2E8910AB-F953-45A7-BA71-B100D29BE227}"/>
              </a:ext>
            </a:extLst>
          </p:cNvPr>
          <p:cNvPicPr/>
          <p:nvPr/>
        </p:nvPicPr>
        <p:blipFill rotWithShape="1">
          <a:blip r:embed="rId7">
            <a:extLst>
              <a:ext uri="{28A0092B-C50C-407E-A947-70E740481C1C}">
                <a14:useLocalDpi xmlns:a14="http://schemas.microsoft.com/office/drawing/2010/main" val="0"/>
              </a:ext>
            </a:extLst>
          </a:blip>
          <a:srcRect l="22654" t="6873" r="23272" b="36083"/>
          <a:stretch/>
        </p:blipFill>
        <p:spPr bwMode="auto">
          <a:xfrm>
            <a:off x="4692536" y="1722359"/>
            <a:ext cx="470443" cy="538187"/>
          </a:xfrm>
          <a:prstGeom prst="rect">
            <a:avLst/>
          </a:prstGeom>
          <a:noFill/>
          <a:ln>
            <a:noFill/>
          </a:ln>
          <a:extLst>
            <a:ext uri="{53640926-AAD7-44D8-BBD7-CCE9431645EC}">
              <a14:shadowObscured xmlns:a14="http://schemas.microsoft.com/office/drawing/2010/main"/>
            </a:ext>
          </a:extLst>
        </p:spPr>
      </p:pic>
      <p:pic>
        <p:nvPicPr>
          <p:cNvPr id="1034" name="Picture 10" descr="Classification Icons - Download Free Vector Icons | Noun Project">
            <a:extLst>
              <a:ext uri="{FF2B5EF4-FFF2-40B4-BE49-F238E27FC236}">
                <a16:creationId xmlns:a16="http://schemas.microsoft.com/office/drawing/2014/main" id="{7806FBB5-26E8-423F-A007-A75233456AB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20405" y="5244123"/>
            <a:ext cx="527095" cy="527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444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0AFA9-C59A-4645-9A92-9CEC52B96E8D}"/>
              </a:ext>
            </a:extLst>
          </p:cNvPr>
          <p:cNvSpPr>
            <a:spLocks noGrp="1"/>
          </p:cNvSpPr>
          <p:nvPr>
            <p:ph type="title"/>
          </p:nvPr>
        </p:nvSpPr>
        <p:spPr>
          <a:xfrm>
            <a:off x="838200" y="30351"/>
            <a:ext cx="10515600" cy="534766"/>
          </a:xfrm>
        </p:spPr>
        <p:txBody>
          <a:bodyPr>
            <a:normAutofit/>
          </a:bodyPr>
          <a:lstStyle/>
          <a:p>
            <a:pPr algn="ctr"/>
            <a:r>
              <a:rPr lang="en-US" sz="2800" b="1" dirty="0"/>
              <a:t>Data Collection</a:t>
            </a:r>
          </a:p>
        </p:txBody>
      </p:sp>
      <p:cxnSp>
        <p:nvCxnSpPr>
          <p:cNvPr id="3" name="Straight Connector 2">
            <a:extLst>
              <a:ext uri="{FF2B5EF4-FFF2-40B4-BE49-F238E27FC236}">
                <a16:creationId xmlns:a16="http://schemas.microsoft.com/office/drawing/2014/main" id="{A8978841-D90C-40EB-8B8B-9140C6E1B3FD}"/>
              </a:ext>
              <a:ext uri="{C183D7F6-B498-43B3-948B-1728B52AA6E4}">
                <adec:decorative xmlns:adec="http://schemas.microsoft.com/office/drawing/2017/decorative" val="1"/>
              </a:ext>
            </a:extLst>
          </p:cNvPr>
          <p:cNvCxnSpPr>
            <a:cxnSpLocks/>
          </p:cNvCxnSpPr>
          <p:nvPr/>
        </p:nvCxnSpPr>
        <p:spPr>
          <a:xfrm flipV="1">
            <a:off x="0" y="545435"/>
            <a:ext cx="4607511" cy="1"/>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2CF47BA9-EC5E-41D2-BE53-F8B75A4E2189}"/>
              </a:ext>
              <a:ext uri="{C183D7F6-B498-43B3-948B-1728B52AA6E4}">
                <adec:decorative xmlns:adec="http://schemas.microsoft.com/office/drawing/2017/decorative" val="1"/>
              </a:ext>
            </a:extLst>
          </p:cNvPr>
          <p:cNvCxnSpPr>
            <a:cxnSpLocks/>
          </p:cNvCxnSpPr>
          <p:nvPr/>
        </p:nvCxnSpPr>
        <p:spPr>
          <a:xfrm flipV="1">
            <a:off x="7584491" y="545435"/>
            <a:ext cx="4607509" cy="15954"/>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7" name="Rectangle: Top Corners Rounded 6">
            <a:extLst>
              <a:ext uri="{FF2B5EF4-FFF2-40B4-BE49-F238E27FC236}">
                <a16:creationId xmlns:a16="http://schemas.microsoft.com/office/drawing/2014/main" id="{D59B7190-BE96-4B48-A06B-964A484575B9}"/>
              </a:ext>
            </a:extLst>
          </p:cNvPr>
          <p:cNvSpPr/>
          <p:nvPr/>
        </p:nvSpPr>
        <p:spPr>
          <a:xfrm>
            <a:off x="167235" y="918283"/>
            <a:ext cx="5372431" cy="706332"/>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Data Collected through Google Form in form of                    Questionnaire</a:t>
            </a:r>
          </a:p>
        </p:txBody>
      </p:sp>
      <p:pic>
        <p:nvPicPr>
          <p:cNvPr id="9" name="Picture 8">
            <a:extLst>
              <a:ext uri="{FF2B5EF4-FFF2-40B4-BE49-F238E27FC236}">
                <a16:creationId xmlns:a16="http://schemas.microsoft.com/office/drawing/2014/main" id="{554718F6-1C9C-4795-B764-FDA94539B3FC}"/>
              </a:ext>
            </a:extLst>
          </p:cNvPr>
          <p:cNvPicPr>
            <a:picLocks noChangeAspect="1"/>
          </p:cNvPicPr>
          <p:nvPr/>
        </p:nvPicPr>
        <p:blipFill rotWithShape="1">
          <a:blip r:embed="rId2"/>
          <a:srcRect t="11003" r="20797" b="6298"/>
          <a:stretch/>
        </p:blipFill>
        <p:spPr>
          <a:xfrm>
            <a:off x="167235" y="1901193"/>
            <a:ext cx="5372431" cy="3155364"/>
          </a:xfrm>
          <a:prstGeom prst="rect">
            <a:avLst/>
          </a:prstGeom>
        </p:spPr>
      </p:pic>
      <p:cxnSp>
        <p:nvCxnSpPr>
          <p:cNvPr id="11" name="Straight Arrow Connector 10">
            <a:extLst>
              <a:ext uri="{FF2B5EF4-FFF2-40B4-BE49-F238E27FC236}">
                <a16:creationId xmlns:a16="http://schemas.microsoft.com/office/drawing/2014/main" id="{DC7D61CC-99A2-4E2F-A232-C82A4DE3A740}"/>
              </a:ext>
            </a:extLst>
          </p:cNvPr>
          <p:cNvCxnSpPr>
            <a:cxnSpLocks/>
            <a:stCxn id="7" idx="1"/>
            <a:endCxn id="9" idx="0"/>
          </p:cNvCxnSpPr>
          <p:nvPr/>
        </p:nvCxnSpPr>
        <p:spPr>
          <a:xfrm>
            <a:off x="2853451" y="1624615"/>
            <a:ext cx="0" cy="276578"/>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16" name="Rectangle: Top Corners Rounded 15">
            <a:extLst>
              <a:ext uri="{FF2B5EF4-FFF2-40B4-BE49-F238E27FC236}">
                <a16:creationId xmlns:a16="http://schemas.microsoft.com/office/drawing/2014/main" id="{F3827056-D86D-43A8-9FDB-73C6F182470B}"/>
              </a:ext>
            </a:extLst>
          </p:cNvPr>
          <p:cNvSpPr/>
          <p:nvPr/>
        </p:nvSpPr>
        <p:spPr>
          <a:xfrm>
            <a:off x="6223285" y="918282"/>
            <a:ext cx="5372431" cy="706332"/>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Responses received through google form  </a:t>
            </a:r>
          </a:p>
        </p:txBody>
      </p:sp>
      <p:pic>
        <p:nvPicPr>
          <p:cNvPr id="24" name="Picture 23">
            <a:extLst>
              <a:ext uri="{FF2B5EF4-FFF2-40B4-BE49-F238E27FC236}">
                <a16:creationId xmlns:a16="http://schemas.microsoft.com/office/drawing/2014/main" id="{03337D74-333A-494F-B5E0-3A099BB12438}"/>
              </a:ext>
            </a:extLst>
          </p:cNvPr>
          <p:cNvPicPr>
            <a:picLocks noChangeAspect="1"/>
          </p:cNvPicPr>
          <p:nvPr/>
        </p:nvPicPr>
        <p:blipFill>
          <a:blip r:embed="rId3"/>
          <a:stretch>
            <a:fillRect/>
          </a:stretch>
        </p:blipFill>
        <p:spPr>
          <a:xfrm>
            <a:off x="6336233" y="1886284"/>
            <a:ext cx="4787488" cy="3702898"/>
          </a:xfrm>
          <a:prstGeom prst="rect">
            <a:avLst/>
          </a:prstGeom>
        </p:spPr>
      </p:pic>
      <p:cxnSp>
        <p:nvCxnSpPr>
          <p:cNvPr id="26" name="Straight Arrow Connector 25">
            <a:extLst>
              <a:ext uri="{FF2B5EF4-FFF2-40B4-BE49-F238E27FC236}">
                <a16:creationId xmlns:a16="http://schemas.microsoft.com/office/drawing/2014/main" id="{544229DB-92DF-4C3F-8071-59EC374C4C45}"/>
              </a:ext>
            </a:extLst>
          </p:cNvPr>
          <p:cNvCxnSpPr>
            <a:stCxn id="16" idx="1"/>
          </p:cNvCxnSpPr>
          <p:nvPr/>
        </p:nvCxnSpPr>
        <p:spPr>
          <a:xfrm flipH="1">
            <a:off x="8909500" y="1624614"/>
            <a:ext cx="1" cy="261670"/>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sp>
        <p:nvSpPr>
          <p:cNvPr id="27" name="Rectangle: Top Corners Rounded 26">
            <a:extLst>
              <a:ext uri="{FF2B5EF4-FFF2-40B4-BE49-F238E27FC236}">
                <a16:creationId xmlns:a16="http://schemas.microsoft.com/office/drawing/2014/main" id="{758B6508-516B-46C8-BFFA-C8729EE7FDF2}"/>
              </a:ext>
            </a:extLst>
          </p:cNvPr>
          <p:cNvSpPr/>
          <p:nvPr/>
        </p:nvSpPr>
        <p:spPr>
          <a:xfrm>
            <a:off x="301840" y="6072866"/>
            <a:ext cx="2551610" cy="479395"/>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Google Form Link</a:t>
            </a:r>
          </a:p>
        </p:txBody>
      </p:sp>
      <p:sp>
        <p:nvSpPr>
          <p:cNvPr id="28" name="Rectangle: Top Corners Rounded 27">
            <a:extLst>
              <a:ext uri="{FF2B5EF4-FFF2-40B4-BE49-F238E27FC236}">
                <a16:creationId xmlns:a16="http://schemas.microsoft.com/office/drawing/2014/main" id="{B1560CEA-31C1-48FB-A199-39E0EE3694B8}"/>
              </a:ext>
            </a:extLst>
          </p:cNvPr>
          <p:cNvSpPr/>
          <p:nvPr/>
        </p:nvSpPr>
        <p:spPr>
          <a:xfrm>
            <a:off x="3383870" y="5959398"/>
            <a:ext cx="7969929" cy="706332"/>
          </a:xfrm>
          <a:prstGeom prst="round2Same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https://docs.google.com/forms/d/107XIIJ1n1kgKjKmjZnR-PYEW3hQ-jblNUfylul82qDQ/edit?ts=606d4684#responses</a:t>
            </a:r>
          </a:p>
        </p:txBody>
      </p:sp>
      <p:cxnSp>
        <p:nvCxnSpPr>
          <p:cNvPr id="30" name="Straight Arrow Connector 29">
            <a:extLst>
              <a:ext uri="{FF2B5EF4-FFF2-40B4-BE49-F238E27FC236}">
                <a16:creationId xmlns:a16="http://schemas.microsoft.com/office/drawing/2014/main" id="{F40F0556-84AA-47F1-9C36-2946B9837103}"/>
              </a:ext>
            </a:extLst>
          </p:cNvPr>
          <p:cNvCxnSpPr>
            <a:cxnSpLocks/>
            <a:stCxn id="27" idx="0"/>
            <a:endCxn id="28" idx="2"/>
          </p:cNvCxnSpPr>
          <p:nvPr/>
        </p:nvCxnSpPr>
        <p:spPr>
          <a:xfrm>
            <a:off x="2853450" y="6312564"/>
            <a:ext cx="530420" cy="0"/>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2217676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7577000" y="522898"/>
            <a:ext cx="4615000"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Data Cleaning</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66077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F19BFA5-D0CA-4CF0-8499-504D956B6563}"/>
              </a:ext>
            </a:extLst>
          </p:cNvPr>
          <p:cNvSpPr/>
          <p:nvPr/>
        </p:nvSpPr>
        <p:spPr>
          <a:xfrm>
            <a:off x="1076603" y="2886560"/>
            <a:ext cx="2854759" cy="246221"/>
          </a:xfrm>
          <a:prstGeom prst="rect">
            <a:avLst/>
          </a:prstGeom>
        </p:spPr>
        <p:txBody>
          <a:bodyPr wrap="square" lIns="0" tIns="0" rIns="0" bIns="0">
            <a:spAutoFit/>
          </a:bodyPr>
          <a:lstStyle/>
          <a:p>
            <a:pPr algn="ctr"/>
            <a:r>
              <a:rPr lang="en-US" sz="1600" b="1" dirty="0">
                <a:solidFill>
                  <a:schemeClr val="bg1"/>
                </a:solidFill>
              </a:rPr>
              <a:t>Data Collected the Survey</a:t>
            </a:r>
          </a:p>
        </p:txBody>
      </p:sp>
      <p:sp>
        <p:nvSpPr>
          <p:cNvPr id="48" name="Rectangle 47">
            <a:extLst>
              <a:ext uri="{FF2B5EF4-FFF2-40B4-BE49-F238E27FC236}">
                <a16:creationId xmlns:a16="http://schemas.microsoft.com/office/drawing/2014/main" id="{FA4D735A-8F75-4E2A-8F1A-CC303B0718BA}"/>
              </a:ext>
            </a:extLst>
          </p:cNvPr>
          <p:cNvSpPr/>
          <p:nvPr/>
        </p:nvSpPr>
        <p:spPr>
          <a:xfrm>
            <a:off x="5410199" y="2886560"/>
            <a:ext cx="1371600" cy="492443"/>
          </a:xfrm>
          <a:prstGeom prst="rect">
            <a:avLst/>
          </a:prstGeom>
        </p:spPr>
        <p:txBody>
          <a:bodyPr wrap="square" lIns="0" tIns="0" rIns="0" bIns="0">
            <a:spAutoFit/>
          </a:bodyPr>
          <a:lstStyle/>
          <a:p>
            <a:pPr algn="ctr"/>
            <a:r>
              <a:rPr lang="en-US" sz="1600" b="1" dirty="0">
                <a:solidFill>
                  <a:schemeClr val="bg1"/>
                </a:solidFill>
              </a:rPr>
              <a:t>FINANCIAL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886383" y="3653603"/>
            <a:ext cx="1752042" cy="223394"/>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a:t>
            </a:r>
          </a:p>
        </p:txBody>
      </p:sp>
      <p:sp>
        <p:nvSpPr>
          <p:cNvPr id="53" name="Rectangle 52">
            <a:extLst>
              <a:ext uri="{FF2B5EF4-FFF2-40B4-BE49-F238E27FC236}">
                <a16:creationId xmlns:a16="http://schemas.microsoft.com/office/drawing/2014/main" id="{E1535E1C-6EBC-45D8-BCE1-D5B947A61FB6}"/>
              </a:ext>
            </a:extLst>
          </p:cNvPr>
          <p:cNvSpPr/>
          <p:nvPr/>
        </p:nvSpPr>
        <p:spPr>
          <a:xfrm>
            <a:off x="52199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2" name="Freeform 2319" descr="Icon of leaf. ">
            <a:extLst>
              <a:ext uri="{FF2B5EF4-FFF2-40B4-BE49-F238E27FC236}">
                <a16:creationId xmlns:a16="http://schemas.microsoft.com/office/drawing/2014/main" id="{4C935A16-4F4C-4B17-B911-F1D554A088A8}"/>
              </a:ext>
            </a:extLst>
          </p:cNvPr>
          <p:cNvSpPr>
            <a:spLocks noEditPoints="1"/>
          </p:cNvSpPr>
          <p:nvPr/>
        </p:nvSpPr>
        <p:spPr bwMode="auto">
          <a:xfrm>
            <a:off x="10247928" y="2303513"/>
            <a:ext cx="367656" cy="367656"/>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Rectangle: Top Corners Rounded 4">
            <a:extLst>
              <a:ext uri="{FF2B5EF4-FFF2-40B4-BE49-F238E27FC236}">
                <a16:creationId xmlns:a16="http://schemas.microsoft.com/office/drawing/2014/main" id="{513D1AE2-A524-4635-9AF7-6283845F86B0}"/>
              </a:ext>
            </a:extLst>
          </p:cNvPr>
          <p:cNvSpPr/>
          <p:nvPr/>
        </p:nvSpPr>
        <p:spPr>
          <a:xfrm>
            <a:off x="255955" y="934403"/>
            <a:ext cx="5392479" cy="568124"/>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Data Collected through survey</a:t>
            </a:r>
          </a:p>
        </p:txBody>
      </p:sp>
      <p:sp>
        <p:nvSpPr>
          <p:cNvPr id="73" name="Rectangle: Top Corners Rounded 72">
            <a:extLst>
              <a:ext uri="{FF2B5EF4-FFF2-40B4-BE49-F238E27FC236}">
                <a16:creationId xmlns:a16="http://schemas.microsoft.com/office/drawing/2014/main" id="{E29511E2-CB82-448F-9BF9-17035A1ECBDD}"/>
              </a:ext>
            </a:extLst>
          </p:cNvPr>
          <p:cNvSpPr/>
          <p:nvPr/>
        </p:nvSpPr>
        <p:spPr>
          <a:xfrm>
            <a:off x="6183796" y="934228"/>
            <a:ext cx="5161151" cy="568124"/>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Changing the Dataset Column</a:t>
            </a:r>
          </a:p>
        </p:txBody>
      </p:sp>
      <p:pic>
        <p:nvPicPr>
          <p:cNvPr id="15" name="Picture 14">
            <a:extLst>
              <a:ext uri="{FF2B5EF4-FFF2-40B4-BE49-F238E27FC236}">
                <a16:creationId xmlns:a16="http://schemas.microsoft.com/office/drawing/2014/main" id="{B2EA74A0-BDF4-4CBC-8B35-767C139A0B9A}"/>
              </a:ext>
            </a:extLst>
          </p:cNvPr>
          <p:cNvPicPr>
            <a:picLocks noChangeAspect="1"/>
          </p:cNvPicPr>
          <p:nvPr/>
        </p:nvPicPr>
        <p:blipFill>
          <a:blip r:embed="rId3"/>
          <a:stretch>
            <a:fillRect/>
          </a:stretch>
        </p:blipFill>
        <p:spPr>
          <a:xfrm>
            <a:off x="254205" y="1957204"/>
            <a:ext cx="5392480" cy="3616191"/>
          </a:xfrm>
          <a:prstGeom prst="rect">
            <a:avLst/>
          </a:prstGeom>
        </p:spPr>
      </p:pic>
      <p:pic>
        <p:nvPicPr>
          <p:cNvPr id="17" name="Picture 16">
            <a:extLst>
              <a:ext uri="{FF2B5EF4-FFF2-40B4-BE49-F238E27FC236}">
                <a16:creationId xmlns:a16="http://schemas.microsoft.com/office/drawing/2014/main" id="{E81B2E8B-566E-4842-BEC7-005508A7D97D}"/>
              </a:ext>
            </a:extLst>
          </p:cNvPr>
          <p:cNvPicPr>
            <a:picLocks noChangeAspect="1"/>
          </p:cNvPicPr>
          <p:nvPr/>
        </p:nvPicPr>
        <p:blipFill>
          <a:blip r:embed="rId4"/>
          <a:stretch>
            <a:fillRect/>
          </a:stretch>
        </p:blipFill>
        <p:spPr>
          <a:xfrm>
            <a:off x="6183796" y="1870379"/>
            <a:ext cx="5392479" cy="3789840"/>
          </a:xfrm>
          <a:prstGeom prst="rect">
            <a:avLst/>
          </a:prstGeom>
        </p:spPr>
      </p:pic>
      <p:cxnSp>
        <p:nvCxnSpPr>
          <p:cNvPr id="7" name="Straight Arrow Connector 6">
            <a:extLst>
              <a:ext uri="{FF2B5EF4-FFF2-40B4-BE49-F238E27FC236}">
                <a16:creationId xmlns:a16="http://schemas.microsoft.com/office/drawing/2014/main" id="{BF9A0488-D9B7-4DE8-B347-5F3AA9F5CB31}"/>
              </a:ext>
            </a:extLst>
          </p:cNvPr>
          <p:cNvCxnSpPr>
            <a:stCxn id="5" idx="1"/>
            <a:endCxn id="15" idx="0"/>
          </p:cNvCxnSpPr>
          <p:nvPr/>
        </p:nvCxnSpPr>
        <p:spPr>
          <a:xfrm flipH="1">
            <a:off x="2950445" y="1502527"/>
            <a:ext cx="1750" cy="454677"/>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cxnSp>
        <p:nvCxnSpPr>
          <p:cNvPr id="12" name="Straight Arrow Connector 11">
            <a:extLst>
              <a:ext uri="{FF2B5EF4-FFF2-40B4-BE49-F238E27FC236}">
                <a16:creationId xmlns:a16="http://schemas.microsoft.com/office/drawing/2014/main" id="{B5B22DEC-BB9A-4A2F-97B2-B51E726CDAD4}"/>
              </a:ext>
            </a:extLst>
          </p:cNvPr>
          <p:cNvCxnSpPr>
            <a:stCxn id="73" idx="1"/>
          </p:cNvCxnSpPr>
          <p:nvPr/>
        </p:nvCxnSpPr>
        <p:spPr>
          <a:xfrm flipH="1">
            <a:off x="8762260" y="1502352"/>
            <a:ext cx="2112" cy="409404"/>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822569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id="{2AC0C949-7A02-4C95-8017-D82E7E71C4F7}"/>
              </a:ext>
            </a:extLst>
          </p:cNvPr>
          <p:cNvSpPr>
            <a:spLocks noGrp="1"/>
          </p:cNvSpPr>
          <p:nvPr>
            <p:ph type="title" idx="4294967295"/>
          </p:nvPr>
        </p:nvSpPr>
        <p:spPr>
          <a:xfrm>
            <a:off x="0" y="365125"/>
            <a:ext cx="10515600" cy="1325563"/>
          </a:xfrm>
        </p:spPr>
        <p:txBody>
          <a:bodyPr/>
          <a:lstStyle/>
          <a:p>
            <a:r>
              <a:rPr lang="en-US" dirty="0"/>
              <a:t>Project analysis slide 5</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7563775" y="522898"/>
            <a:ext cx="4628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86496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0" name="Title 1">
            <a:extLst>
              <a:ext uri="{FF2B5EF4-FFF2-40B4-BE49-F238E27FC236}">
                <a16:creationId xmlns:a16="http://schemas.microsoft.com/office/drawing/2014/main" id="{0491578A-2F1E-4177-8BA1-61A3ADC36F1C}"/>
              </a:ext>
            </a:extLst>
          </p:cNvPr>
          <p:cNvSpPr txBox="1">
            <a:spLocks/>
          </p:cNvSpPr>
          <p:nvPr/>
        </p:nvSpPr>
        <p:spPr>
          <a:xfrm>
            <a:off x="381000" y="3429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Data Cleaning</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sp>
        <p:nvSpPr>
          <p:cNvPr id="21" name="Rectangle: Top Corners Rounded 20">
            <a:extLst>
              <a:ext uri="{FF2B5EF4-FFF2-40B4-BE49-F238E27FC236}">
                <a16:creationId xmlns:a16="http://schemas.microsoft.com/office/drawing/2014/main" id="{33C78099-5607-4033-8BF6-7798C770BFBD}"/>
              </a:ext>
            </a:extLst>
          </p:cNvPr>
          <p:cNvSpPr/>
          <p:nvPr/>
        </p:nvSpPr>
        <p:spPr>
          <a:xfrm>
            <a:off x="381000" y="1208149"/>
            <a:ext cx="5392479" cy="657776"/>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Count of Null Value and </a:t>
            </a:r>
          </a:p>
          <a:p>
            <a:pPr algn="ctr"/>
            <a:r>
              <a:rPr lang="en-US" b="1" dirty="0"/>
              <a:t>Removing the null value</a:t>
            </a:r>
          </a:p>
        </p:txBody>
      </p:sp>
      <p:sp>
        <p:nvSpPr>
          <p:cNvPr id="22" name="Rectangle: Top Corners Rounded 21">
            <a:extLst>
              <a:ext uri="{FF2B5EF4-FFF2-40B4-BE49-F238E27FC236}">
                <a16:creationId xmlns:a16="http://schemas.microsoft.com/office/drawing/2014/main" id="{F7F8355F-6B00-4AD4-8EBB-D5260989D5B9}"/>
              </a:ext>
            </a:extLst>
          </p:cNvPr>
          <p:cNvSpPr/>
          <p:nvPr/>
        </p:nvSpPr>
        <p:spPr>
          <a:xfrm>
            <a:off x="6374166" y="1208149"/>
            <a:ext cx="5392479" cy="568124"/>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Converting Categorical data into Integer</a:t>
            </a:r>
          </a:p>
        </p:txBody>
      </p:sp>
      <p:pic>
        <p:nvPicPr>
          <p:cNvPr id="3" name="Picture 2">
            <a:extLst>
              <a:ext uri="{FF2B5EF4-FFF2-40B4-BE49-F238E27FC236}">
                <a16:creationId xmlns:a16="http://schemas.microsoft.com/office/drawing/2014/main" id="{0A3B960F-8224-4BA9-B034-8D22FF85605F}"/>
              </a:ext>
            </a:extLst>
          </p:cNvPr>
          <p:cNvPicPr>
            <a:picLocks noChangeAspect="1"/>
          </p:cNvPicPr>
          <p:nvPr/>
        </p:nvPicPr>
        <p:blipFill>
          <a:blip r:embed="rId3"/>
          <a:stretch>
            <a:fillRect/>
          </a:stretch>
        </p:blipFill>
        <p:spPr>
          <a:xfrm>
            <a:off x="503750" y="1970843"/>
            <a:ext cx="5146977" cy="4478783"/>
          </a:xfrm>
          <a:prstGeom prst="rect">
            <a:avLst/>
          </a:prstGeom>
        </p:spPr>
      </p:pic>
      <p:pic>
        <p:nvPicPr>
          <p:cNvPr id="16" name="Picture 15">
            <a:extLst>
              <a:ext uri="{FF2B5EF4-FFF2-40B4-BE49-F238E27FC236}">
                <a16:creationId xmlns:a16="http://schemas.microsoft.com/office/drawing/2014/main" id="{B3948FCE-838C-4C32-8D3B-D98F3B142075}"/>
              </a:ext>
            </a:extLst>
          </p:cNvPr>
          <p:cNvPicPr>
            <a:picLocks noChangeAspect="1"/>
          </p:cNvPicPr>
          <p:nvPr/>
        </p:nvPicPr>
        <p:blipFill>
          <a:blip r:embed="rId4"/>
          <a:stretch>
            <a:fillRect/>
          </a:stretch>
        </p:blipFill>
        <p:spPr>
          <a:xfrm>
            <a:off x="6206971" y="1970843"/>
            <a:ext cx="5756429" cy="4116422"/>
          </a:xfrm>
          <a:prstGeom prst="rect">
            <a:avLst/>
          </a:prstGeom>
        </p:spPr>
      </p:pic>
    </p:spTree>
    <p:extLst>
      <p:ext uri="{BB962C8B-B14F-4D97-AF65-F5344CB8AC3E}">
        <p14:creationId xmlns:p14="http://schemas.microsoft.com/office/powerpoint/2010/main" val="1212140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D1A2C-35DD-4673-8D64-7E329FEDF8D6}"/>
              </a:ext>
            </a:extLst>
          </p:cNvPr>
          <p:cNvSpPr>
            <a:spLocks noGrp="1"/>
          </p:cNvSpPr>
          <p:nvPr>
            <p:ph type="title"/>
          </p:nvPr>
        </p:nvSpPr>
        <p:spPr>
          <a:xfrm>
            <a:off x="838200" y="16871"/>
            <a:ext cx="10515600" cy="506027"/>
          </a:xfrm>
        </p:spPr>
        <p:txBody>
          <a:bodyPr>
            <a:noAutofit/>
          </a:bodyPr>
          <a:lstStyle/>
          <a:p>
            <a:pPr algn="ctr"/>
            <a:r>
              <a:rPr lang="en-US" sz="2800" b="1" dirty="0"/>
              <a:t>Exploratory Data Analysis</a:t>
            </a:r>
          </a:p>
        </p:txBody>
      </p:sp>
      <p:sp>
        <p:nvSpPr>
          <p:cNvPr id="3" name="Content Placeholder 2">
            <a:extLst>
              <a:ext uri="{FF2B5EF4-FFF2-40B4-BE49-F238E27FC236}">
                <a16:creationId xmlns:a16="http://schemas.microsoft.com/office/drawing/2014/main" id="{04A97892-0049-413B-8F6F-428022712A5A}"/>
              </a:ext>
            </a:extLst>
          </p:cNvPr>
          <p:cNvSpPr>
            <a:spLocks noGrp="1"/>
          </p:cNvSpPr>
          <p:nvPr>
            <p:ph idx="1"/>
          </p:nvPr>
        </p:nvSpPr>
        <p:spPr>
          <a:xfrm>
            <a:off x="838200" y="861132"/>
            <a:ext cx="10515600" cy="5885896"/>
          </a:xfrm>
        </p:spPr>
        <p:txBody>
          <a:bodyPr>
            <a:noAutofit/>
          </a:bodyPr>
          <a:lstStyle/>
          <a:p>
            <a:pPr marL="0" indent="0">
              <a:buNone/>
            </a:pPr>
            <a:endParaRPr lang="en-US" sz="1600" dirty="0"/>
          </a:p>
          <a:p>
            <a:pPr marL="342900" indent="-342900">
              <a:buAutoNum type="arabicParenR"/>
            </a:pPr>
            <a:r>
              <a:rPr lang="en-US" sz="1600" b="1" i="0" u="none" strike="noStrike" baseline="0" dirty="0">
                <a:solidFill>
                  <a:srgbClr val="000000"/>
                </a:solidFill>
                <a:latin typeface="Times New Roman" panose="02020603050405020304" pitchFamily="18" charset="0"/>
              </a:rPr>
              <a:t>Bar graph to represent Comparison of House Price w.r.t Features </a:t>
            </a:r>
          </a:p>
          <a:p>
            <a:pPr marL="0" indent="0">
              <a:buNone/>
            </a:pPr>
            <a:r>
              <a:rPr lang="en-US" sz="1600" b="0" i="0" dirty="0">
                <a:solidFill>
                  <a:srgbClr val="262730"/>
                </a:solidFill>
                <a:effectLst/>
                <a:latin typeface="Times New Roman" panose="02020603050405020304" pitchFamily="18" charset="0"/>
                <a:cs typeface="Times New Roman" panose="02020603050405020304" pitchFamily="18" charset="0"/>
              </a:rPr>
              <a:t>      From the graph we can conclude that features such as No of </a:t>
            </a:r>
            <a:r>
              <a:rPr lang="en-US" sz="1600" dirty="0">
                <a:solidFill>
                  <a:srgbClr val="262730"/>
                </a:solidFill>
                <a:latin typeface="Times New Roman" panose="02020603050405020304" pitchFamily="18" charset="0"/>
                <a:cs typeface="Times New Roman" panose="02020603050405020304" pitchFamily="18" charset="0"/>
              </a:rPr>
              <a:t>b</a:t>
            </a:r>
            <a:r>
              <a:rPr lang="en-US" sz="1600" b="0" i="0" dirty="0">
                <a:solidFill>
                  <a:srgbClr val="262730"/>
                </a:solidFill>
                <a:effectLst/>
                <a:latin typeface="Times New Roman" panose="02020603050405020304" pitchFamily="18" charset="0"/>
                <a:cs typeface="Times New Roman" panose="02020603050405020304" pitchFamily="18" charset="0"/>
              </a:rPr>
              <a:t>edrooms, 24Hr Water Supply, Gas   Pipeline, Lift and medical are highly influenced for increase in price whereas other features does not affect price as much.</a:t>
            </a:r>
          </a:p>
          <a:p>
            <a:pPr marL="0" indent="0">
              <a:buNone/>
            </a:pPr>
            <a:r>
              <a:rPr lang="en-US" sz="1600" b="1" dirty="0">
                <a:solidFill>
                  <a:srgbClr val="000000"/>
                </a:solidFill>
                <a:latin typeface="Times New Roman" panose="02020603050405020304" pitchFamily="18" charset="0"/>
              </a:rPr>
              <a:t>2</a:t>
            </a:r>
            <a:r>
              <a:rPr lang="en-US" sz="1600" b="1" i="0" u="none" strike="noStrike" baseline="0" dirty="0">
                <a:solidFill>
                  <a:srgbClr val="000000"/>
                </a:solidFill>
                <a:latin typeface="Times New Roman" panose="02020603050405020304" pitchFamily="18" charset="0"/>
              </a:rPr>
              <a:t>) Count plot to represent Analysis on Budget </a:t>
            </a:r>
          </a:p>
          <a:p>
            <a:pPr marL="342900" indent="-342900">
              <a:buAutoNum type="alphaUcParenR"/>
            </a:pPr>
            <a:r>
              <a:rPr lang="en-US" sz="1600" b="0" i="0" u="none" strike="noStrike" baseline="0" dirty="0">
                <a:solidFill>
                  <a:srgbClr val="000000"/>
                </a:solidFill>
                <a:latin typeface="Times New Roman" panose="02020603050405020304" pitchFamily="18" charset="0"/>
              </a:rPr>
              <a:t>Budget Vs House Loan</a:t>
            </a:r>
          </a:p>
          <a:p>
            <a:pPr marL="0" indent="0">
              <a:buNone/>
            </a:pPr>
            <a:r>
              <a:rPr lang="en-US" sz="1600" b="0" i="0" u="none" strike="noStrike" baseline="0" dirty="0">
                <a:solidFill>
                  <a:srgbClr val="000000"/>
                </a:solidFill>
                <a:latin typeface="Times New Roman" panose="02020603050405020304" pitchFamily="18" charset="0"/>
              </a:rPr>
              <a:t>     From the graph we can observe that people have budget below 1 </a:t>
            </a:r>
            <a:r>
              <a:rPr lang="en-US" sz="1600" b="0" i="0" u="none" strike="noStrike" baseline="0" dirty="0" err="1">
                <a:solidFill>
                  <a:srgbClr val="000000"/>
                </a:solidFill>
                <a:latin typeface="Times New Roman" panose="02020603050405020304" pitchFamily="18" charset="0"/>
              </a:rPr>
              <a:t>cr</a:t>
            </a:r>
            <a:r>
              <a:rPr lang="en-US" sz="1600" b="0" i="0" u="none" strike="noStrike" baseline="0" dirty="0">
                <a:solidFill>
                  <a:srgbClr val="000000"/>
                </a:solidFill>
                <a:latin typeface="Times New Roman" panose="02020603050405020304" pitchFamily="18" charset="0"/>
              </a:rPr>
              <a:t> and above 6cr have the highest changes to take a house loan </a:t>
            </a:r>
          </a:p>
          <a:p>
            <a:pPr marL="0" indent="0">
              <a:buNone/>
            </a:pPr>
            <a:r>
              <a:rPr lang="en-US" sz="1600" b="0" i="0" u="none" strike="noStrike" baseline="0" dirty="0">
                <a:solidFill>
                  <a:srgbClr val="000000"/>
                </a:solidFill>
                <a:latin typeface="Times New Roman" panose="02020603050405020304" pitchFamily="18" charset="0"/>
                <a:cs typeface="Times New Roman" panose="02020603050405020304" pitchFamily="18" charset="0"/>
              </a:rPr>
              <a:t>B) Budget Vs Carpet Area </a:t>
            </a:r>
          </a:p>
          <a:p>
            <a:pPr marL="0" indent="0">
              <a:buNone/>
            </a:pPr>
            <a:r>
              <a:rPr lang="en-US" sz="1600" b="0" i="0" u="none" strike="noStrike" baseline="0" dirty="0">
                <a:solidFill>
                  <a:srgbClr val="000000"/>
                </a:solidFill>
                <a:latin typeface="Times New Roman" panose="02020603050405020304" pitchFamily="18" charset="0"/>
                <a:cs typeface="Times New Roman" panose="02020603050405020304" pitchFamily="18" charset="0"/>
              </a:rPr>
              <a:t>    From the graph we conclude that: </a:t>
            </a:r>
          </a:p>
          <a:p>
            <a:pPr marL="0" indent="0">
              <a:buNone/>
            </a:pPr>
            <a:r>
              <a:rPr lang="en-US" sz="1600" b="0" i="0" u="none" strike="noStrike" baseline="0" dirty="0">
                <a:solidFill>
                  <a:srgbClr val="000000"/>
                </a:solidFill>
                <a:latin typeface="Times New Roman" panose="02020603050405020304" pitchFamily="18" charset="0"/>
                <a:cs typeface="Times New Roman" panose="02020603050405020304" pitchFamily="18" charset="0"/>
              </a:rPr>
              <a:t>Budget greater than 1Cr target 1,2,3 and 4 </a:t>
            </a:r>
            <a:r>
              <a:rPr lang="en-US" sz="1600" b="0" i="0" u="none" strike="noStrike" baseline="0" dirty="0" err="1">
                <a:solidFill>
                  <a:srgbClr val="000000"/>
                </a:solidFill>
                <a:latin typeface="Times New Roman" panose="02020603050405020304" pitchFamily="18" charset="0"/>
                <a:cs typeface="Times New Roman" panose="02020603050405020304" pitchFamily="18" charset="0"/>
              </a:rPr>
              <a:t>bhk</a:t>
            </a:r>
            <a:r>
              <a:rPr lang="en-US" sz="1600" b="0" i="0" u="none" strike="noStrike" baseline="0" dirty="0">
                <a:solidFill>
                  <a:srgbClr val="000000"/>
                </a:solidFill>
                <a:latin typeface="Times New Roman" panose="02020603050405020304" pitchFamily="18" charset="0"/>
                <a:cs typeface="Times New Roman" panose="02020603050405020304" pitchFamily="18" charset="0"/>
              </a:rPr>
              <a:t> with higher carpet area, except budget range between 5Cr-7Cr target 3 and 4bhk with higher carpet area, budget range between 50lakh and 90Lakh target 1,2 and 3bhk with higher carpet area budget range less that 40lakh target 0,1 and 2bhk with medium carpet area </a:t>
            </a:r>
          </a:p>
          <a:p>
            <a:pPr marL="0" indent="0">
              <a:buNone/>
            </a:pPr>
            <a:r>
              <a:rPr lang="en-US" sz="1600" b="1" i="0" u="none" strike="noStrike" baseline="0" dirty="0">
                <a:solidFill>
                  <a:srgbClr val="000000"/>
                </a:solidFill>
                <a:latin typeface="Times New Roman" panose="02020603050405020304" pitchFamily="18" charset="0"/>
              </a:rPr>
              <a:t>3) Count plot to represent Analysis on Income </a:t>
            </a:r>
            <a:endParaRPr lang="en-US" sz="1600" b="0" i="0" u="none" strike="noStrike" baseline="0" dirty="0">
              <a:solidFill>
                <a:srgbClr val="000000"/>
              </a:solidFill>
              <a:latin typeface="Times New Roman" panose="02020603050405020304" pitchFamily="18" charset="0"/>
            </a:endParaRPr>
          </a:p>
          <a:p>
            <a:pPr marL="342900" indent="-342900">
              <a:buAutoNum type="alphaUcParenR"/>
            </a:pPr>
            <a:r>
              <a:rPr lang="en-US" sz="1600" b="0" i="0" u="none" strike="noStrike" baseline="0" dirty="0">
                <a:solidFill>
                  <a:srgbClr val="000000"/>
                </a:solidFill>
                <a:latin typeface="Times New Roman" panose="02020603050405020304" pitchFamily="18" charset="0"/>
              </a:rPr>
              <a:t>Income vs House Loan </a:t>
            </a:r>
          </a:p>
          <a:p>
            <a:pPr marL="0" indent="0">
              <a:buNone/>
            </a:pPr>
            <a:r>
              <a:rPr lang="en-US" sz="1600" b="0" i="0" dirty="0">
                <a:solidFill>
                  <a:srgbClr val="262730"/>
                </a:solidFill>
                <a:effectLst/>
                <a:latin typeface="Times New Roman" panose="02020603050405020304" pitchFamily="18" charset="0"/>
                <a:cs typeface="Times New Roman" panose="02020603050405020304" pitchFamily="18" charset="0"/>
              </a:rPr>
              <a:t>    From the we can observe that people having income between 1 lakh - 3 lakh, 9 lakh - 11 lakh and 11 lakh and above have above 70% changes to take a house loan</a:t>
            </a:r>
          </a:p>
          <a:p>
            <a:pPr marL="0" indent="0">
              <a:buNone/>
            </a:pPr>
            <a:endParaRPr lang="en-US" sz="1600" b="0" i="0" u="none" strike="noStrike" baseline="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1600" b="0" i="0" dirty="0">
              <a:solidFill>
                <a:srgbClr val="262730"/>
              </a:solidFill>
              <a:effectLst/>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924555EC-FFA0-4A06-86D6-276450630F5C}"/>
              </a:ext>
              <a:ext uri="{C183D7F6-B498-43B3-948B-1728B52AA6E4}">
                <adec:decorative xmlns:adec="http://schemas.microsoft.com/office/drawing/2017/decorative" val="1"/>
              </a:ext>
            </a:extLst>
          </p:cNvPr>
          <p:cNvCxnSpPr>
            <a:cxnSpLocks/>
          </p:cNvCxnSpPr>
          <p:nvPr/>
        </p:nvCxnSpPr>
        <p:spPr>
          <a:xfrm>
            <a:off x="0" y="522898"/>
            <a:ext cx="367535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CA47359-3D0C-42D0-A385-1CF0BAD3A8B8}"/>
              </a:ext>
              <a:ext uri="{C183D7F6-B498-43B3-948B-1728B52AA6E4}">
                <adec:decorative xmlns:adec="http://schemas.microsoft.com/office/drawing/2017/decorative" val="1"/>
              </a:ext>
            </a:extLst>
          </p:cNvPr>
          <p:cNvCxnSpPr>
            <a:cxnSpLocks/>
          </p:cNvCxnSpPr>
          <p:nvPr/>
        </p:nvCxnSpPr>
        <p:spPr>
          <a:xfrm>
            <a:off x="8460419" y="522898"/>
            <a:ext cx="3731581"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0" name="Rectangle: Top Corners Rounded 9">
            <a:extLst>
              <a:ext uri="{FF2B5EF4-FFF2-40B4-BE49-F238E27FC236}">
                <a16:creationId xmlns:a16="http://schemas.microsoft.com/office/drawing/2014/main" id="{4C9108EE-9C2F-4056-8DFC-644853A33232}"/>
              </a:ext>
            </a:extLst>
          </p:cNvPr>
          <p:cNvSpPr/>
          <p:nvPr/>
        </p:nvSpPr>
        <p:spPr>
          <a:xfrm>
            <a:off x="4202467" y="665824"/>
            <a:ext cx="3787066" cy="435003"/>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Analysis Result</a:t>
            </a:r>
          </a:p>
        </p:txBody>
      </p:sp>
      <p:cxnSp>
        <p:nvCxnSpPr>
          <p:cNvPr id="12" name="Straight Arrow Connector 11">
            <a:extLst>
              <a:ext uri="{FF2B5EF4-FFF2-40B4-BE49-F238E27FC236}">
                <a16:creationId xmlns:a16="http://schemas.microsoft.com/office/drawing/2014/main" id="{3E37D6A0-FF9B-47BD-A62B-3630158AEEBA}"/>
              </a:ext>
            </a:extLst>
          </p:cNvPr>
          <p:cNvCxnSpPr>
            <a:cxnSpLocks/>
          </p:cNvCxnSpPr>
          <p:nvPr/>
        </p:nvCxnSpPr>
        <p:spPr>
          <a:xfrm>
            <a:off x="878889" y="1722267"/>
            <a:ext cx="213064" cy="0"/>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14" name="Straight Arrow Connector 13">
            <a:extLst>
              <a:ext uri="{FF2B5EF4-FFF2-40B4-BE49-F238E27FC236}">
                <a16:creationId xmlns:a16="http://schemas.microsoft.com/office/drawing/2014/main" id="{FE6A6F6E-03AF-4581-9409-1B04042C766E}"/>
              </a:ext>
            </a:extLst>
          </p:cNvPr>
          <p:cNvCxnSpPr>
            <a:cxnSpLocks/>
          </p:cNvCxnSpPr>
          <p:nvPr/>
        </p:nvCxnSpPr>
        <p:spPr>
          <a:xfrm>
            <a:off x="905522" y="2954047"/>
            <a:ext cx="213064" cy="0"/>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16" name="Straight Arrow Connector 15">
            <a:extLst>
              <a:ext uri="{FF2B5EF4-FFF2-40B4-BE49-F238E27FC236}">
                <a16:creationId xmlns:a16="http://schemas.microsoft.com/office/drawing/2014/main" id="{EF6E414E-5ABF-4458-910C-CC8909BB2B9E}"/>
              </a:ext>
            </a:extLst>
          </p:cNvPr>
          <p:cNvCxnSpPr>
            <a:cxnSpLocks/>
          </p:cNvCxnSpPr>
          <p:nvPr/>
        </p:nvCxnSpPr>
        <p:spPr>
          <a:xfrm>
            <a:off x="881848" y="3885458"/>
            <a:ext cx="210105" cy="0"/>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20" name="Straight Arrow Connector 19">
            <a:extLst>
              <a:ext uri="{FF2B5EF4-FFF2-40B4-BE49-F238E27FC236}">
                <a16:creationId xmlns:a16="http://schemas.microsoft.com/office/drawing/2014/main" id="{06887AFE-C95D-4FC4-B4F1-6E126C5D0F5C}"/>
              </a:ext>
            </a:extLst>
          </p:cNvPr>
          <p:cNvCxnSpPr>
            <a:cxnSpLocks/>
          </p:cNvCxnSpPr>
          <p:nvPr/>
        </p:nvCxnSpPr>
        <p:spPr>
          <a:xfrm>
            <a:off x="905522" y="5680228"/>
            <a:ext cx="210105" cy="0"/>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533473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544D0-8E2B-4286-B1BA-3F52A448EF9D}"/>
              </a:ext>
            </a:extLst>
          </p:cNvPr>
          <p:cNvSpPr>
            <a:spLocks noGrp="1"/>
          </p:cNvSpPr>
          <p:nvPr>
            <p:ph type="title"/>
          </p:nvPr>
        </p:nvSpPr>
        <p:spPr>
          <a:xfrm>
            <a:off x="838200" y="106537"/>
            <a:ext cx="10515600" cy="574502"/>
          </a:xfrm>
        </p:spPr>
        <p:txBody>
          <a:bodyPr>
            <a:normAutofit/>
          </a:bodyPr>
          <a:lstStyle/>
          <a:p>
            <a:r>
              <a:rPr lang="en-US" sz="2400" b="1" dirty="0"/>
              <a:t>                                     Exploratory Data Analysis</a:t>
            </a:r>
          </a:p>
        </p:txBody>
      </p:sp>
      <p:sp>
        <p:nvSpPr>
          <p:cNvPr id="3" name="Content Placeholder 2">
            <a:extLst>
              <a:ext uri="{FF2B5EF4-FFF2-40B4-BE49-F238E27FC236}">
                <a16:creationId xmlns:a16="http://schemas.microsoft.com/office/drawing/2014/main" id="{F299BEA3-DCAA-4AF9-A387-FBF4EF475C79}"/>
              </a:ext>
            </a:extLst>
          </p:cNvPr>
          <p:cNvSpPr>
            <a:spLocks noGrp="1"/>
          </p:cNvSpPr>
          <p:nvPr>
            <p:ph idx="1"/>
          </p:nvPr>
        </p:nvSpPr>
        <p:spPr>
          <a:xfrm>
            <a:off x="838200" y="772357"/>
            <a:ext cx="10515600" cy="5979106"/>
          </a:xfrm>
        </p:spPr>
        <p:txBody>
          <a:bodyPr>
            <a:normAutofit/>
          </a:bodyPr>
          <a:lstStyle/>
          <a:p>
            <a:pPr marL="0" indent="0">
              <a:buNone/>
            </a:pPr>
            <a:r>
              <a:rPr lang="en-US" sz="1600" b="1" i="0" u="none" strike="noStrike" baseline="0" dirty="0">
                <a:solidFill>
                  <a:srgbClr val="000000"/>
                </a:solidFill>
                <a:latin typeface="Times New Roman" panose="02020603050405020304" pitchFamily="18" charset="0"/>
              </a:rPr>
              <a:t>4) Box Plot to represent Outlier w.r.t No of Bedrooms vs Carpet Area  </a:t>
            </a:r>
            <a:r>
              <a:rPr lang="en-US" sz="1600" dirty="0">
                <a:solidFill>
                  <a:srgbClr val="262730"/>
                </a:solidFill>
                <a:latin typeface="Times New Roman" panose="02020603050405020304" pitchFamily="18" charset="0"/>
                <a:cs typeface="Times New Roman" panose="02020603050405020304" pitchFamily="18" charset="0"/>
              </a:rPr>
              <a:t> </a:t>
            </a:r>
          </a:p>
          <a:p>
            <a:pPr marL="0" indent="0">
              <a:buNone/>
            </a:pPr>
            <a:endParaRPr lang="en-US" sz="1600" dirty="0">
              <a:solidFill>
                <a:srgbClr val="262730"/>
              </a:solidFill>
              <a:latin typeface="Times New Roman" panose="02020603050405020304" pitchFamily="18" charset="0"/>
              <a:cs typeface="Times New Roman" panose="02020603050405020304" pitchFamily="18" charset="0"/>
            </a:endParaRPr>
          </a:p>
          <a:p>
            <a:pPr marL="0" indent="0">
              <a:buNone/>
            </a:pPr>
            <a:endParaRPr lang="en-US" sz="1600" b="0" i="0" dirty="0">
              <a:solidFill>
                <a:srgbClr val="262730"/>
              </a:solidFill>
              <a:effectLst/>
              <a:latin typeface="Times New Roman" panose="02020603050405020304" pitchFamily="18" charset="0"/>
              <a:cs typeface="Times New Roman" panose="02020603050405020304" pitchFamily="18" charset="0"/>
            </a:endParaRPr>
          </a:p>
          <a:p>
            <a:pPr marL="0" indent="0">
              <a:buNone/>
            </a:pPr>
            <a:endParaRPr lang="en-US" sz="1600" dirty="0">
              <a:solidFill>
                <a:srgbClr val="262730"/>
              </a:solidFill>
              <a:latin typeface="Times New Roman" panose="02020603050405020304" pitchFamily="18" charset="0"/>
              <a:cs typeface="Times New Roman" panose="02020603050405020304" pitchFamily="18" charset="0"/>
            </a:endParaRPr>
          </a:p>
          <a:p>
            <a:pPr marL="0" indent="0">
              <a:buNone/>
            </a:pPr>
            <a:endParaRPr lang="en-US" sz="1600" b="0" i="0" dirty="0">
              <a:solidFill>
                <a:srgbClr val="262730"/>
              </a:solidFill>
              <a:effectLst/>
              <a:latin typeface="Times New Roman" panose="02020603050405020304" pitchFamily="18" charset="0"/>
              <a:cs typeface="Times New Roman" panose="02020603050405020304" pitchFamily="18" charset="0"/>
            </a:endParaRPr>
          </a:p>
          <a:p>
            <a:pPr marL="0" indent="0">
              <a:buNone/>
            </a:pPr>
            <a:endParaRPr lang="en-US" sz="1600" dirty="0">
              <a:solidFill>
                <a:srgbClr val="262730"/>
              </a:solidFill>
              <a:latin typeface="Times New Roman" panose="02020603050405020304" pitchFamily="18" charset="0"/>
              <a:cs typeface="Times New Roman" panose="02020603050405020304" pitchFamily="18" charset="0"/>
            </a:endParaRPr>
          </a:p>
          <a:p>
            <a:pPr marL="0" indent="0">
              <a:buNone/>
            </a:pPr>
            <a:endParaRPr lang="en-US" sz="1600" b="0" i="0" dirty="0">
              <a:solidFill>
                <a:srgbClr val="262730"/>
              </a:solidFill>
              <a:effectLst/>
              <a:latin typeface="Times New Roman" panose="02020603050405020304" pitchFamily="18" charset="0"/>
              <a:cs typeface="Times New Roman" panose="02020603050405020304" pitchFamily="18" charset="0"/>
            </a:endParaRPr>
          </a:p>
          <a:p>
            <a:pPr marL="0" indent="0">
              <a:buNone/>
            </a:pPr>
            <a:endParaRPr lang="en-US" sz="1600" dirty="0">
              <a:solidFill>
                <a:srgbClr val="262730"/>
              </a:solidFill>
              <a:latin typeface="Times New Roman" panose="02020603050405020304" pitchFamily="18" charset="0"/>
              <a:cs typeface="Times New Roman" panose="02020603050405020304" pitchFamily="18" charset="0"/>
            </a:endParaRPr>
          </a:p>
          <a:p>
            <a:pPr marL="0" indent="0">
              <a:buNone/>
            </a:pPr>
            <a:endParaRPr lang="en-US" sz="1600" b="0" i="0" dirty="0">
              <a:solidFill>
                <a:srgbClr val="262730"/>
              </a:solidFill>
              <a:effectLst/>
              <a:latin typeface="Times New Roman" panose="02020603050405020304" pitchFamily="18" charset="0"/>
              <a:cs typeface="Times New Roman" panose="02020603050405020304" pitchFamily="18" charset="0"/>
            </a:endParaRPr>
          </a:p>
          <a:p>
            <a:pPr marL="0" indent="0">
              <a:buNone/>
            </a:pPr>
            <a:endParaRPr lang="en-US" sz="1600" dirty="0">
              <a:solidFill>
                <a:srgbClr val="262730"/>
              </a:solidFill>
              <a:latin typeface="Times New Roman" panose="02020603050405020304" pitchFamily="18" charset="0"/>
              <a:cs typeface="Times New Roman" panose="02020603050405020304" pitchFamily="18" charset="0"/>
            </a:endParaRPr>
          </a:p>
          <a:p>
            <a:pPr marL="0" indent="0">
              <a:buNone/>
            </a:pPr>
            <a:endParaRPr lang="en-US" sz="1600" b="0" i="0" dirty="0">
              <a:solidFill>
                <a:srgbClr val="262730"/>
              </a:solidFill>
              <a:effectLst/>
              <a:latin typeface="Times New Roman" panose="02020603050405020304" pitchFamily="18" charset="0"/>
              <a:cs typeface="Times New Roman" panose="02020603050405020304" pitchFamily="18" charset="0"/>
            </a:endParaRPr>
          </a:p>
          <a:p>
            <a:pPr marL="0" indent="0">
              <a:buNone/>
            </a:pPr>
            <a:endParaRPr lang="en-US" sz="1600" dirty="0">
              <a:solidFill>
                <a:srgbClr val="262730"/>
              </a:solidFill>
              <a:latin typeface="Times New Roman" panose="02020603050405020304" pitchFamily="18" charset="0"/>
              <a:cs typeface="Times New Roman" panose="02020603050405020304" pitchFamily="18" charset="0"/>
            </a:endParaRPr>
          </a:p>
          <a:p>
            <a:pPr marL="0" indent="0">
              <a:buNone/>
            </a:pPr>
            <a:endParaRPr lang="en-US" sz="1600" dirty="0">
              <a:solidFill>
                <a:srgbClr val="262730"/>
              </a:solidFill>
              <a:latin typeface="Times New Roman" panose="02020603050405020304" pitchFamily="18" charset="0"/>
              <a:cs typeface="Times New Roman" panose="02020603050405020304" pitchFamily="18" charset="0"/>
            </a:endParaRPr>
          </a:p>
          <a:p>
            <a:pPr marL="0" indent="0">
              <a:buNone/>
            </a:pPr>
            <a:r>
              <a:rPr lang="en-US" sz="1600" b="0" i="0" dirty="0">
                <a:solidFill>
                  <a:srgbClr val="262730"/>
                </a:solidFill>
                <a:effectLst/>
                <a:latin typeface="Times New Roman" panose="02020603050405020304" pitchFamily="18" charset="0"/>
                <a:cs typeface="Times New Roman" panose="02020603050405020304" pitchFamily="18" charset="0"/>
              </a:rPr>
              <a:t>From graph we can observe that there are some outliers in carpet area with respect to rooms such as in 0 No. of bedrooms </a:t>
            </a:r>
            <a:r>
              <a:rPr lang="en-US" sz="1600" b="0" i="0" dirty="0" err="1">
                <a:solidFill>
                  <a:srgbClr val="262730"/>
                </a:solidFill>
                <a:effectLst/>
                <a:latin typeface="Times New Roman" panose="02020603050405020304" pitchFamily="18" charset="0"/>
                <a:cs typeface="Times New Roman" panose="02020603050405020304" pitchFamily="18" charset="0"/>
              </a:rPr>
              <a:t>i.e</a:t>
            </a:r>
            <a:r>
              <a:rPr lang="en-US" sz="1600" b="0" i="0" dirty="0">
                <a:solidFill>
                  <a:srgbClr val="262730"/>
                </a:solidFill>
                <a:effectLst/>
                <a:latin typeface="Times New Roman" panose="02020603050405020304" pitchFamily="18" charset="0"/>
                <a:cs typeface="Times New Roman" panose="02020603050405020304" pitchFamily="18" charset="0"/>
              </a:rPr>
              <a:t> 1 RK range of carpet area lies between 100 to 800 therefore house having carpet area 3500 is a outlier, in 1 BK range of carpet area lies between 200 and 760 therefore we have 3 higher outliers with carpet area 1000,1010 and 2500, in 2 BK range of carpet area lies between 480 and 1500 therefore we have 1 higher outliers with carpet area 1750, in 3 BK range of carpet area lies between 900 and 2050 therefore we have 1 higher outliers with carpet area 2400, in 4 BK range of carpet area lies between 1990 and 2350 therefore we have 1 higher outliers with carpet area 3500 and one lower outlier 100.</a:t>
            </a:r>
          </a:p>
          <a:p>
            <a:pPr marL="0" indent="0">
              <a:buNone/>
            </a:pPr>
            <a:endParaRPr lang="en-US" sz="1600" dirty="0"/>
          </a:p>
        </p:txBody>
      </p:sp>
      <p:cxnSp>
        <p:nvCxnSpPr>
          <p:cNvPr id="4" name="Straight Connector 3">
            <a:extLst>
              <a:ext uri="{FF2B5EF4-FFF2-40B4-BE49-F238E27FC236}">
                <a16:creationId xmlns:a16="http://schemas.microsoft.com/office/drawing/2014/main" id="{0A67E3B3-F1F3-4F74-B1BC-F46406C41B99}"/>
              </a:ext>
              <a:ext uri="{C183D7F6-B498-43B3-948B-1728B52AA6E4}">
                <adec:decorative xmlns:adec="http://schemas.microsoft.com/office/drawing/2017/decorative" val="1"/>
              </a:ext>
            </a:extLst>
          </p:cNvPr>
          <p:cNvCxnSpPr>
            <a:cxnSpLocks/>
          </p:cNvCxnSpPr>
          <p:nvPr/>
        </p:nvCxnSpPr>
        <p:spPr>
          <a:xfrm>
            <a:off x="0" y="593919"/>
            <a:ext cx="3915052"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7B31581-422F-45D0-A179-476E9E8669F9}"/>
              </a:ext>
              <a:ext uri="{C183D7F6-B498-43B3-948B-1728B52AA6E4}">
                <adec:decorative xmlns:adec="http://schemas.microsoft.com/office/drawing/2017/decorative" val="1"/>
              </a:ext>
            </a:extLst>
          </p:cNvPr>
          <p:cNvCxnSpPr>
            <a:cxnSpLocks/>
          </p:cNvCxnSpPr>
          <p:nvPr/>
        </p:nvCxnSpPr>
        <p:spPr>
          <a:xfrm>
            <a:off x="8060924" y="522898"/>
            <a:ext cx="4131076"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6E412BC-96F2-4B3C-8388-F0073228A3B1}"/>
              </a:ext>
            </a:extLst>
          </p:cNvPr>
          <p:cNvPicPr>
            <a:picLocks noChangeAspect="1"/>
          </p:cNvPicPr>
          <p:nvPr/>
        </p:nvPicPr>
        <p:blipFill>
          <a:blip r:embed="rId2"/>
          <a:stretch>
            <a:fillRect/>
          </a:stretch>
        </p:blipFill>
        <p:spPr>
          <a:xfrm>
            <a:off x="2000065" y="1168421"/>
            <a:ext cx="7081791" cy="3979520"/>
          </a:xfrm>
          <a:prstGeom prst="rect">
            <a:avLst/>
          </a:prstGeom>
        </p:spPr>
      </p:pic>
    </p:spTree>
    <p:extLst>
      <p:ext uri="{BB962C8B-B14F-4D97-AF65-F5344CB8AC3E}">
        <p14:creationId xmlns:p14="http://schemas.microsoft.com/office/powerpoint/2010/main" val="628632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3E38A-2235-49E9-83A8-56EC864E4DD4}"/>
              </a:ext>
            </a:extLst>
          </p:cNvPr>
          <p:cNvSpPr>
            <a:spLocks noGrp="1"/>
          </p:cNvSpPr>
          <p:nvPr>
            <p:ph type="title"/>
          </p:nvPr>
        </p:nvSpPr>
        <p:spPr>
          <a:xfrm>
            <a:off x="838200" y="142044"/>
            <a:ext cx="10515600" cy="538994"/>
          </a:xfrm>
        </p:spPr>
        <p:txBody>
          <a:bodyPr>
            <a:normAutofit/>
          </a:bodyPr>
          <a:lstStyle/>
          <a:p>
            <a:pPr algn="ctr"/>
            <a:r>
              <a:rPr lang="en-US" sz="2400" b="1" dirty="0"/>
              <a:t>Exploratory Data Analysis</a:t>
            </a:r>
          </a:p>
        </p:txBody>
      </p:sp>
      <p:sp>
        <p:nvSpPr>
          <p:cNvPr id="3" name="Content Placeholder 2">
            <a:extLst>
              <a:ext uri="{FF2B5EF4-FFF2-40B4-BE49-F238E27FC236}">
                <a16:creationId xmlns:a16="http://schemas.microsoft.com/office/drawing/2014/main" id="{779359BA-A1B2-4C98-BABB-8D010CE46F33}"/>
              </a:ext>
            </a:extLst>
          </p:cNvPr>
          <p:cNvSpPr>
            <a:spLocks noGrp="1"/>
          </p:cNvSpPr>
          <p:nvPr>
            <p:ph idx="1"/>
          </p:nvPr>
        </p:nvSpPr>
        <p:spPr>
          <a:xfrm>
            <a:off x="838200" y="834502"/>
            <a:ext cx="10515600" cy="6059010"/>
          </a:xfrm>
        </p:spPr>
        <p:txBody>
          <a:bodyPr>
            <a:normAutofit fontScale="92500" lnSpcReduction="10000"/>
          </a:bodyPr>
          <a:lstStyle/>
          <a:p>
            <a:pPr marL="0" indent="0">
              <a:buNone/>
            </a:pPr>
            <a:r>
              <a:rPr lang="en-US" sz="1800" b="1" dirty="0">
                <a:solidFill>
                  <a:srgbClr val="000000"/>
                </a:solidFill>
                <a:latin typeface="Times New Roman" panose="02020603050405020304" pitchFamily="18" charset="0"/>
              </a:rPr>
              <a:t>5</a:t>
            </a:r>
            <a:r>
              <a:rPr lang="en-US" sz="1800" b="1" i="0" u="none" strike="noStrike" baseline="0" dirty="0">
                <a:solidFill>
                  <a:srgbClr val="000000"/>
                </a:solidFill>
                <a:latin typeface="Times New Roman" panose="02020603050405020304" pitchFamily="18" charset="0"/>
              </a:rPr>
              <a:t>) Histogram to represent Variation in Carpet Area </a:t>
            </a:r>
          </a:p>
          <a:p>
            <a:pPr marL="0" indent="0">
              <a:buNone/>
            </a:pPr>
            <a:r>
              <a:rPr lang="en-US" sz="1800" b="0" i="0" u="none" strike="noStrike" baseline="0" dirty="0">
                <a:solidFill>
                  <a:srgbClr val="000000"/>
                </a:solidFill>
                <a:latin typeface="Times New Roman" panose="02020603050405020304" pitchFamily="18" charset="0"/>
                <a:cs typeface="Times New Roman" panose="02020603050405020304" pitchFamily="18" charset="0"/>
              </a:rPr>
              <a:t>    </a:t>
            </a:r>
            <a:endParaRPr lang="en-US" sz="1800" b="1" dirty="0">
              <a:solidFill>
                <a:srgbClr val="000000"/>
              </a:solidFill>
              <a:latin typeface="Times New Roman" panose="02020603050405020304" pitchFamily="18" charset="0"/>
            </a:endParaRPr>
          </a:p>
          <a:p>
            <a:pPr marL="0" indent="0">
              <a:buNone/>
            </a:pPr>
            <a:endParaRPr lang="en-US" sz="1800" b="1" dirty="0">
              <a:solidFill>
                <a:srgbClr val="000000"/>
              </a:solidFill>
              <a:latin typeface="Times New Roman" panose="02020603050405020304" pitchFamily="18" charset="0"/>
            </a:endParaRPr>
          </a:p>
          <a:p>
            <a:pPr marL="0" indent="0">
              <a:buNone/>
            </a:pPr>
            <a:endParaRPr lang="en-US" sz="1800" b="1" dirty="0">
              <a:solidFill>
                <a:srgbClr val="000000"/>
              </a:solidFill>
              <a:latin typeface="Times New Roman" panose="02020603050405020304" pitchFamily="18" charset="0"/>
            </a:endParaRPr>
          </a:p>
          <a:p>
            <a:pPr marL="0" indent="0">
              <a:buNone/>
            </a:pPr>
            <a:endParaRPr lang="en-US" sz="1800" b="1" dirty="0">
              <a:solidFill>
                <a:srgbClr val="000000"/>
              </a:solidFill>
              <a:latin typeface="Times New Roman" panose="02020603050405020304" pitchFamily="18" charset="0"/>
            </a:endParaRPr>
          </a:p>
          <a:p>
            <a:pPr marL="0" indent="0">
              <a:buNone/>
            </a:pPr>
            <a:endParaRPr lang="en-US" sz="1800" b="1" dirty="0">
              <a:solidFill>
                <a:srgbClr val="000000"/>
              </a:solidFill>
              <a:latin typeface="Times New Roman" panose="02020603050405020304" pitchFamily="18" charset="0"/>
            </a:endParaRPr>
          </a:p>
          <a:p>
            <a:pPr marL="0" indent="0">
              <a:buNone/>
            </a:pPr>
            <a:endParaRPr lang="en-US" sz="1800" b="1" dirty="0">
              <a:solidFill>
                <a:srgbClr val="000000"/>
              </a:solidFill>
              <a:latin typeface="Times New Roman" panose="02020603050405020304" pitchFamily="18" charset="0"/>
            </a:endParaRPr>
          </a:p>
          <a:p>
            <a:pPr marL="0" indent="0">
              <a:buNone/>
            </a:pPr>
            <a:endParaRPr lang="en-US" sz="1800" b="1" dirty="0">
              <a:solidFill>
                <a:srgbClr val="000000"/>
              </a:solidFill>
              <a:latin typeface="Times New Roman" panose="02020603050405020304" pitchFamily="18" charset="0"/>
            </a:endParaRPr>
          </a:p>
          <a:p>
            <a:pPr marL="0" indent="0">
              <a:buNone/>
            </a:pPr>
            <a:endParaRPr lang="en-US" sz="1800" b="1" dirty="0">
              <a:solidFill>
                <a:srgbClr val="000000"/>
              </a:solidFill>
              <a:latin typeface="Times New Roman" panose="02020603050405020304" pitchFamily="18" charset="0"/>
            </a:endParaRPr>
          </a:p>
          <a:p>
            <a:pPr marL="0" indent="0">
              <a:buNone/>
            </a:pPr>
            <a:endParaRPr lang="en-US" sz="1800" b="1" dirty="0">
              <a:solidFill>
                <a:srgbClr val="000000"/>
              </a:solidFill>
              <a:latin typeface="Times New Roman" panose="02020603050405020304" pitchFamily="18" charset="0"/>
            </a:endParaRPr>
          </a:p>
          <a:p>
            <a:pPr marL="0" indent="0">
              <a:buNone/>
            </a:pPr>
            <a:endParaRPr lang="en-US" sz="1800" b="1" dirty="0">
              <a:solidFill>
                <a:srgbClr val="000000"/>
              </a:solidFill>
              <a:latin typeface="Times New Roman" panose="02020603050405020304" pitchFamily="18" charset="0"/>
            </a:endParaRPr>
          </a:p>
          <a:p>
            <a:pPr marL="0" indent="0">
              <a:buNone/>
            </a:pPr>
            <a:endParaRPr lang="en-US" sz="1800" b="1" dirty="0">
              <a:solidFill>
                <a:srgbClr val="000000"/>
              </a:solidFill>
              <a:latin typeface="Times New Roman" panose="02020603050405020304" pitchFamily="18" charset="0"/>
            </a:endParaRPr>
          </a:p>
          <a:p>
            <a:pPr marL="0" indent="0">
              <a:buNone/>
            </a:pP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1800" dirty="0">
              <a:solidFill>
                <a:srgbClr val="000000"/>
              </a:solidFill>
              <a:latin typeface="Times New Roman" panose="02020603050405020304" pitchFamily="18" charset="0"/>
              <a:cs typeface="Times New Roman" panose="02020603050405020304" pitchFamily="18" charset="0"/>
            </a:endParaRPr>
          </a:p>
          <a:p>
            <a:pPr marL="0" indent="0">
              <a:buNone/>
            </a:pPr>
            <a:r>
              <a:rPr lang="en-US" sz="1800" b="0" i="0" u="none" strike="noStrike" baseline="0" dirty="0">
                <a:solidFill>
                  <a:srgbClr val="000000"/>
                </a:solidFill>
                <a:latin typeface="Times New Roman" panose="02020603050405020304" pitchFamily="18" charset="0"/>
                <a:cs typeface="Times New Roman" panose="02020603050405020304" pitchFamily="18" charset="0"/>
              </a:rPr>
              <a:t>From the graph we can observe that the dataset contains carpet area majority between 300 to 1000 </a:t>
            </a:r>
            <a:r>
              <a:rPr lang="en-US" sz="1800" b="0" i="0" u="none" strike="noStrike" baseline="0" dirty="0" err="1">
                <a:solidFill>
                  <a:srgbClr val="000000"/>
                </a:solidFill>
                <a:latin typeface="Times New Roman" panose="02020603050405020304" pitchFamily="18" charset="0"/>
                <a:cs typeface="Times New Roman" panose="02020603050405020304" pitchFamily="18" charset="0"/>
              </a:rPr>
              <a:t>sq.ft</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 </a:t>
            </a:r>
          </a:p>
          <a:p>
            <a:pPr marL="0" indent="0">
              <a:buNone/>
            </a:pPr>
            <a:r>
              <a:rPr lang="en-US" sz="1800" b="1" dirty="0">
                <a:solidFill>
                  <a:srgbClr val="000000"/>
                </a:solidFill>
                <a:latin typeface="Times New Roman" panose="02020603050405020304" pitchFamily="18" charset="0"/>
              </a:rPr>
              <a:t>6</a:t>
            </a:r>
            <a:r>
              <a:rPr lang="en-US" sz="1800" b="1" i="0" u="none" strike="noStrike" baseline="0" dirty="0">
                <a:solidFill>
                  <a:srgbClr val="000000"/>
                </a:solidFill>
                <a:latin typeface="Times New Roman" panose="02020603050405020304" pitchFamily="18" charset="0"/>
              </a:rPr>
              <a:t>) Count plot to represent Count of House Loan w.r.t Carpet Area</a:t>
            </a:r>
          </a:p>
          <a:p>
            <a:pPr marL="0" indent="0">
              <a:buNone/>
            </a:pPr>
            <a:r>
              <a:rPr lang="en-US" sz="1800" b="0" i="0" u="none" strike="noStrike" baseline="0" dirty="0">
                <a:solidFill>
                  <a:srgbClr val="000000"/>
                </a:solidFill>
                <a:latin typeface="Times New Roman" panose="02020603050405020304" pitchFamily="18" charset="0"/>
                <a:cs typeface="Times New Roman" panose="02020603050405020304" pitchFamily="18" charset="0"/>
              </a:rPr>
              <a:t>    From the graph we can observe that majority of the people were willing to take the house loan. </a:t>
            </a:r>
          </a:p>
        </p:txBody>
      </p:sp>
      <p:cxnSp>
        <p:nvCxnSpPr>
          <p:cNvPr id="4" name="Straight Connector 3">
            <a:extLst>
              <a:ext uri="{FF2B5EF4-FFF2-40B4-BE49-F238E27FC236}">
                <a16:creationId xmlns:a16="http://schemas.microsoft.com/office/drawing/2014/main" id="{361AC384-E7A6-4F83-A088-803340D5B3D5}"/>
              </a:ext>
              <a:ext uri="{C183D7F6-B498-43B3-948B-1728B52AA6E4}">
                <adec:decorative xmlns:adec="http://schemas.microsoft.com/office/drawing/2017/decorative" val="1"/>
              </a:ext>
            </a:extLst>
          </p:cNvPr>
          <p:cNvCxnSpPr>
            <a:cxnSpLocks/>
          </p:cNvCxnSpPr>
          <p:nvPr/>
        </p:nvCxnSpPr>
        <p:spPr>
          <a:xfrm>
            <a:off x="0" y="522898"/>
            <a:ext cx="379076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9ECA68A-5A3D-42C9-8E7F-AAD6DC8DF59A}"/>
              </a:ext>
              <a:ext uri="{C183D7F6-B498-43B3-948B-1728B52AA6E4}">
                <adec:decorative xmlns:adec="http://schemas.microsoft.com/office/drawing/2017/decorative" val="1"/>
              </a:ext>
            </a:extLst>
          </p:cNvPr>
          <p:cNvCxnSpPr>
            <a:cxnSpLocks/>
          </p:cNvCxnSpPr>
          <p:nvPr/>
        </p:nvCxnSpPr>
        <p:spPr>
          <a:xfrm>
            <a:off x="8460419" y="522898"/>
            <a:ext cx="3731581"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0510E95-2D09-4FD8-9F48-A7C174F9A8A3}"/>
              </a:ext>
            </a:extLst>
          </p:cNvPr>
          <p:cNvCxnSpPr>
            <a:cxnSpLocks/>
          </p:cNvCxnSpPr>
          <p:nvPr/>
        </p:nvCxnSpPr>
        <p:spPr>
          <a:xfrm>
            <a:off x="914399" y="6335102"/>
            <a:ext cx="213064" cy="0"/>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pic>
        <p:nvPicPr>
          <p:cNvPr id="7" name="Picture 6">
            <a:extLst>
              <a:ext uri="{FF2B5EF4-FFF2-40B4-BE49-F238E27FC236}">
                <a16:creationId xmlns:a16="http://schemas.microsoft.com/office/drawing/2014/main" id="{51558014-B437-4690-AFAA-73BB278A34F8}"/>
              </a:ext>
            </a:extLst>
          </p:cNvPr>
          <p:cNvPicPr>
            <a:picLocks noChangeAspect="1"/>
          </p:cNvPicPr>
          <p:nvPr/>
        </p:nvPicPr>
        <p:blipFill>
          <a:blip r:embed="rId2"/>
          <a:stretch>
            <a:fillRect/>
          </a:stretch>
        </p:blipFill>
        <p:spPr>
          <a:xfrm>
            <a:off x="3095610" y="1061892"/>
            <a:ext cx="4462553" cy="4183944"/>
          </a:xfrm>
          <a:prstGeom prst="rect">
            <a:avLst/>
          </a:prstGeom>
        </p:spPr>
      </p:pic>
    </p:spTree>
    <p:extLst>
      <p:ext uri="{BB962C8B-B14F-4D97-AF65-F5344CB8AC3E}">
        <p14:creationId xmlns:p14="http://schemas.microsoft.com/office/powerpoint/2010/main" val="1187275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56688-538E-4247-900A-BD8179481FD4}"/>
              </a:ext>
            </a:extLst>
          </p:cNvPr>
          <p:cNvSpPr>
            <a:spLocks noGrp="1"/>
          </p:cNvSpPr>
          <p:nvPr>
            <p:ph type="title"/>
          </p:nvPr>
        </p:nvSpPr>
        <p:spPr>
          <a:xfrm>
            <a:off x="838200" y="177553"/>
            <a:ext cx="10515600" cy="426129"/>
          </a:xfrm>
        </p:spPr>
        <p:txBody>
          <a:bodyPr>
            <a:normAutofit/>
          </a:bodyPr>
          <a:lstStyle/>
          <a:p>
            <a:r>
              <a:rPr lang="en-US" sz="2400" b="1" dirty="0"/>
              <a:t>                                       Exploratory Data Analysis</a:t>
            </a:r>
          </a:p>
        </p:txBody>
      </p:sp>
      <p:sp>
        <p:nvSpPr>
          <p:cNvPr id="3" name="Content Placeholder 2">
            <a:extLst>
              <a:ext uri="{FF2B5EF4-FFF2-40B4-BE49-F238E27FC236}">
                <a16:creationId xmlns:a16="http://schemas.microsoft.com/office/drawing/2014/main" id="{0FD5837F-8148-42BF-BDA0-24B1E0BCED3C}"/>
              </a:ext>
            </a:extLst>
          </p:cNvPr>
          <p:cNvSpPr>
            <a:spLocks noGrp="1"/>
          </p:cNvSpPr>
          <p:nvPr>
            <p:ph idx="1"/>
          </p:nvPr>
        </p:nvSpPr>
        <p:spPr>
          <a:xfrm>
            <a:off x="838200" y="868244"/>
            <a:ext cx="10515600" cy="5854824"/>
          </a:xfrm>
        </p:spPr>
        <p:txBody>
          <a:bodyPr>
            <a:normAutofit/>
          </a:bodyPr>
          <a:lstStyle/>
          <a:p>
            <a:pPr marL="0" indent="0">
              <a:buNone/>
            </a:pPr>
            <a:r>
              <a:rPr lang="en-US" sz="1600" b="1" dirty="0">
                <a:solidFill>
                  <a:srgbClr val="000000"/>
                </a:solidFill>
                <a:latin typeface="Times New Roman" panose="02020603050405020304" pitchFamily="18" charset="0"/>
              </a:rPr>
              <a:t>7</a:t>
            </a:r>
            <a:r>
              <a:rPr lang="en-US" sz="1600" b="1" i="0" u="none" strike="noStrike" baseline="0" dirty="0">
                <a:solidFill>
                  <a:srgbClr val="000000"/>
                </a:solidFill>
                <a:latin typeface="Times New Roman" panose="02020603050405020304" pitchFamily="18" charset="0"/>
              </a:rPr>
              <a:t>) Graphs to represent Regression Analysis </a:t>
            </a:r>
          </a:p>
          <a:p>
            <a:pPr marL="342900" indent="-342900">
              <a:buAutoNum type="alphaUcParenR"/>
            </a:pPr>
            <a:r>
              <a:rPr lang="en-US" sz="1600" dirty="0">
                <a:solidFill>
                  <a:srgbClr val="000000"/>
                </a:solidFill>
                <a:latin typeface="Times New Roman" panose="02020603050405020304" pitchFamily="18" charset="0"/>
                <a:cs typeface="Times New Roman" panose="02020603050405020304" pitchFamily="18" charset="0"/>
              </a:rPr>
              <a:t>Carpet Area vs No of Bedroom</a:t>
            </a:r>
          </a:p>
          <a:p>
            <a:pPr marL="0" indent="0">
              <a:buNone/>
            </a:pPr>
            <a:endParaRPr lang="en-US" sz="1600" b="0" i="0" u="none" strike="noStrike" baseline="0" dirty="0">
              <a:solidFill>
                <a:srgbClr val="000000"/>
              </a:solidFill>
              <a:latin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endParaRPr>
          </a:p>
          <a:p>
            <a:pPr marL="0" indent="0">
              <a:buNone/>
            </a:pPr>
            <a:endParaRPr lang="en-US" sz="1600" b="0" i="0" u="none" strike="noStrike" baseline="0" dirty="0">
              <a:solidFill>
                <a:srgbClr val="000000"/>
              </a:solidFill>
              <a:latin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endParaRPr>
          </a:p>
          <a:p>
            <a:pPr marL="0" indent="0">
              <a:buNone/>
            </a:pPr>
            <a:endParaRPr lang="en-US" sz="1600" b="0" i="0" u="none" strike="noStrike" baseline="0" dirty="0">
              <a:solidFill>
                <a:srgbClr val="000000"/>
              </a:solidFill>
              <a:latin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endParaRPr>
          </a:p>
          <a:p>
            <a:pPr marL="0" indent="0">
              <a:buNone/>
            </a:pPr>
            <a:endParaRPr lang="en-US" sz="1600" b="0" i="0" u="none" strike="noStrike" baseline="0" dirty="0">
              <a:solidFill>
                <a:srgbClr val="000000"/>
              </a:solidFill>
              <a:latin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endParaRPr>
          </a:p>
          <a:p>
            <a:pPr marL="0" indent="0">
              <a:buNone/>
            </a:pPr>
            <a:endParaRPr lang="en-US" sz="1600" b="0" i="0" u="none" strike="noStrike" baseline="0" dirty="0">
              <a:solidFill>
                <a:srgbClr val="000000"/>
              </a:solidFill>
              <a:latin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endParaRPr>
          </a:p>
          <a:p>
            <a:pPr marL="0" indent="0">
              <a:buNone/>
            </a:pPr>
            <a:endParaRPr lang="en-US" sz="1600" b="0" i="0" u="none" strike="noStrike" baseline="0" dirty="0">
              <a:solidFill>
                <a:srgbClr val="000000"/>
              </a:solidFill>
              <a:latin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endParaRPr>
          </a:p>
          <a:p>
            <a:pPr marL="0" indent="0">
              <a:buNone/>
            </a:pPr>
            <a:endParaRPr lang="en-US" sz="1600" b="0" i="0" u="none" strike="noStrike" baseline="0" dirty="0">
              <a:solidFill>
                <a:srgbClr val="000000"/>
              </a:solidFill>
              <a:latin typeface="Times New Roman" panose="02020603050405020304" pitchFamily="18" charset="0"/>
            </a:endParaRPr>
          </a:p>
          <a:p>
            <a:pPr marL="0" indent="0">
              <a:buNone/>
            </a:pPr>
            <a:r>
              <a:rPr lang="en-US" sz="1600" b="0" i="0" u="none" strike="noStrike" baseline="0" dirty="0">
                <a:solidFill>
                  <a:srgbClr val="000000"/>
                </a:solidFill>
                <a:latin typeface="Times New Roman" panose="02020603050405020304" pitchFamily="18" charset="0"/>
              </a:rPr>
              <a:t>From the above graph we can conclude that there is a linear relation between the No. of Bedrooms and Carpet Area as No. of Bedrooms increases Carpet Area also increases but the points do not fit on the regression line. </a:t>
            </a: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1600" dirty="0"/>
          </a:p>
        </p:txBody>
      </p:sp>
      <p:cxnSp>
        <p:nvCxnSpPr>
          <p:cNvPr id="4" name="Straight Connector 3">
            <a:extLst>
              <a:ext uri="{FF2B5EF4-FFF2-40B4-BE49-F238E27FC236}">
                <a16:creationId xmlns:a16="http://schemas.microsoft.com/office/drawing/2014/main" id="{ED223B3D-98DC-4FD8-BFFF-99F44D0E498D}"/>
              </a:ext>
              <a:ext uri="{C183D7F6-B498-43B3-948B-1728B52AA6E4}">
                <adec:decorative xmlns:adec="http://schemas.microsoft.com/office/drawing/2017/decorative" val="1"/>
              </a:ext>
            </a:extLst>
          </p:cNvPr>
          <p:cNvCxnSpPr>
            <a:cxnSpLocks/>
          </p:cNvCxnSpPr>
          <p:nvPr/>
        </p:nvCxnSpPr>
        <p:spPr>
          <a:xfrm>
            <a:off x="0" y="522898"/>
            <a:ext cx="4083728"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EA30309-8F7F-4A35-8A68-44E849975F40}"/>
              </a:ext>
              <a:ext uri="{C183D7F6-B498-43B3-948B-1728B52AA6E4}">
                <adec:decorative xmlns:adec="http://schemas.microsoft.com/office/drawing/2017/decorative" val="1"/>
              </a:ext>
            </a:extLst>
          </p:cNvPr>
          <p:cNvCxnSpPr>
            <a:cxnSpLocks/>
          </p:cNvCxnSpPr>
          <p:nvPr/>
        </p:nvCxnSpPr>
        <p:spPr>
          <a:xfrm>
            <a:off x="8149701" y="549531"/>
            <a:ext cx="4042299"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C478619-DAAB-4139-9AF0-16731EE3B77B}"/>
              </a:ext>
            </a:extLst>
          </p:cNvPr>
          <p:cNvPicPr>
            <a:picLocks noChangeAspect="1"/>
          </p:cNvPicPr>
          <p:nvPr/>
        </p:nvPicPr>
        <p:blipFill>
          <a:blip r:embed="rId2"/>
          <a:stretch>
            <a:fillRect/>
          </a:stretch>
        </p:blipFill>
        <p:spPr>
          <a:xfrm>
            <a:off x="1833562" y="1584711"/>
            <a:ext cx="7785845" cy="4114754"/>
          </a:xfrm>
          <a:prstGeom prst="rect">
            <a:avLst/>
          </a:prstGeom>
        </p:spPr>
      </p:pic>
    </p:spTree>
    <p:extLst>
      <p:ext uri="{BB962C8B-B14F-4D97-AF65-F5344CB8AC3E}">
        <p14:creationId xmlns:p14="http://schemas.microsoft.com/office/powerpoint/2010/main" val="2578012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A9FA8-CB6C-4D64-8676-F1974020C564}"/>
              </a:ext>
            </a:extLst>
          </p:cNvPr>
          <p:cNvSpPr>
            <a:spLocks noGrp="1"/>
          </p:cNvSpPr>
          <p:nvPr>
            <p:ph type="title"/>
          </p:nvPr>
        </p:nvSpPr>
        <p:spPr>
          <a:xfrm>
            <a:off x="838200" y="177553"/>
            <a:ext cx="10515600" cy="621437"/>
          </a:xfrm>
        </p:spPr>
        <p:txBody>
          <a:bodyPr>
            <a:normAutofit/>
          </a:bodyPr>
          <a:lstStyle/>
          <a:p>
            <a:pPr algn="ctr"/>
            <a:r>
              <a:rPr lang="en-US" sz="2400" b="1" dirty="0"/>
              <a:t>Exploratory Data Analysis</a:t>
            </a:r>
          </a:p>
        </p:txBody>
      </p:sp>
      <p:sp>
        <p:nvSpPr>
          <p:cNvPr id="3" name="Content Placeholder 2">
            <a:extLst>
              <a:ext uri="{FF2B5EF4-FFF2-40B4-BE49-F238E27FC236}">
                <a16:creationId xmlns:a16="http://schemas.microsoft.com/office/drawing/2014/main" id="{50F12EC7-A99F-4669-86BB-A0EC9173C3CF}"/>
              </a:ext>
            </a:extLst>
          </p:cNvPr>
          <p:cNvSpPr>
            <a:spLocks noGrp="1"/>
          </p:cNvSpPr>
          <p:nvPr>
            <p:ph idx="1"/>
          </p:nvPr>
        </p:nvSpPr>
        <p:spPr>
          <a:xfrm>
            <a:off x="838200" y="870012"/>
            <a:ext cx="10515600" cy="5306951"/>
          </a:xfrm>
        </p:spPr>
        <p:txBody>
          <a:bodyPr>
            <a:normAutofit/>
          </a:bodyPr>
          <a:lstStyle/>
          <a:p>
            <a:pPr marL="0" indent="0">
              <a:buNone/>
            </a:pPr>
            <a:r>
              <a:rPr lang="en-US" sz="1600" dirty="0">
                <a:solidFill>
                  <a:srgbClr val="000000"/>
                </a:solidFill>
                <a:latin typeface="Times New Roman" panose="02020603050405020304" pitchFamily="18" charset="0"/>
                <a:cs typeface="Times New Roman" panose="02020603050405020304" pitchFamily="18" charset="0"/>
              </a:rPr>
              <a:t>B) Carpet Area vs Price</a:t>
            </a:r>
          </a:p>
          <a:p>
            <a:pPr marL="0" indent="0">
              <a:buNone/>
            </a:pPr>
            <a:endParaRPr lang="en-US" sz="1600" dirty="0">
              <a:solidFill>
                <a:srgbClr val="000000"/>
              </a:solidFill>
              <a:latin typeface="Times New Roman" panose="02020603050405020304" pitchFamily="18" charset="0"/>
            </a:endParaRPr>
          </a:p>
          <a:p>
            <a:pPr marL="0" indent="0">
              <a:buNone/>
            </a:pPr>
            <a:endParaRPr lang="en-US" sz="1600" b="0" i="0" u="none" strike="noStrike" baseline="0" dirty="0">
              <a:solidFill>
                <a:srgbClr val="000000"/>
              </a:solidFill>
              <a:latin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endParaRPr>
          </a:p>
          <a:p>
            <a:pPr marL="0" indent="0">
              <a:buNone/>
            </a:pPr>
            <a:endParaRPr lang="en-US" sz="1600" b="0" i="0" u="none" strike="noStrike" baseline="0" dirty="0">
              <a:solidFill>
                <a:srgbClr val="000000"/>
              </a:solidFill>
              <a:latin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endParaRPr>
          </a:p>
          <a:p>
            <a:pPr marL="0" indent="0">
              <a:buNone/>
            </a:pPr>
            <a:endParaRPr lang="en-US" sz="1600" b="0" i="0" u="none" strike="noStrike" baseline="0" dirty="0">
              <a:solidFill>
                <a:srgbClr val="000000"/>
              </a:solidFill>
              <a:latin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endParaRPr>
          </a:p>
          <a:p>
            <a:pPr marL="0" indent="0">
              <a:buNone/>
            </a:pPr>
            <a:endParaRPr lang="en-US" sz="1600" b="0" i="0" u="none" strike="noStrike" baseline="0" dirty="0">
              <a:solidFill>
                <a:srgbClr val="000000"/>
              </a:solidFill>
              <a:latin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endParaRPr>
          </a:p>
          <a:p>
            <a:pPr marL="0" indent="0">
              <a:buNone/>
            </a:pPr>
            <a:endParaRPr lang="en-US" sz="1600" b="0" i="0" u="none" strike="noStrike" baseline="0" dirty="0">
              <a:solidFill>
                <a:srgbClr val="000000"/>
              </a:solidFill>
              <a:latin typeface="Times New Roman" panose="02020603050405020304" pitchFamily="18" charset="0"/>
            </a:endParaRPr>
          </a:p>
          <a:p>
            <a:pPr marL="0" indent="0">
              <a:buNone/>
            </a:pPr>
            <a:endParaRPr lang="en-US" sz="1600" dirty="0">
              <a:solidFill>
                <a:srgbClr val="000000"/>
              </a:solidFill>
              <a:latin typeface="Times New Roman" panose="02020603050405020304" pitchFamily="18" charset="0"/>
            </a:endParaRPr>
          </a:p>
          <a:p>
            <a:pPr marL="0" indent="0">
              <a:buNone/>
            </a:pPr>
            <a:endParaRPr lang="en-US" sz="1600" b="0" i="0" u="none" strike="noStrike" baseline="0" dirty="0">
              <a:solidFill>
                <a:srgbClr val="000000"/>
              </a:solidFill>
              <a:latin typeface="Times New Roman" panose="02020603050405020304" pitchFamily="18" charset="0"/>
            </a:endParaRPr>
          </a:p>
          <a:p>
            <a:pPr marL="0" indent="0">
              <a:buNone/>
            </a:pPr>
            <a:r>
              <a:rPr lang="en-US" sz="1600" b="0" i="0" u="none" strike="noStrike" baseline="0" dirty="0">
                <a:solidFill>
                  <a:srgbClr val="000000"/>
                </a:solidFill>
                <a:latin typeface="Times New Roman" panose="02020603050405020304" pitchFamily="18" charset="0"/>
              </a:rPr>
              <a:t>From the above graph we can conclude that there is a linear relation between the House Price and Carpet Area as Carpet Area increases House Prices also increases but the points do not fit on the regression line. </a:t>
            </a: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p>
        </p:txBody>
      </p:sp>
      <p:cxnSp>
        <p:nvCxnSpPr>
          <p:cNvPr id="4" name="Straight Connector 3">
            <a:extLst>
              <a:ext uri="{FF2B5EF4-FFF2-40B4-BE49-F238E27FC236}">
                <a16:creationId xmlns:a16="http://schemas.microsoft.com/office/drawing/2014/main" id="{150977C1-45AB-45D1-814F-1A80FC0F8D3B}"/>
              </a:ext>
              <a:ext uri="{C183D7F6-B498-43B3-948B-1728B52AA6E4}">
                <adec:decorative xmlns:adec="http://schemas.microsoft.com/office/drawing/2017/decorative" val="1"/>
              </a:ext>
            </a:extLst>
          </p:cNvPr>
          <p:cNvCxnSpPr>
            <a:cxnSpLocks/>
          </p:cNvCxnSpPr>
          <p:nvPr/>
        </p:nvCxnSpPr>
        <p:spPr>
          <a:xfrm>
            <a:off x="0" y="620553"/>
            <a:ext cx="4083728"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8104D89-8B72-482D-8297-450FF7CBA530}"/>
              </a:ext>
              <a:ext uri="{C183D7F6-B498-43B3-948B-1728B52AA6E4}">
                <adec:decorative xmlns:adec="http://schemas.microsoft.com/office/drawing/2017/decorative" val="1"/>
              </a:ext>
            </a:extLst>
          </p:cNvPr>
          <p:cNvCxnSpPr>
            <a:cxnSpLocks/>
          </p:cNvCxnSpPr>
          <p:nvPr/>
        </p:nvCxnSpPr>
        <p:spPr>
          <a:xfrm>
            <a:off x="8149701" y="593035"/>
            <a:ext cx="4042299"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693F620D-E5A1-401B-8AFB-9B6FA51F7C72}"/>
              </a:ext>
            </a:extLst>
          </p:cNvPr>
          <p:cNvPicPr>
            <a:picLocks noChangeAspect="1"/>
          </p:cNvPicPr>
          <p:nvPr/>
        </p:nvPicPr>
        <p:blipFill>
          <a:blip r:embed="rId2"/>
          <a:stretch>
            <a:fillRect/>
          </a:stretch>
        </p:blipFill>
        <p:spPr>
          <a:xfrm>
            <a:off x="1619250" y="1243012"/>
            <a:ext cx="7968633" cy="3891067"/>
          </a:xfrm>
          <a:prstGeom prst="rect">
            <a:avLst/>
          </a:prstGeom>
        </p:spPr>
      </p:pic>
    </p:spTree>
    <p:extLst>
      <p:ext uri="{BB962C8B-B14F-4D97-AF65-F5344CB8AC3E}">
        <p14:creationId xmlns:p14="http://schemas.microsoft.com/office/powerpoint/2010/main" val="2828764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287FA-FA53-49E5-B687-C639FD30E382}"/>
              </a:ext>
            </a:extLst>
          </p:cNvPr>
          <p:cNvSpPr>
            <a:spLocks noGrp="1"/>
          </p:cNvSpPr>
          <p:nvPr>
            <p:ph type="title"/>
          </p:nvPr>
        </p:nvSpPr>
        <p:spPr>
          <a:xfrm>
            <a:off x="838200" y="177554"/>
            <a:ext cx="10515600" cy="416366"/>
          </a:xfrm>
        </p:spPr>
        <p:txBody>
          <a:bodyPr>
            <a:normAutofit fontScale="90000"/>
          </a:bodyPr>
          <a:lstStyle/>
          <a:p>
            <a:pPr algn="ctr"/>
            <a:r>
              <a:rPr lang="en-US" sz="2800" b="1" dirty="0"/>
              <a:t>Exploratory Data Analysis</a:t>
            </a:r>
          </a:p>
        </p:txBody>
      </p:sp>
      <p:cxnSp>
        <p:nvCxnSpPr>
          <p:cNvPr id="3" name="Straight Connector 2">
            <a:extLst>
              <a:ext uri="{FF2B5EF4-FFF2-40B4-BE49-F238E27FC236}">
                <a16:creationId xmlns:a16="http://schemas.microsoft.com/office/drawing/2014/main" id="{932FF8FF-2A25-4CFD-8B0D-DDC100524236}"/>
              </a:ext>
              <a:ext uri="{C183D7F6-B498-43B3-948B-1728B52AA6E4}">
                <adec:decorative xmlns:adec="http://schemas.microsoft.com/office/drawing/2017/decorative" val="1"/>
              </a:ext>
            </a:extLst>
          </p:cNvPr>
          <p:cNvCxnSpPr>
            <a:cxnSpLocks/>
          </p:cNvCxnSpPr>
          <p:nvPr/>
        </p:nvCxnSpPr>
        <p:spPr>
          <a:xfrm>
            <a:off x="0" y="522898"/>
            <a:ext cx="3986074"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215ACFA-FC42-4150-8F7C-F072D1B1B3D4}"/>
              </a:ext>
              <a:ext uri="{C183D7F6-B498-43B3-948B-1728B52AA6E4}">
                <adec:decorative xmlns:adec="http://schemas.microsoft.com/office/drawing/2017/decorative" val="1"/>
              </a:ext>
            </a:extLst>
          </p:cNvPr>
          <p:cNvCxnSpPr>
            <a:cxnSpLocks/>
          </p:cNvCxnSpPr>
          <p:nvPr/>
        </p:nvCxnSpPr>
        <p:spPr>
          <a:xfrm>
            <a:off x="8194089" y="522898"/>
            <a:ext cx="3997911"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9" name="Rectangle: Top Corners Rounded 8">
            <a:extLst>
              <a:ext uri="{FF2B5EF4-FFF2-40B4-BE49-F238E27FC236}">
                <a16:creationId xmlns:a16="http://schemas.microsoft.com/office/drawing/2014/main" id="{30E051F4-6CAD-4F13-98AB-FBA3CBCC68CD}"/>
              </a:ext>
            </a:extLst>
          </p:cNvPr>
          <p:cNvSpPr/>
          <p:nvPr/>
        </p:nvSpPr>
        <p:spPr>
          <a:xfrm>
            <a:off x="4202467" y="682312"/>
            <a:ext cx="3787066" cy="435003"/>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Analysis Result</a:t>
            </a:r>
          </a:p>
        </p:txBody>
      </p:sp>
      <p:pic>
        <p:nvPicPr>
          <p:cNvPr id="13" name="Picture 12">
            <a:extLst>
              <a:ext uri="{FF2B5EF4-FFF2-40B4-BE49-F238E27FC236}">
                <a16:creationId xmlns:a16="http://schemas.microsoft.com/office/drawing/2014/main" id="{9F864B2F-6B84-4F04-BC4F-DE613389AAC0}"/>
              </a:ext>
            </a:extLst>
          </p:cNvPr>
          <p:cNvPicPr>
            <a:picLocks noChangeAspect="1"/>
          </p:cNvPicPr>
          <p:nvPr/>
        </p:nvPicPr>
        <p:blipFill>
          <a:blip r:embed="rId2"/>
          <a:stretch>
            <a:fillRect/>
          </a:stretch>
        </p:blipFill>
        <p:spPr>
          <a:xfrm>
            <a:off x="2155293" y="1117315"/>
            <a:ext cx="8037751" cy="5568818"/>
          </a:xfrm>
          <a:prstGeom prst="rect">
            <a:avLst/>
          </a:prstGeom>
        </p:spPr>
      </p:pic>
    </p:spTree>
    <p:extLst>
      <p:ext uri="{BB962C8B-B14F-4D97-AF65-F5344CB8AC3E}">
        <p14:creationId xmlns:p14="http://schemas.microsoft.com/office/powerpoint/2010/main" val="3946911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184AD-0B3E-4FC8-86D9-FBA3106F948C}"/>
              </a:ext>
            </a:extLst>
          </p:cNvPr>
          <p:cNvSpPr>
            <a:spLocks noGrp="1"/>
          </p:cNvSpPr>
          <p:nvPr>
            <p:ph type="title"/>
          </p:nvPr>
        </p:nvSpPr>
        <p:spPr>
          <a:xfrm>
            <a:off x="838200" y="133166"/>
            <a:ext cx="10515600" cy="443884"/>
          </a:xfrm>
        </p:spPr>
        <p:txBody>
          <a:bodyPr>
            <a:noAutofit/>
          </a:bodyPr>
          <a:lstStyle/>
          <a:p>
            <a:pPr algn="ctr"/>
            <a:r>
              <a:rPr lang="en-US" sz="2800" b="1" dirty="0"/>
              <a:t>Exploratory Data Analysis</a:t>
            </a:r>
          </a:p>
        </p:txBody>
      </p:sp>
      <p:cxnSp>
        <p:nvCxnSpPr>
          <p:cNvPr id="3" name="Straight Connector 2">
            <a:extLst>
              <a:ext uri="{FF2B5EF4-FFF2-40B4-BE49-F238E27FC236}">
                <a16:creationId xmlns:a16="http://schemas.microsoft.com/office/drawing/2014/main" id="{2A8C56A4-C996-4B68-B48B-49F135F6C3D2}"/>
              </a:ext>
              <a:ext uri="{C183D7F6-B498-43B3-948B-1728B52AA6E4}">
                <adec:decorative xmlns:adec="http://schemas.microsoft.com/office/drawing/2017/decorative" val="1"/>
              </a:ext>
            </a:extLst>
          </p:cNvPr>
          <p:cNvCxnSpPr>
            <a:cxnSpLocks/>
          </p:cNvCxnSpPr>
          <p:nvPr/>
        </p:nvCxnSpPr>
        <p:spPr>
          <a:xfrm>
            <a:off x="0" y="522898"/>
            <a:ext cx="378188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80831F3-107B-43A7-91ED-226A6EBA1D21}"/>
              </a:ext>
              <a:ext uri="{C183D7F6-B498-43B3-948B-1728B52AA6E4}">
                <adec:decorative xmlns:adec="http://schemas.microsoft.com/office/drawing/2017/decorative" val="1"/>
              </a:ext>
            </a:extLst>
          </p:cNvPr>
          <p:cNvCxnSpPr>
            <a:cxnSpLocks/>
          </p:cNvCxnSpPr>
          <p:nvPr/>
        </p:nvCxnSpPr>
        <p:spPr>
          <a:xfrm>
            <a:off x="8407153" y="522894"/>
            <a:ext cx="378484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7" name="Rectangle: Top Corners Rounded 6">
            <a:extLst>
              <a:ext uri="{FF2B5EF4-FFF2-40B4-BE49-F238E27FC236}">
                <a16:creationId xmlns:a16="http://schemas.microsoft.com/office/drawing/2014/main" id="{47444A1B-E54C-4C30-A6EA-EF77BD79C5DB}"/>
              </a:ext>
            </a:extLst>
          </p:cNvPr>
          <p:cNvSpPr/>
          <p:nvPr/>
        </p:nvSpPr>
        <p:spPr>
          <a:xfrm>
            <a:off x="4202467" y="682312"/>
            <a:ext cx="3787066" cy="435003"/>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Analysis Result</a:t>
            </a:r>
          </a:p>
        </p:txBody>
      </p:sp>
      <p:sp>
        <p:nvSpPr>
          <p:cNvPr id="9" name="Rectangle: Top Corners Rounded 8">
            <a:extLst>
              <a:ext uri="{FF2B5EF4-FFF2-40B4-BE49-F238E27FC236}">
                <a16:creationId xmlns:a16="http://schemas.microsoft.com/office/drawing/2014/main" id="{664C07EA-42B9-4B06-AF16-598D2E4E511A}"/>
              </a:ext>
            </a:extLst>
          </p:cNvPr>
          <p:cNvSpPr/>
          <p:nvPr/>
        </p:nvSpPr>
        <p:spPr>
          <a:xfrm>
            <a:off x="2386883" y="1340701"/>
            <a:ext cx="7418232" cy="621225"/>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Bar Chart to represent location wise House Prices</a:t>
            </a:r>
          </a:p>
        </p:txBody>
      </p:sp>
      <p:pic>
        <p:nvPicPr>
          <p:cNvPr id="11" name="Picture 10">
            <a:extLst>
              <a:ext uri="{FF2B5EF4-FFF2-40B4-BE49-F238E27FC236}">
                <a16:creationId xmlns:a16="http://schemas.microsoft.com/office/drawing/2014/main" id="{1E248AB9-0988-49CA-9F06-ED2E675608DF}"/>
              </a:ext>
            </a:extLst>
          </p:cNvPr>
          <p:cNvPicPr>
            <a:picLocks noChangeAspect="1"/>
          </p:cNvPicPr>
          <p:nvPr/>
        </p:nvPicPr>
        <p:blipFill>
          <a:blip r:embed="rId2"/>
          <a:stretch>
            <a:fillRect/>
          </a:stretch>
        </p:blipFill>
        <p:spPr>
          <a:xfrm>
            <a:off x="2386884" y="2185313"/>
            <a:ext cx="7418231" cy="4262907"/>
          </a:xfrm>
          <a:prstGeom prst="rect">
            <a:avLst/>
          </a:prstGeom>
        </p:spPr>
      </p:pic>
    </p:spTree>
    <p:extLst>
      <p:ext uri="{BB962C8B-B14F-4D97-AF65-F5344CB8AC3E}">
        <p14:creationId xmlns:p14="http://schemas.microsoft.com/office/powerpoint/2010/main" val="31685086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64D8D0-EE7E-4CBE-A635-0C0B1B42D0D3}"/>
              </a:ext>
            </a:extLst>
          </p:cNvPr>
          <p:cNvSpPr>
            <a:spLocks noGrp="1"/>
          </p:cNvSpPr>
          <p:nvPr>
            <p:ph type="title"/>
          </p:nvPr>
        </p:nvSpPr>
        <p:spPr>
          <a:xfrm>
            <a:off x="838200" y="0"/>
            <a:ext cx="10515600" cy="522770"/>
          </a:xfrm>
        </p:spPr>
        <p:txBody>
          <a:bodyPr>
            <a:noAutofit/>
          </a:bodyPr>
          <a:lstStyle/>
          <a:p>
            <a:pPr algn="ctr"/>
            <a:r>
              <a:rPr lang="en-US" sz="2800" b="1" dirty="0"/>
              <a:t>Exploratory Data Analysis</a:t>
            </a:r>
          </a:p>
        </p:txBody>
      </p:sp>
      <p:pic>
        <p:nvPicPr>
          <p:cNvPr id="6" name="Content Placeholder 5">
            <a:extLst>
              <a:ext uri="{FF2B5EF4-FFF2-40B4-BE49-F238E27FC236}">
                <a16:creationId xmlns:a16="http://schemas.microsoft.com/office/drawing/2014/main" id="{8DF56ED3-CB35-4298-8A9F-BF66BE6975CF}"/>
              </a:ext>
            </a:extLst>
          </p:cNvPr>
          <p:cNvPicPr>
            <a:picLocks noGrp="1" noChangeAspect="1"/>
          </p:cNvPicPr>
          <p:nvPr>
            <p:ph idx="1"/>
          </p:nvPr>
        </p:nvPicPr>
        <p:blipFill>
          <a:blip r:embed="rId2"/>
          <a:stretch>
            <a:fillRect/>
          </a:stretch>
        </p:blipFill>
        <p:spPr>
          <a:xfrm>
            <a:off x="247606" y="1375610"/>
            <a:ext cx="4843228" cy="4351338"/>
          </a:xfrm>
        </p:spPr>
      </p:pic>
      <p:pic>
        <p:nvPicPr>
          <p:cNvPr id="8" name="Picture 7">
            <a:extLst>
              <a:ext uri="{FF2B5EF4-FFF2-40B4-BE49-F238E27FC236}">
                <a16:creationId xmlns:a16="http://schemas.microsoft.com/office/drawing/2014/main" id="{7EC13483-932F-4616-9E0E-8B37F07F6412}"/>
              </a:ext>
            </a:extLst>
          </p:cNvPr>
          <p:cNvPicPr>
            <a:picLocks noChangeAspect="1"/>
          </p:cNvPicPr>
          <p:nvPr/>
        </p:nvPicPr>
        <p:blipFill>
          <a:blip r:embed="rId3"/>
          <a:stretch>
            <a:fillRect/>
          </a:stretch>
        </p:blipFill>
        <p:spPr>
          <a:xfrm>
            <a:off x="5334320" y="1171548"/>
            <a:ext cx="5795493" cy="2876794"/>
          </a:xfrm>
          <a:prstGeom prst="rect">
            <a:avLst/>
          </a:prstGeom>
        </p:spPr>
      </p:pic>
      <p:pic>
        <p:nvPicPr>
          <p:cNvPr id="10" name="Picture 9">
            <a:extLst>
              <a:ext uri="{FF2B5EF4-FFF2-40B4-BE49-F238E27FC236}">
                <a16:creationId xmlns:a16="http://schemas.microsoft.com/office/drawing/2014/main" id="{DA452381-D9FB-43A4-B054-84DB023B042D}"/>
              </a:ext>
            </a:extLst>
          </p:cNvPr>
          <p:cNvPicPr>
            <a:picLocks noChangeAspect="1"/>
          </p:cNvPicPr>
          <p:nvPr/>
        </p:nvPicPr>
        <p:blipFill>
          <a:blip r:embed="rId4"/>
          <a:stretch>
            <a:fillRect/>
          </a:stretch>
        </p:blipFill>
        <p:spPr>
          <a:xfrm>
            <a:off x="5367048" y="4138003"/>
            <a:ext cx="5730039" cy="2719997"/>
          </a:xfrm>
          <a:prstGeom prst="rect">
            <a:avLst/>
          </a:prstGeom>
        </p:spPr>
      </p:pic>
      <p:cxnSp>
        <p:nvCxnSpPr>
          <p:cNvPr id="11" name="Straight Connector 10">
            <a:extLst>
              <a:ext uri="{FF2B5EF4-FFF2-40B4-BE49-F238E27FC236}">
                <a16:creationId xmlns:a16="http://schemas.microsoft.com/office/drawing/2014/main" id="{86D068FC-B45A-4903-9093-A61901C77F73}"/>
              </a:ext>
              <a:ext uri="{C183D7F6-B498-43B3-948B-1728B52AA6E4}">
                <adec:decorative xmlns:adec="http://schemas.microsoft.com/office/drawing/2017/decorative" val="1"/>
              </a:ext>
            </a:extLst>
          </p:cNvPr>
          <p:cNvCxnSpPr>
            <a:cxnSpLocks/>
          </p:cNvCxnSpPr>
          <p:nvPr/>
        </p:nvCxnSpPr>
        <p:spPr>
          <a:xfrm>
            <a:off x="0" y="318711"/>
            <a:ext cx="378188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2DC52B9-DA5D-457E-831A-49C72F07B30D}"/>
              </a:ext>
              <a:ext uri="{C183D7F6-B498-43B3-948B-1728B52AA6E4}">
                <adec:decorative xmlns:adec="http://schemas.microsoft.com/office/drawing/2017/decorative" val="1"/>
              </a:ext>
            </a:extLst>
          </p:cNvPr>
          <p:cNvCxnSpPr>
            <a:cxnSpLocks/>
          </p:cNvCxnSpPr>
          <p:nvPr/>
        </p:nvCxnSpPr>
        <p:spPr>
          <a:xfrm>
            <a:off x="8371643" y="318711"/>
            <a:ext cx="382035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4" name="Rectangle: Top Corners Rounded 13">
            <a:extLst>
              <a:ext uri="{FF2B5EF4-FFF2-40B4-BE49-F238E27FC236}">
                <a16:creationId xmlns:a16="http://schemas.microsoft.com/office/drawing/2014/main" id="{8231C0E6-EBB8-4965-B102-47CC6F0C6EDE}"/>
              </a:ext>
            </a:extLst>
          </p:cNvPr>
          <p:cNvSpPr/>
          <p:nvPr/>
        </p:nvSpPr>
        <p:spPr>
          <a:xfrm>
            <a:off x="4140323" y="642975"/>
            <a:ext cx="3787066" cy="408373"/>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Analysis Result</a:t>
            </a:r>
          </a:p>
        </p:txBody>
      </p:sp>
    </p:spTree>
    <p:extLst>
      <p:ext uri="{BB962C8B-B14F-4D97-AF65-F5344CB8AC3E}">
        <p14:creationId xmlns:p14="http://schemas.microsoft.com/office/powerpoint/2010/main" val="2033016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666C8-2542-48F9-AD67-E656427D7A84}"/>
              </a:ext>
            </a:extLst>
          </p:cNvPr>
          <p:cNvSpPr>
            <a:spLocks noGrp="1"/>
          </p:cNvSpPr>
          <p:nvPr>
            <p:ph type="title"/>
          </p:nvPr>
        </p:nvSpPr>
        <p:spPr>
          <a:xfrm>
            <a:off x="838200" y="365126"/>
            <a:ext cx="10515600" cy="157768"/>
          </a:xfrm>
        </p:spPr>
        <p:txBody>
          <a:bodyPr>
            <a:normAutofit fontScale="90000"/>
          </a:bodyPr>
          <a:lstStyle/>
          <a:p>
            <a:pPr algn="ctr"/>
            <a:r>
              <a:rPr lang="en-US" sz="2800" b="1" dirty="0"/>
              <a:t> Feature Selection</a:t>
            </a:r>
          </a:p>
        </p:txBody>
      </p:sp>
      <p:cxnSp>
        <p:nvCxnSpPr>
          <p:cNvPr id="4" name="Straight Connector 3">
            <a:extLst>
              <a:ext uri="{FF2B5EF4-FFF2-40B4-BE49-F238E27FC236}">
                <a16:creationId xmlns:a16="http://schemas.microsoft.com/office/drawing/2014/main" id="{FAAE0E05-6682-4221-88EF-A439A8772AE8}"/>
              </a:ext>
              <a:ext uri="{C183D7F6-B498-43B3-948B-1728B52AA6E4}">
                <adec:decorative xmlns:adec="http://schemas.microsoft.com/office/drawing/2017/decorative" val="1"/>
              </a:ext>
            </a:extLst>
          </p:cNvPr>
          <p:cNvCxnSpPr>
            <a:cxnSpLocks/>
          </p:cNvCxnSpPr>
          <p:nvPr/>
        </p:nvCxnSpPr>
        <p:spPr>
          <a:xfrm>
            <a:off x="0" y="522894"/>
            <a:ext cx="4669654"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85AD189-9C4F-4A5E-BAA5-0F735A9C62F8}"/>
              </a:ext>
              <a:ext uri="{C183D7F6-B498-43B3-948B-1728B52AA6E4}">
                <adec:decorative xmlns:adec="http://schemas.microsoft.com/office/drawing/2017/decorative" val="1"/>
              </a:ext>
            </a:extLst>
          </p:cNvPr>
          <p:cNvCxnSpPr>
            <a:cxnSpLocks/>
          </p:cNvCxnSpPr>
          <p:nvPr/>
        </p:nvCxnSpPr>
        <p:spPr>
          <a:xfrm>
            <a:off x="7581530" y="522894"/>
            <a:ext cx="4610470"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0" name="Rectangle: Top Corners Rounded 9">
            <a:extLst>
              <a:ext uri="{FF2B5EF4-FFF2-40B4-BE49-F238E27FC236}">
                <a16:creationId xmlns:a16="http://schemas.microsoft.com/office/drawing/2014/main" id="{B0B5B9A3-A7A7-4F5F-80D7-FB488EEA5893}"/>
              </a:ext>
            </a:extLst>
          </p:cNvPr>
          <p:cNvSpPr/>
          <p:nvPr/>
        </p:nvSpPr>
        <p:spPr>
          <a:xfrm>
            <a:off x="359546" y="849369"/>
            <a:ext cx="3555506" cy="466520"/>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Highly Co-related Feature</a:t>
            </a:r>
          </a:p>
        </p:txBody>
      </p:sp>
      <p:cxnSp>
        <p:nvCxnSpPr>
          <p:cNvPr id="12" name="Straight Arrow Connector 11">
            <a:extLst>
              <a:ext uri="{FF2B5EF4-FFF2-40B4-BE49-F238E27FC236}">
                <a16:creationId xmlns:a16="http://schemas.microsoft.com/office/drawing/2014/main" id="{30CC116A-20A5-49EB-9201-785D5763D21B}"/>
              </a:ext>
            </a:extLst>
          </p:cNvPr>
          <p:cNvCxnSpPr>
            <a:cxnSpLocks/>
            <a:stCxn id="10" idx="1"/>
          </p:cNvCxnSpPr>
          <p:nvPr/>
        </p:nvCxnSpPr>
        <p:spPr>
          <a:xfrm>
            <a:off x="2137299" y="1315889"/>
            <a:ext cx="0" cy="32647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30" name="Rectangle: Top Corners Rounded 29">
            <a:extLst>
              <a:ext uri="{FF2B5EF4-FFF2-40B4-BE49-F238E27FC236}">
                <a16:creationId xmlns:a16="http://schemas.microsoft.com/office/drawing/2014/main" id="{301BEF44-2982-446D-82C9-16F840AC54BF}"/>
              </a:ext>
            </a:extLst>
          </p:cNvPr>
          <p:cNvSpPr/>
          <p:nvPr/>
        </p:nvSpPr>
        <p:spPr>
          <a:xfrm>
            <a:off x="4318247" y="849369"/>
            <a:ext cx="7514207" cy="466520"/>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Heat Map to represent Highly Co-related Feature</a:t>
            </a:r>
          </a:p>
        </p:txBody>
      </p:sp>
      <p:pic>
        <p:nvPicPr>
          <p:cNvPr id="34" name="Picture 33">
            <a:extLst>
              <a:ext uri="{FF2B5EF4-FFF2-40B4-BE49-F238E27FC236}">
                <a16:creationId xmlns:a16="http://schemas.microsoft.com/office/drawing/2014/main" id="{CBC8EE82-3248-4944-8A9B-7C280DE67FD7}"/>
              </a:ext>
            </a:extLst>
          </p:cNvPr>
          <p:cNvPicPr>
            <a:picLocks noChangeAspect="1"/>
          </p:cNvPicPr>
          <p:nvPr/>
        </p:nvPicPr>
        <p:blipFill>
          <a:blip r:embed="rId2"/>
          <a:stretch>
            <a:fillRect/>
          </a:stretch>
        </p:blipFill>
        <p:spPr>
          <a:xfrm>
            <a:off x="4905352" y="1547905"/>
            <a:ext cx="6339995" cy="4787197"/>
          </a:xfrm>
          <a:prstGeom prst="rect">
            <a:avLst/>
          </a:prstGeom>
        </p:spPr>
      </p:pic>
      <p:cxnSp>
        <p:nvCxnSpPr>
          <p:cNvPr id="36" name="Straight Connector 35">
            <a:extLst>
              <a:ext uri="{FF2B5EF4-FFF2-40B4-BE49-F238E27FC236}">
                <a16:creationId xmlns:a16="http://schemas.microsoft.com/office/drawing/2014/main" id="{A298D11E-A0C0-451B-8C9E-C57CC270026B}"/>
              </a:ext>
            </a:extLst>
          </p:cNvPr>
          <p:cNvCxnSpPr>
            <a:cxnSpLocks/>
          </p:cNvCxnSpPr>
          <p:nvPr/>
        </p:nvCxnSpPr>
        <p:spPr>
          <a:xfrm flipH="1">
            <a:off x="1117846" y="1642359"/>
            <a:ext cx="2086253" cy="0"/>
          </a:xfrm>
          <a:prstGeom prst="line">
            <a:avLst/>
          </a:prstGeom>
          <a:ln w="19050"/>
        </p:spPr>
        <p:style>
          <a:lnRef idx="1">
            <a:schemeClr val="accent5"/>
          </a:lnRef>
          <a:fillRef idx="0">
            <a:schemeClr val="accent5"/>
          </a:fillRef>
          <a:effectRef idx="0">
            <a:schemeClr val="accent5"/>
          </a:effectRef>
          <a:fontRef idx="minor">
            <a:schemeClr val="tx1"/>
          </a:fontRef>
        </p:style>
      </p:cxnSp>
      <p:cxnSp>
        <p:nvCxnSpPr>
          <p:cNvPr id="38" name="Straight Arrow Connector 37">
            <a:extLst>
              <a:ext uri="{FF2B5EF4-FFF2-40B4-BE49-F238E27FC236}">
                <a16:creationId xmlns:a16="http://schemas.microsoft.com/office/drawing/2014/main" id="{5F401508-958E-4556-8E02-CF4ED0071900}"/>
              </a:ext>
            </a:extLst>
          </p:cNvPr>
          <p:cNvCxnSpPr>
            <a:cxnSpLocks/>
          </p:cNvCxnSpPr>
          <p:nvPr/>
        </p:nvCxnSpPr>
        <p:spPr>
          <a:xfrm>
            <a:off x="1117846" y="1642359"/>
            <a:ext cx="0" cy="32647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39" name="Straight Arrow Connector 38">
            <a:extLst>
              <a:ext uri="{FF2B5EF4-FFF2-40B4-BE49-F238E27FC236}">
                <a16:creationId xmlns:a16="http://schemas.microsoft.com/office/drawing/2014/main" id="{C62E555E-B9F8-48F6-8A35-05AAE87F7BDA}"/>
              </a:ext>
            </a:extLst>
          </p:cNvPr>
          <p:cNvCxnSpPr>
            <a:cxnSpLocks/>
          </p:cNvCxnSpPr>
          <p:nvPr/>
        </p:nvCxnSpPr>
        <p:spPr>
          <a:xfrm>
            <a:off x="3204099" y="1642359"/>
            <a:ext cx="0" cy="32647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42" name="Rectangle: Rounded Corners 41">
            <a:extLst>
              <a:ext uri="{FF2B5EF4-FFF2-40B4-BE49-F238E27FC236}">
                <a16:creationId xmlns:a16="http://schemas.microsoft.com/office/drawing/2014/main" id="{32E5ADEF-669C-444E-89F1-B7ACB2D4E35F}"/>
              </a:ext>
            </a:extLst>
          </p:cNvPr>
          <p:cNvSpPr/>
          <p:nvPr/>
        </p:nvSpPr>
        <p:spPr>
          <a:xfrm>
            <a:off x="488271" y="1978160"/>
            <a:ext cx="1367161" cy="39061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Club House</a:t>
            </a:r>
          </a:p>
        </p:txBody>
      </p:sp>
      <p:sp>
        <p:nvSpPr>
          <p:cNvPr id="43" name="Rectangle: Rounded Corners 42">
            <a:extLst>
              <a:ext uri="{FF2B5EF4-FFF2-40B4-BE49-F238E27FC236}">
                <a16:creationId xmlns:a16="http://schemas.microsoft.com/office/drawing/2014/main" id="{F1C31834-CBEF-4D6C-9BEB-28E824EB9A60}"/>
              </a:ext>
            </a:extLst>
          </p:cNvPr>
          <p:cNvSpPr/>
          <p:nvPr/>
        </p:nvSpPr>
        <p:spPr>
          <a:xfrm>
            <a:off x="2137299" y="1968836"/>
            <a:ext cx="1750379" cy="39060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24 </a:t>
            </a:r>
            <a:r>
              <a:rPr lang="en-US" b="1" dirty="0" err="1"/>
              <a:t>hr</a:t>
            </a:r>
            <a:r>
              <a:rPr lang="en-US" b="1" dirty="0"/>
              <a:t> Security</a:t>
            </a:r>
          </a:p>
        </p:txBody>
      </p:sp>
    </p:spTree>
    <p:extLst>
      <p:ext uri="{BB962C8B-B14F-4D97-AF65-F5344CB8AC3E}">
        <p14:creationId xmlns:p14="http://schemas.microsoft.com/office/powerpoint/2010/main" val="3877937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18AEC-15F4-4887-8830-92C120E5E8DD}"/>
              </a:ext>
            </a:extLst>
          </p:cNvPr>
          <p:cNvSpPr>
            <a:spLocks noGrp="1"/>
          </p:cNvSpPr>
          <p:nvPr>
            <p:ph type="title"/>
          </p:nvPr>
        </p:nvSpPr>
        <p:spPr>
          <a:xfrm>
            <a:off x="838200" y="338492"/>
            <a:ext cx="10515600" cy="336211"/>
          </a:xfrm>
        </p:spPr>
        <p:txBody>
          <a:bodyPr>
            <a:normAutofit fontScale="90000"/>
          </a:bodyPr>
          <a:lstStyle/>
          <a:p>
            <a:pPr algn="ctr"/>
            <a:r>
              <a:rPr lang="en-US" sz="2800" b="1" dirty="0"/>
              <a:t>Data Transformation</a:t>
            </a:r>
          </a:p>
        </p:txBody>
      </p:sp>
      <p:cxnSp>
        <p:nvCxnSpPr>
          <p:cNvPr id="3" name="Straight Connector 2">
            <a:extLst>
              <a:ext uri="{FF2B5EF4-FFF2-40B4-BE49-F238E27FC236}">
                <a16:creationId xmlns:a16="http://schemas.microsoft.com/office/drawing/2014/main" id="{17D00404-28E6-44B2-8E43-FB1A323F5B20}"/>
              </a:ext>
              <a:ext uri="{C183D7F6-B498-43B3-948B-1728B52AA6E4}">
                <adec:decorative xmlns:adec="http://schemas.microsoft.com/office/drawing/2017/decorative" val="1"/>
              </a:ext>
            </a:extLst>
          </p:cNvPr>
          <p:cNvCxnSpPr>
            <a:cxnSpLocks/>
          </p:cNvCxnSpPr>
          <p:nvPr/>
        </p:nvCxnSpPr>
        <p:spPr>
          <a:xfrm>
            <a:off x="0" y="674703"/>
            <a:ext cx="444771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779CEE0-9F26-4A49-B64E-57AE9572C796}"/>
              </a:ext>
              <a:ext uri="{C183D7F6-B498-43B3-948B-1728B52AA6E4}">
                <adec:decorative xmlns:adec="http://schemas.microsoft.com/office/drawing/2017/decorative" val="1"/>
              </a:ext>
            </a:extLst>
          </p:cNvPr>
          <p:cNvCxnSpPr>
            <a:cxnSpLocks/>
          </p:cNvCxnSpPr>
          <p:nvPr/>
        </p:nvCxnSpPr>
        <p:spPr>
          <a:xfrm>
            <a:off x="7750206" y="673814"/>
            <a:ext cx="444179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25" name="Rectangle: Top Corners Rounded 24">
            <a:extLst>
              <a:ext uri="{FF2B5EF4-FFF2-40B4-BE49-F238E27FC236}">
                <a16:creationId xmlns:a16="http://schemas.microsoft.com/office/drawing/2014/main" id="{28BC14A8-447A-4BDC-AEC2-07A36E64D5DF}"/>
              </a:ext>
            </a:extLst>
          </p:cNvPr>
          <p:cNvSpPr/>
          <p:nvPr/>
        </p:nvSpPr>
        <p:spPr>
          <a:xfrm>
            <a:off x="280184" y="879167"/>
            <a:ext cx="4167530" cy="568124"/>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Feature Scaling</a:t>
            </a:r>
          </a:p>
        </p:txBody>
      </p:sp>
      <p:cxnSp>
        <p:nvCxnSpPr>
          <p:cNvPr id="27" name="Straight Arrow Connector 26">
            <a:extLst>
              <a:ext uri="{FF2B5EF4-FFF2-40B4-BE49-F238E27FC236}">
                <a16:creationId xmlns:a16="http://schemas.microsoft.com/office/drawing/2014/main" id="{5E05D7DD-AB7A-4C7D-B31F-05A0D3EDA6B1}"/>
              </a:ext>
            </a:extLst>
          </p:cNvPr>
          <p:cNvCxnSpPr>
            <a:cxnSpLocks/>
            <a:stCxn id="25" idx="1"/>
          </p:cNvCxnSpPr>
          <p:nvPr/>
        </p:nvCxnSpPr>
        <p:spPr>
          <a:xfrm>
            <a:off x="2363949" y="1447291"/>
            <a:ext cx="0" cy="308770"/>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sp>
        <p:nvSpPr>
          <p:cNvPr id="29" name="Rectangle: Rounded Corners 28">
            <a:extLst>
              <a:ext uri="{FF2B5EF4-FFF2-40B4-BE49-F238E27FC236}">
                <a16:creationId xmlns:a16="http://schemas.microsoft.com/office/drawing/2014/main" id="{AF296AEE-022B-40ED-A077-6FDD4AB479BD}"/>
              </a:ext>
            </a:extLst>
          </p:cNvPr>
          <p:cNvSpPr/>
          <p:nvPr/>
        </p:nvSpPr>
        <p:spPr>
          <a:xfrm>
            <a:off x="443886" y="1793559"/>
            <a:ext cx="3888417" cy="197972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sz="1400" dirty="0">
                <a:solidFill>
                  <a:schemeClr val="bg1"/>
                </a:solidFill>
                <a:latin typeface="arial" panose="020B0604020202020204" pitchFamily="34" charset="0"/>
              </a:rPr>
              <a:t>F</a:t>
            </a:r>
            <a:r>
              <a:rPr lang="en-US" sz="1400" i="0" dirty="0">
                <a:solidFill>
                  <a:schemeClr val="bg1"/>
                </a:solidFill>
                <a:effectLst/>
                <a:latin typeface="arial" panose="020B0604020202020204" pitchFamily="34" charset="0"/>
              </a:rPr>
              <a:t>eatures</a:t>
            </a:r>
            <a:r>
              <a:rPr lang="en-US" sz="1400" b="0" i="0" dirty="0">
                <a:solidFill>
                  <a:schemeClr val="bg1"/>
                </a:solidFill>
                <a:effectLst/>
                <a:latin typeface="arial" panose="020B0604020202020204" pitchFamily="34" charset="0"/>
              </a:rPr>
              <a:t> with varying degrees of magnitude and range will cause different step sizes for each </a:t>
            </a:r>
            <a:r>
              <a:rPr lang="en-US" sz="1400" i="0" dirty="0">
                <a:solidFill>
                  <a:schemeClr val="bg1"/>
                </a:solidFill>
                <a:effectLst/>
                <a:latin typeface="arial" panose="020B0604020202020204" pitchFamily="34" charset="0"/>
              </a:rPr>
              <a:t>feature</a:t>
            </a:r>
            <a:r>
              <a:rPr lang="en-US" sz="1400" b="0" i="0" dirty="0">
                <a:solidFill>
                  <a:schemeClr val="bg1"/>
                </a:solidFill>
                <a:effectLst/>
                <a:latin typeface="arial" panose="020B0604020202020204" pitchFamily="34" charset="0"/>
              </a:rPr>
              <a:t>. Therefore, to ensure that gradient descent converges more smoothly and quickly, we need to </a:t>
            </a:r>
            <a:r>
              <a:rPr lang="en-US" sz="1400" i="0" dirty="0">
                <a:solidFill>
                  <a:schemeClr val="bg1"/>
                </a:solidFill>
                <a:effectLst/>
                <a:latin typeface="arial" panose="020B0604020202020204" pitchFamily="34" charset="0"/>
              </a:rPr>
              <a:t>scale</a:t>
            </a:r>
            <a:r>
              <a:rPr lang="en-US" sz="1400" b="0" i="0" dirty="0">
                <a:solidFill>
                  <a:schemeClr val="bg1"/>
                </a:solidFill>
                <a:effectLst/>
                <a:latin typeface="arial" panose="020B0604020202020204" pitchFamily="34" charset="0"/>
              </a:rPr>
              <a:t> our </a:t>
            </a:r>
            <a:r>
              <a:rPr lang="en-US" sz="1400" i="0" dirty="0">
                <a:solidFill>
                  <a:schemeClr val="bg1"/>
                </a:solidFill>
                <a:effectLst/>
                <a:latin typeface="arial" panose="020B0604020202020204" pitchFamily="34" charset="0"/>
              </a:rPr>
              <a:t>features</a:t>
            </a:r>
            <a:r>
              <a:rPr lang="en-US" sz="1400" b="0" i="0" dirty="0">
                <a:solidFill>
                  <a:schemeClr val="bg1"/>
                </a:solidFill>
                <a:effectLst/>
                <a:latin typeface="arial" panose="020B0604020202020204" pitchFamily="34" charset="0"/>
              </a:rPr>
              <a:t> so that they share a similar </a:t>
            </a:r>
            <a:r>
              <a:rPr lang="en-US" sz="1400" i="0" dirty="0">
                <a:solidFill>
                  <a:schemeClr val="bg1"/>
                </a:solidFill>
                <a:effectLst/>
                <a:latin typeface="arial" panose="020B0604020202020204" pitchFamily="34" charset="0"/>
              </a:rPr>
              <a:t>scale.</a:t>
            </a:r>
            <a:endParaRPr lang="en-US" sz="1400" dirty="0">
              <a:solidFill>
                <a:schemeClr val="bg1"/>
              </a:solidFill>
            </a:endParaRPr>
          </a:p>
        </p:txBody>
      </p:sp>
      <p:pic>
        <p:nvPicPr>
          <p:cNvPr id="32" name="Picture 31">
            <a:extLst>
              <a:ext uri="{FF2B5EF4-FFF2-40B4-BE49-F238E27FC236}">
                <a16:creationId xmlns:a16="http://schemas.microsoft.com/office/drawing/2014/main" id="{15483989-E142-43E3-A8D5-9218A859B705}"/>
              </a:ext>
            </a:extLst>
          </p:cNvPr>
          <p:cNvPicPr>
            <a:picLocks noChangeAspect="1"/>
          </p:cNvPicPr>
          <p:nvPr/>
        </p:nvPicPr>
        <p:blipFill>
          <a:blip r:embed="rId2"/>
          <a:stretch>
            <a:fillRect/>
          </a:stretch>
        </p:blipFill>
        <p:spPr>
          <a:xfrm>
            <a:off x="1716665" y="4021587"/>
            <a:ext cx="1230720" cy="2696521"/>
          </a:xfrm>
          <a:prstGeom prst="rect">
            <a:avLst/>
          </a:prstGeom>
        </p:spPr>
      </p:pic>
      <p:cxnSp>
        <p:nvCxnSpPr>
          <p:cNvPr id="34" name="Straight Arrow Connector 33">
            <a:extLst>
              <a:ext uri="{FF2B5EF4-FFF2-40B4-BE49-F238E27FC236}">
                <a16:creationId xmlns:a16="http://schemas.microsoft.com/office/drawing/2014/main" id="{68B215DE-62BB-4555-BBF9-F6BA02BCD94A}"/>
              </a:ext>
            </a:extLst>
          </p:cNvPr>
          <p:cNvCxnSpPr>
            <a:cxnSpLocks/>
          </p:cNvCxnSpPr>
          <p:nvPr/>
        </p:nvCxnSpPr>
        <p:spPr>
          <a:xfrm>
            <a:off x="2363949" y="3773286"/>
            <a:ext cx="0" cy="204464"/>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35" name="Rectangle: Top Corners Rounded 34">
            <a:extLst>
              <a:ext uri="{FF2B5EF4-FFF2-40B4-BE49-F238E27FC236}">
                <a16:creationId xmlns:a16="http://schemas.microsoft.com/office/drawing/2014/main" id="{529C9338-B9C8-41C3-A1CE-E3C507BAF28A}"/>
              </a:ext>
            </a:extLst>
          </p:cNvPr>
          <p:cNvSpPr/>
          <p:nvPr/>
        </p:nvSpPr>
        <p:spPr>
          <a:xfrm>
            <a:off x="5865718" y="857247"/>
            <a:ext cx="4167530" cy="568124"/>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Data Encoding</a:t>
            </a:r>
          </a:p>
        </p:txBody>
      </p:sp>
      <p:cxnSp>
        <p:nvCxnSpPr>
          <p:cNvPr id="37" name="Straight Arrow Connector 36">
            <a:extLst>
              <a:ext uri="{FF2B5EF4-FFF2-40B4-BE49-F238E27FC236}">
                <a16:creationId xmlns:a16="http://schemas.microsoft.com/office/drawing/2014/main" id="{75106D9D-B4A5-47D3-A26E-7628589267B6}"/>
              </a:ext>
            </a:extLst>
          </p:cNvPr>
          <p:cNvCxnSpPr>
            <a:cxnSpLocks/>
          </p:cNvCxnSpPr>
          <p:nvPr/>
        </p:nvCxnSpPr>
        <p:spPr>
          <a:xfrm>
            <a:off x="7878462" y="1434711"/>
            <a:ext cx="0" cy="308770"/>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sp>
        <p:nvSpPr>
          <p:cNvPr id="38" name="Rectangle: Rounded Corners 37">
            <a:extLst>
              <a:ext uri="{FF2B5EF4-FFF2-40B4-BE49-F238E27FC236}">
                <a16:creationId xmlns:a16="http://schemas.microsoft.com/office/drawing/2014/main" id="{E6DDD34A-E7B9-466B-8867-3FDF5D37DEFE}"/>
              </a:ext>
            </a:extLst>
          </p:cNvPr>
          <p:cNvSpPr/>
          <p:nvPr/>
        </p:nvSpPr>
        <p:spPr>
          <a:xfrm>
            <a:off x="6095999" y="1752821"/>
            <a:ext cx="3669435" cy="177526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sz="1400" b="0" i="0" dirty="0">
                <a:solidFill>
                  <a:schemeClr val="bg1"/>
                </a:solidFill>
                <a:effectLst/>
                <a:latin typeface="arial" panose="020B0604020202020204" pitchFamily="34" charset="0"/>
              </a:rPr>
              <a:t>That most </a:t>
            </a:r>
            <a:r>
              <a:rPr lang="en-US" sz="1400" b="1" i="0" dirty="0">
                <a:solidFill>
                  <a:schemeClr val="bg1"/>
                </a:solidFill>
                <a:effectLst/>
                <a:latin typeface="arial" panose="020B0604020202020204" pitchFamily="34" charset="0"/>
              </a:rPr>
              <a:t>machine </a:t>
            </a:r>
            <a:r>
              <a:rPr lang="en-US" sz="1400" i="0" dirty="0">
                <a:solidFill>
                  <a:schemeClr val="bg1"/>
                </a:solidFill>
                <a:effectLst/>
                <a:latin typeface="arial" panose="020B0604020202020204" pitchFamily="34" charset="0"/>
              </a:rPr>
              <a:t>learning</a:t>
            </a:r>
            <a:r>
              <a:rPr lang="en-US" sz="1400" b="0" i="0" dirty="0">
                <a:solidFill>
                  <a:schemeClr val="bg1"/>
                </a:solidFill>
                <a:effectLst/>
                <a:latin typeface="arial" panose="020B0604020202020204" pitchFamily="34" charset="0"/>
              </a:rPr>
              <a:t> algorithms require numerical input and output variables. That an integer and one hot </a:t>
            </a:r>
            <a:r>
              <a:rPr lang="en-US" sz="1400" i="0" dirty="0">
                <a:solidFill>
                  <a:schemeClr val="bg1"/>
                </a:solidFill>
                <a:effectLst/>
                <a:latin typeface="arial" panose="020B0604020202020204" pitchFamily="34" charset="0"/>
              </a:rPr>
              <a:t>encoding</a:t>
            </a:r>
            <a:r>
              <a:rPr lang="en-US" sz="1400" b="0" i="0" dirty="0">
                <a:solidFill>
                  <a:schemeClr val="bg1"/>
                </a:solidFill>
                <a:effectLst/>
                <a:latin typeface="arial" panose="020B0604020202020204" pitchFamily="34" charset="0"/>
              </a:rPr>
              <a:t> is used to convert categorical data to integer data.</a:t>
            </a:r>
            <a:endParaRPr lang="en-US" sz="1400" dirty="0">
              <a:solidFill>
                <a:schemeClr val="bg1"/>
              </a:solidFill>
            </a:endParaRPr>
          </a:p>
        </p:txBody>
      </p:sp>
      <p:pic>
        <p:nvPicPr>
          <p:cNvPr id="42" name="Picture 41">
            <a:extLst>
              <a:ext uri="{FF2B5EF4-FFF2-40B4-BE49-F238E27FC236}">
                <a16:creationId xmlns:a16="http://schemas.microsoft.com/office/drawing/2014/main" id="{94085F3D-BF4C-4477-9084-2063E827D7EA}"/>
              </a:ext>
            </a:extLst>
          </p:cNvPr>
          <p:cNvPicPr>
            <a:picLocks noChangeAspect="1"/>
          </p:cNvPicPr>
          <p:nvPr/>
        </p:nvPicPr>
        <p:blipFill>
          <a:blip r:embed="rId3"/>
          <a:stretch>
            <a:fillRect/>
          </a:stretch>
        </p:blipFill>
        <p:spPr>
          <a:xfrm>
            <a:off x="5388169" y="3875518"/>
            <a:ext cx="5122628" cy="2484666"/>
          </a:xfrm>
          <a:prstGeom prst="rect">
            <a:avLst/>
          </a:prstGeom>
        </p:spPr>
      </p:pic>
      <p:cxnSp>
        <p:nvCxnSpPr>
          <p:cNvPr id="10" name="Straight Arrow Connector 9">
            <a:extLst>
              <a:ext uri="{FF2B5EF4-FFF2-40B4-BE49-F238E27FC236}">
                <a16:creationId xmlns:a16="http://schemas.microsoft.com/office/drawing/2014/main" id="{F7669140-9DA4-475F-9506-8FD15F5C123E}"/>
              </a:ext>
            </a:extLst>
          </p:cNvPr>
          <p:cNvCxnSpPr>
            <a:stCxn id="38" idx="2"/>
          </p:cNvCxnSpPr>
          <p:nvPr/>
        </p:nvCxnSpPr>
        <p:spPr>
          <a:xfrm flipH="1">
            <a:off x="7930716" y="3528084"/>
            <a:ext cx="1" cy="347434"/>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522929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49F2278-4B9F-459A-A16C-D853C29F79EB}"/>
              </a:ext>
            </a:extLst>
          </p:cNvPr>
          <p:cNvSpPr>
            <a:spLocks noGrp="1"/>
          </p:cNvSpPr>
          <p:nvPr>
            <p:ph type="title"/>
          </p:nvPr>
        </p:nvSpPr>
        <p:spPr>
          <a:xfrm>
            <a:off x="838200" y="186431"/>
            <a:ext cx="10515600" cy="337351"/>
          </a:xfrm>
        </p:spPr>
        <p:txBody>
          <a:bodyPr>
            <a:noAutofit/>
          </a:bodyPr>
          <a:lstStyle/>
          <a:p>
            <a:pPr algn="ctr"/>
            <a:r>
              <a:rPr lang="en-US" sz="2800" b="1" dirty="0"/>
              <a:t>Data Transformation</a:t>
            </a:r>
          </a:p>
        </p:txBody>
      </p:sp>
      <p:cxnSp>
        <p:nvCxnSpPr>
          <p:cNvPr id="5" name="Straight Connector 4">
            <a:extLst>
              <a:ext uri="{FF2B5EF4-FFF2-40B4-BE49-F238E27FC236}">
                <a16:creationId xmlns:a16="http://schemas.microsoft.com/office/drawing/2014/main" id="{F8D2BED2-A3C9-45CA-8492-C8F353716A98}"/>
              </a:ext>
              <a:ext uri="{C183D7F6-B498-43B3-948B-1728B52AA6E4}">
                <adec:decorative xmlns:adec="http://schemas.microsoft.com/office/drawing/2017/decorative" val="1"/>
              </a:ext>
            </a:extLst>
          </p:cNvPr>
          <p:cNvCxnSpPr>
            <a:cxnSpLocks/>
          </p:cNvCxnSpPr>
          <p:nvPr/>
        </p:nvCxnSpPr>
        <p:spPr>
          <a:xfrm>
            <a:off x="0" y="523783"/>
            <a:ext cx="4208016"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B23728B-7C4D-496E-9B1A-292C59A78173}"/>
              </a:ext>
              <a:ext uri="{C183D7F6-B498-43B3-948B-1728B52AA6E4}">
                <adec:decorative xmlns:adec="http://schemas.microsoft.com/office/drawing/2017/decorative" val="1"/>
              </a:ext>
            </a:extLst>
          </p:cNvPr>
          <p:cNvCxnSpPr>
            <a:cxnSpLocks/>
          </p:cNvCxnSpPr>
          <p:nvPr/>
        </p:nvCxnSpPr>
        <p:spPr>
          <a:xfrm>
            <a:off x="7918882" y="523783"/>
            <a:ext cx="4273118"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9" name="Rectangle: Top Corners Rounded 8">
            <a:extLst>
              <a:ext uri="{FF2B5EF4-FFF2-40B4-BE49-F238E27FC236}">
                <a16:creationId xmlns:a16="http://schemas.microsoft.com/office/drawing/2014/main" id="{A5A28320-D19F-4B39-8F88-D0340B8B3BA6}"/>
              </a:ext>
            </a:extLst>
          </p:cNvPr>
          <p:cNvSpPr/>
          <p:nvPr/>
        </p:nvSpPr>
        <p:spPr>
          <a:xfrm>
            <a:off x="635291" y="790391"/>
            <a:ext cx="4167530" cy="568124"/>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Splitting Dataset</a:t>
            </a:r>
          </a:p>
        </p:txBody>
      </p:sp>
      <p:cxnSp>
        <p:nvCxnSpPr>
          <p:cNvPr id="10" name="Straight Arrow Connector 9">
            <a:extLst>
              <a:ext uri="{FF2B5EF4-FFF2-40B4-BE49-F238E27FC236}">
                <a16:creationId xmlns:a16="http://schemas.microsoft.com/office/drawing/2014/main" id="{C7CFBFC6-3072-4495-B0E1-BE4E7E731E97}"/>
              </a:ext>
            </a:extLst>
          </p:cNvPr>
          <p:cNvCxnSpPr>
            <a:cxnSpLocks/>
          </p:cNvCxnSpPr>
          <p:nvPr/>
        </p:nvCxnSpPr>
        <p:spPr>
          <a:xfrm>
            <a:off x="2674667" y="1358515"/>
            <a:ext cx="0" cy="308770"/>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sp>
        <p:nvSpPr>
          <p:cNvPr id="12" name="TextBox 11">
            <a:extLst>
              <a:ext uri="{FF2B5EF4-FFF2-40B4-BE49-F238E27FC236}">
                <a16:creationId xmlns:a16="http://schemas.microsoft.com/office/drawing/2014/main" id="{ABBF4081-F917-4E56-918E-75E3A95B70B3}"/>
              </a:ext>
            </a:extLst>
          </p:cNvPr>
          <p:cNvSpPr txBox="1"/>
          <p:nvPr/>
        </p:nvSpPr>
        <p:spPr>
          <a:xfrm>
            <a:off x="345489" y="1667285"/>
            <a:ext cx="6103398" cy="646331"/>
          </a:xfrm>
          <a:prstGeom prst="rect">
            <a:avLst/>
          </a:prstGeom>
          <a:noFill/>
        </p:spPr>
        <p:txBody>
          <a:bodyPr wrap="square">
            <a:spAutoFit/>
          </a:bodyPr>
          <a:lstStyle/>
          <a:p>
            <a:r>
              <a:rPr lang="en-US" b="1" i="0" dirty="0">
                <a:solidFill>
                  <a:srgbClr val="202124"/>
                </a:solidFill>
                <a:effectLst/>
                <a:latin typeface="arial" panose="020B0604020202020204" pitchFamily="34" charset="0"/>
              </a:rPr>
              <a:t>Training set</a:t>
            </a:r>
            <a:r>
              <a:rPr lang="en-US" b="0" i="0" dirty="0">
                <a:solidFill>
                  <a:srgbClr val="202124"/>
                </a:solidFill>
                <a:effectLst/>
                <a:latin typeface="arial" panose="020B0604020202020204" pitchFamily="34" charset="0"/>
              </a:rPr>
              <a:t> is the one on which we </a:t>
            </a:r>
            <a:r>
              <a:rPr lang="en-US" b="1" i="0" dirty="0">
                <a:solidFill>
                  <a:srgbClr val="202124"/>
                </a:solidFill>
                <a:effectLst/>
                <a:latin typeface="arial" panose="020B0604020202020204" pitchFamily="34" charset="0"/>
              </a:rPr>
              <a:t>train</a:t>
            </a:r>
            <a:r>
              <a:rPr lang="en-US" b="0" i="0" dirty="0">
                <a:solidFill>
                  <a:srgbClr val="202124"/>
                </a:solidFill>
                <a:effectLst/>
                <a:latin typeface="arial" panose="020B0604020202020204" pitchFamily="34" charset="0"/>
              </a:rPr>
              <a:t> and fit our model basically to fit the parameters</a:t>
            </a:r>
            <a:endParaRPr lang="en-US" dirty="0"/>
          </a:p>
        </p:txBody>
      </p:sp>
      <p:sp>
        <p:nvSpPr>
          <p:cNvPr id="13" name="Rectangle: Rounded Corners 12">
            <a:extLst>
              <a:ext uri="{FF2B5EF4-FFF2-40B4-BE49-F238E27FC236}">
                <a16:creationId xmlns:a16="http://schemas.microsoft.com/office/drawing/2014/main" id="{E6A9BDD0-7477-4A5D-A1D7-B3A45C04C1DF}"/>
              </a:ext>
            </a:extLst>
          </p:cNvPr>
          <p:cNvSpPr/>
          <p:nvPr/>
        </p:nvSpPr>
        <p:spPr>
          <a:xfrm>
            <a:off x="186431" y="1667284"/>
            <a:ext cx="5592932" cy="1288979"/>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i="0" dirty="0">
                <a:solidFill>
                  <a:schemeClr val="bg1"/>
                </a:solidFill>
                <a:effectLst/>
                <a:latin typeface="arial" panose="020B0604020202020204" pitchFamily="34" charset="0"/>
              </a:rPr>
              <a:t>Training set</a:t>
            </a:r>
            <a:r>
              <a:rPr lang="en-US" b="0" i="0" dirty="0">
                <a:solidFill>
                  <a:schemeClr val="bg1"/>
                </a:solidFill>
                <a:effectLst/>
                <a:latin typeface="arial" panose="020B0604020202020204" pitchFamily="34" charset="0"/>
              </a:rPr>
              <a:t> is the one on which we </a:t>
            </a:r>
            <a:r>
              <a:rPr lang="en-US" i="0" dirty="0">
                <a:solidFill>
                  <a:schemeClr val="bg1"/>
                </a:solidFill>
                <a:effectLst/>
                <a:latin typeface="arial" panose="020B0604020202020204" pitchFamily="34" charset="0"/>
              </a:rPr>
              <a:t>train </a:t>
            </a:r>
            <a:r>
              <a:rPr lang="en-US" b="0" i="0" dirty="0">
                <a:solidFill>
                  <a:schemeClr val="bg1"/>
                </a:solidFill>
                <a:effectLst/>
                <a:latin typeface="arial" panose="020B0604020202020204" pitchFamily="34" charset="0"/>
              </a:rPr>
              <a:t>and fit our model basically to fit the parameters</a:t>
            </a:r>
            <a:endParaRPr lang="en-US" dirty="0">
              <a:solidFill>
                <a:schemeClr val="bg1"/>
              </a:solidFill>
              <a:latin typeface="arial" panose="020B0604020202020204" pitchFamily="34" charset="0"/>
            </a:endParaRPr>
          </a:p>
          <a:p>
            <a:pPr algn="ctr"/>
            <a:r>
              <a:rPr lang="en-US" b="1" dirty="0">
                <a:solidFill>
                  <a:schemeClr val="bg1"/>
                </a:solidFill>
                <a:latin typeface="arial" panose="020B0604020202020204" pitchFamily="34" charset="0"/>
              </a:rPr>
              <a:t>T</a:t>
            </a:r>
            <a:r>
              <a:rPr lang="en-US" b="1" i="0" dirty="0">
                <a:solidFill>
                  <a:schemeClr val="bg1"/>
                </a:solidFill>
                <a:effectLst/>
                <a:latin typeface="arial" panose="020B0604020202020204" pitchFamily="34" charset="0"/>
              </a:rPr>
              <a:t>est data</a:t>
            </a:r>
            <a:r>
              <a:rPr lang="en-US" b="0" i="0" dirty="0">
                <a:solidFill>
                  <a:schemeClr val="bg1"/>
                </a:solidFill>
                <a:effectLst/>
                <a:latin typeface="arial" panose="020B0604020202020204" pitchFamily="34" charset="0"/>
              </a:rPr>
              <a:t> is used only to assess performance of model</a:t>
            </a:r>
          </a:p>
        </p:txBody>
      </p:sp>
      <p:cxnSp>
        <p:nvCxnSpPr>
          <p:cNvPr id="16" name="Straight Arrow Connector 15">
            <a:extLst>
              <a:ext uri="{FF2B5EF4-FFF2-40B4-BE49-F238E27FC236}">
                <a16:creationId xmlns:a16="http://schemas.microsoft.com/office/drawing/2014/main" id="{BEDEA880-D462-497C-B8C4-11C00DC7291B}"/>
              </a:ext>
            </a:extLst>
          </p:cNvPr>
          <p:cNvCxnSpPr>
            <a:cxnSpLocks/>
          </p:cNvCxnSpPr>
          <p:nvPr/>
        </p:nvCxnSpPr>
        <p:spPr>
          <a:xfrm>
            <a:off x="2678635" y="2956263"/>
            <a:ext cx="0" cy="308770"/>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pic>
        <p:nvPicPr>
          <p:cNvPr id="18" name="Picture 17">
            <a:extLst>
              <a:ext uri="{FF2B5EF4-FFF2-40B4-BE49-F238E27FC236}">
                <a16:creationId xmlns:a16="http://schemas.microsoft.com/office/drawing/2014/main" id="{F3116479-F62C-4C48-871C-FBB00FA792DC}"/>
              </a:ext>
            </a:extLst>
          </p:cNvPr>
          <p:cNvPicPr>
            <a:picLocks noChangeAspect="1"/>
          </p:cNvPicPr>
          <p:nvPr/>
        </p:nvPicPr>
        <p:blipFill>
          <a:blip r:embed="rId2"/>
          <a:stretch>
            <a:fillRect/>
          </a:stretch>
        </p:blipFill>
        <p:spPr>
          <a:xfrm>
            <a:off x="1685593" y="3308258"/>
            <a:ext cx="2066925" cy="695325"/>
          </a:xfrm>
          <a:prstGeom prst="rect">
            <a:avLst/>
          </a:prstGeom>
        </p:spPr>
      </p:pic>
      <p:sp>
        <p:nvSpPr>
          <p:cNvPr id="21" name="Rectangle: Top Corners Rounded 20">
            <a:extLst>
              <a:ext uri="{FF2B5EF4-FFF2-40B4-BE49-F238E27FC236}">
                <a16:creationId xmlns:a16="http://schemas.microsoft.com/office/drawing/2014/main" id="{35CA6740-833C-4B0C-AD01-A85F293F19DD}"/>
              </a:ext>
            </a:extLst>
          </p:cNvPr>
          <p:cNvSpPr/>
          <p:nvPr/>
        </p:nvSpPr>
        <p:spPr>
          <a:xfrm>
            <a:off x="6842197" y="790391"/>
            <a:ext cx="4167530" cy="568124"/>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Label Encoding</a:t>
            </a:r>
          </a:p>
        </p:txBody>
      </p:sp>
      <p:cxnSp>
        <p:nvCxnSpPr>
          <p:cNvPr id="22" name="Straight Arrow Connector 21">
            <a:extLst>
              <a:ext uri="{FF2B5EF4-FFF2-40B4-BE49-F238E27FC236}">
                <a16:creationId xmlns:a16="http://schemas.microsoft.com/office/drawing/2014/main" id="{2C15017F-38C8-4A2D-9596-6BCE5F5A1F7E}"/>
              </a:ext>
            </a:extLst>
          </p:cNvPr>
          <p:cNvCxnSpPr>
            <a:cxnSpLocks/>
          </p:cNvCxnSpPr>
          <p:nvPr/>
        </p:nvCxnSpPr>
        <p:spPr>
          <a:xfrm>
            <a:off x="8757350" y="1358515"/>
            <a:ext cx="0" cy="308770"/>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sp>
        <p:nvSpPr>
          <p:cNvPr id="27" name="Rectangle: Rounded Corners 26">
            <a:extLst>
              <a:ext uri="{FF2B5EF4-FFF2-40B4-BE49-F238E27FC236}">
                <a16:creationId xmlns:a16="http://schemas.microsoft.com/office/drawing/2014/main" id="{FF207120-7302-4EB6-B281-A955BE50D0F1}"/>
              </a:ext>
            </a:extLst>
          </p:cNvPr>
          <p:cNvSpPr/>
          <p:nvPr/>
        </p:nvSpPr>
        <p:spPr>
          <a:xfrm>
            <a:off x="6755947" y="1687555"/>
            <a:ext cx="4370288" cy="128897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i="0" dirty="0" err="1">
                <a:solidFill>
                  <a:schemeClr val="bg1"/>
                </a:solidFill>
                <a:effectLst/>
                <a:latin typeface="arial" panose="020B0604020202020204" pitchFamily="34" charset="0"/>
              </a:rPr>
              <a:t>LabelEncoder</a:t>
            </a:r>
            <a:r>
              <a:rPr lang="en-US" b="1" i="0" dirty="0">
                <a:solidFill>
                  <a:schemeClr val="bg1"/>
                </a:solidFill>
                <a:effectLst/>
                <a:latin typeface="arial" panose="020B0604020202020204" pitchFamily="34" charset="0"/>
              </a:rPr>
              <a:t> encode labels</a:t>
            </a:r>
            <a:r>
              <a:rPr lang="en-US" b="0" i="0" dirty="0">
                <a:solidFill>
                  <a:schemeClr val="bg1"/>
                </a:solidFill>
                <a:effectLst/>
                <a:latin typeface="arial" panose="020B0604020202020204" pitchFamily="34" charset="0"/>
              </a:rPr>
              <a:t> with a value between 0 and n_classes-1 where n is the number of distinct </a:t>
            </a:r>
            <a:r>
              <a:rPr lang="en-US" b="1" i="0" dirty="0">
                <a:solidFill>
                  <a:schemeClr val="bg1"/>
                </a:solidFill>
                <a:effectLst/>
                <a:latin typeface="arial" panose="020B0604020202020204" pitchFamily="34" charset="0"/>
              </a:rPr>
              <a:t>labels</a:t>
            </a:r>
            <a:endParaRPr lang="en-US" dirty="0">
              <a:solidFill>
                <a:schemeClr val="bg1"/>
              </a:solidFill>
            </a:endParaRPr>
          </a:p>
        </p:txBody>
      </p:sp>
      <p:cxnSp>
        <p:nvCxnSpPr>
          <p:cNvPr id="28" name="Straight Arrow Connector 27">
            <a:extLst>
              <a:ext uri="{FF2B5EF4-FFF2-40B4-BE49-F238E27FC236}">
                <a16:creationId xmlns:a16="http://schemas.microsoft.com/office/drawing/2014/main" id="{17ADE7EE-AA7B-46D1-B118-923AFC36F2BF}"/>
              </a:ext>
            </a:extLst>
          </p:cNvPr>
          <p:cNvCxnSpPr>
            <a:cxnSpLocks/>
          </p:cNvCxnSpPr>
          <p:nvPr/>
        </p:nvCxnSpPr>
        <p:spPr>
          <a:xfrm>
            <a:off x="8779073" y="2999488"/>
            <a:ext cx="0" cy="308770"/>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pic>
        <p:nvPicPr>
          <p:cNvPr id="30" name="Picture 29">
            <a:extLst>
              <a:ext uri="{FF2B5EF4-FFF2-40B4-BE49-F238E27FC236}">
                <a16:creationId xmlns:a16="http://schemas.microsoft.com/office/drawing/2014/main" id="{833828B9-00C2-4AB4-A846-447E532DFD36}"/>
              </a:ext>
            </a:extLst>
          </p:cNvPr>
          <p:cNvPicPr>
            <a:picLocks noChangeAspect="1"/>
          </p:cNvPicPr>
          <p:nvPr/>
        </p:nvPicPr>
        <p:blipFill>
          <a:blip r:embed="rId3"/>
          <a:stretch>
            <a:fillRect/>
          </a:stretch>
        </p:blipFill>
        <p:spPr>
          <a:xfrm>
            <a:off x="6209168" y="3474274"/>
            <a:ext cx="5433587" cy="2465296"/>
          </a:xfrm>
          <a:prstGeom prst="rect">
            <a:avLst/>
          </a:prstGeom>
        </p:spPr>
      </p:pic>
    </p:spTree>
    <p:extLst>
      <p:ext uri="{BB962C8B-B14F-4D97-AF65-F5344CB8AC3E}">
        <p14:creationId xmlns:p14="http://schemas.microsoft.com/office/powerpoint/2010/main" val="1366827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A3C28A3C-8AD2-4C23-B363-9D10C97E7190}"/>
              </a:ext>
            </a:extLst>
          </p:cNvPr>
          <p:cNvSpPr txBox="1">
            <a:spLocks/>
          </p:cNvSpPr>
          <p:nvPr/>
        </p:nvSpPr>
        <p:spPr>
          <a:xfrm>
            <a:off x="838200" y="251748"/>
            <a:ext cx="10515600" cy="33735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t>Regression Models</a:t>
            </a:r>
          </a:p>
        </p:txBody>
      </p:sp>
      <p:cxnSp>
        <p:nvCxnSpPr>
          <p:cNvPr id="7" name="Straight Connector 6">
            <a:extLst>
              <a:ext uri="{FF2B5EF4-FFF2-40B4-BE49-F238E27FC236}">
                <a16:creationId xmlns:a16="http://schemas.microsoft.com/office/drawing/2014/main" id="{8DF78373-47AC-4721-83C6-1D6412C5C0CE}"/>
              </a:ext>
              <a:ext uri="{C183D7F6-B498-43B3-948B-1728B52AA6E4}">
                <adec:decorative xmlns:adec="http://schemas.microsoft.com/office/drawing/2017/decorative" val="1"/>
              </a:ext>
            </a:extLst>
          </p:cNvPr>
          <p:cNvCxnSpPr>
            <a:cxnSpLocks/>
          </p:cNvCxnSpPr>
          <p:nvPr/>
        </p:nvCxnSpPr>
        <p:spPr>
          <a:xfrm>
            <a:off x="0" y="523783"/>
            <a:ext cx="4208016"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C8EEF0-D580-4371-B28A-DE0D185CEC51}"/>
              </a:ext>
              <a:ext uri="{C183D7F6-B498-43B3-948B-1728B52AA6E4}">
                <adec:decorative xmlns:adec="http://schemas.microsoft.com/office/drawing/2017/decorative" val="1"/>
              </a:ext>
            </a:extLst>
          </p:cNvPr>
          <p:cNvCxnSpPr>
            <a:cxnSpLocks/>
          </p:cNvCxnSpPr>
          <p:nvPr/>
        </p:nvCxnSpPr>
        <p:spPr>
          <a:xfrm>
            <a:off x="7918882" y="523783"/>
            <a:ext cx="4273118"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65E52E9F-DFAB-4205-B51D-B74ABA8747E4}"/>
              </a:ext>
              <a:ext uri="{C183D7F6-B498-43B3-948B-1728B52AA6E4}">
                <adec:decorative xmlns:adec="http://schemas.microsoft.com/office/drawing/2017/decorative" val="1"/>
              </a:ext>
            </a:extLst>
          </p:cNvPr>
          <p:cNvSpPr/>
          <p:nvPr/>
        </p:nvSpPr>
        <p:spPr>
          <a:xfrm>
            <a:off x="983215" y="3097193"/>
            <a:ext cx="3117255" cy="586782"/>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Multiple Linear Regression</a:t>
            </a:r>
          </a:p>
        </p:txBody>
      </p:sp>
      <p:sp>
        <p:nvSpPr>
          <p:cNvPr id="20" name="Rectangle: Rounded Corners 19">
            <a:extLst>
              <a:ext uri="{FF2B5EF4-FFF2-40B4-BE49-F238E27FC236}">
                <a16:creationId xmlns:a16="http://schemas.microsoft.com/office/drawing/2014/main" id="{215C9227-EF9F-491F-BF1A-40309E02666A}"/>
              </a:ext>
              <a:ext uri="{C183D7F6-B498-43B3-948B-1728B52AA6E4}">
                <adec:decorative xmlns:adec="http://schemas.microsoft.com/office/drawing/2017/decorative" val="1"/>
              </a:ext>
            </a:extLst>
          </p:cNvPr>
          <p:cNvSpPr/>
          <p:nvPr/>
        </p:nvSpPr>
        <p:spPr>
          <a:xfrm>
            <a:off x="926799" y="5777201"/>
            <a:ext cx="3230088" cy="659652"/>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Decision Tree Regression</a:t>
            </a:r>
          </a:p>
        </p:txBody>
      </p:sp>
      <p:sp>
        <p:nvSpPr>
          <p:cNvPr id="21" name="Rectangle: Rounded Corners 20">
            <a:extLst>
              <a:ext uri="{FF2B5EF4-FFF2-40B4-BE49-F238E27FC236}">
                <a16:creationId xmlns:a16="http://schemas.microsoft.com/office/drawing/2014/main" id="{CCB99A23-5199-4F14-B56F-7DD5202AFF4D}"/>
              </a:ext>
              <a:ext uri="{C183D7F6-B498-43B3-948B-1728B52AA6E4}">
                <adec:decorative xmlns:adec="http://schemas.microsoft.com/office/drawing/2017/decorative" val="1"/>
              </a:ext>
            </a:extLst>
          </p:cNvPr>
          <p:cNvSpPr/>
          <p:nvPr/>
        </p:nvSpPr>
        <p:spPr>
          <a:xfrm>
            <a:off x="8035115" y="3033906"/>
            <a:ext cx="3117255" cy="586782"/>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Support Vector Regression</a:t>
            </a:r>
          </a:p>
        </p:txBody>
      </p:sp>
      <p:sp>
        <p:nvSpPr>
          <p:cNvPr id="22" name="Rectangle: Rounded Corners 21">
            <a:extLst>
              <a:ext uri="{FF2B5EF4-FFF2-40B4-BE49-F238E27FC236}">
                <a16:creationId xmlns:a16="http://schemas.microsoft.com/office/drawing/2014/main" id="{30D597FE-13C2-4646-88E7-6640E40A2E34}"/>
              </a:ext>
              <a:ext uri="{C183D7F6-B498-43B3-948B-1728B52AA6E4}">
                <adec:decorative xmlns:adec="http://schemas.microsoft.com/office/drawing/2017/decorative" val="1"/>
              </a:ext>
            </a:extLst>
          </p:cNvPr>
          <p:cNvSpPr/>
          <p:nvPr/>
        </p:nvSpPr>
        <p:spPr>
          <a:xfrm>
            <a:off x="8035115" y="5746898"/>
            <a:ext cx="3198937" cy="680812"/>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Random Forest Regression</a:t>
            </a:r>
          </a:p>
        </p:txBody>
      </p:sp>
      <p:pic>
        <p:nvPicPr>
          <p:cNvPr id="24" name="Picture 23" descr="Chart, scatter chart&#10;&#10;Description automatically generated">
            <a:extLst>
              <a:ext uri="{FF2B5EF4-FFF2-40B4-BE49-F238E27FC236}">
                <a16:creationId xmlns:a16="http://schemas.microsoft.com/office/drawing/2014/main" id="{8DE71242-AE5E-4287-9197-118D5FC55138}"/>
              </a:ext>
            </a:extLst>
          </p:cNvPr>
          <p:cNvPicPr>
            <a:picLocks noChangeAspect="1"/>
          </p:cNvPicPr>
          <p:nvPr/>
        </p:nvPicPr>
        <p:blipFill rotWithShape="1">
          <a:blip r:embed="rId2">
            <a:extLst>
              <a:ext uri="{28A0092B-C50C-407E-A947-70E740481C1C}">
                <a14:useLocalDpi xmlns:a14="http://schemas.microsoft.com/office/drawing/2010/main" val="0"/>
              </a:ext>
            </a:extLst>
          </a:blip>
          <a:srcRect l="5820" t="9328" r="20578" b="7994"/>
          <a:stretch/>
        </p:blipFill>
        <p:spPr>
          <a:xfrm>
            <a:off x="1114228" y="667648"/>
            <a:ext cx="2740040" cy="2299487"/>
          </a:xfrm>
          <a:prstGeom prst="rect">
            <a:avLst/>
          </a:prstGeom>
        </p:spPr>
      </p:pic>
      <p:pic>
        <p:nvPicPr>
          <p:cNvPr id="26" name="Picture 25" descr="Chart, scatter chart&#10;&#10;Description automatically generated">
            <a:extLst>
              <a:ext uri="{FF2B5EF4-FFF2-40B4-BE49-F238E27FC236}">
                <a16:creationId xmlns:a16="http://schemas.microsoft.com/office/drawing/2014/main" id="{979DBF85-38CA-4C56-BCE9-5303A2EE2117}"/>
              </a:ext>
            </a:extLst>
          </p:cNvPr>
          <p:cNvPicPr>
            <a:picLocks noChangeAspect="1"/>
          </p:cNvPicPr>
          <p:nvPr/>
        </p:nvPicPr>
        <p:blipFill rotWithShape="1">
          <a:blip r:embed="rId3">
            <a:extLst>
              <a:ext uri="{28A0092B-C50C-407E-A947-70E740481C1C}">
                <a14:useLocalDpi xmlns:a14="http://schemas.microsoft.com/office/drawing/2010/main" val="0"/>
              </a:ext>
            </a:extLst>
          </a:blip>
          <a:srcRect l="3486" t="3217" r="3579" b="16683"/>
          <a:stretch/>
        </p:blipFill>
        <p:spPr>
          <a:xfrm>
            <a:off x="8229606" y="1065320"/>
            <a:ext cx="2664504" cy="1851582"/>
          </a:xfrm>
          <a:prstGeom prst="rect">
            <a:avLst/>
          </a:prstGeom>
        </p:spPr>
      </p:pic>
      <p:pic>
        <p:nvPicPr>
          <p:cNvPr id="28" name="Picture 27" descr="A screenshot of a computer&#10;&#10;Description automatically generated with low confidence">
            <a:extLst>
              <a:ext uri="{FF2B5EF4-FFF2-40B4-BE49-F238E27FC236}">
                <a16:creationId xmlns:a16="http://schemas.microsoft.com/office/drawing/2014/main" id="{FF9D4F82-D45D-4920-AA81-2D84061918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0297" y="3928696"/>
            <a:ext cx="2703971" cy="1630892"/>
          </a:xfrm>
          <a:prstGeom prst="rect">
            <a:avLst/>
          </a:prstGeom>
        </p:spPr>
      </p:pic>
      <p:pic>
        <p:nvPicPr>
          <p:cNvPr id="30" name="Picture 29" descr="Graphical user interface&#10;&#10;Description automatically generated with low confidence">
            <a:extLst>
              <a:ext uri="{FF2B5EF4-FFF2-40B4-BE49-F238E27FC236}">
                <a16:creationId xmlns:a16="http://schemas.microsoft.com/office/drawing/2014/main" id="{E3E8EB1F-9751-48D0-B241-63CA26A8AA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45455" y="3894634"/>
            <a:ext cx="2996252" cy="1733281"/>
          </a:xfrm>
          <a:prstGeom prst="rect">
            <a:avLst/>
          </a:prstGeom>
        </p:spPr>
      </p:pic>
    </p:spTree>
    <p:extLst>
      <p:ext uri="{BB962C8B-B14F-4D97-AF65-F5344CB8AC3E}">
        <p14:creationId xmlns:p14="http://schemas.microsoft.com/office/powerpoint/2010/main" val="3209821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97F680-987B-4505-AF44-92891C69227F}"/>
              </a:ext>
            </a:extLst>
          </p:cNvPr>
          <p:cNvSpPr txBox="1">
            <a:spLocks/>
          </p:cNvSpPr>
          <p:nvPr/>
        </p:nvSpPr>
        <p:spPr>
          <a:xfrm>
            <a:off x="838200" y="251748"/>
            <a:ext cx="10515600" cy="33735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t>Multiple Linear Regression</a:t>
            </a:r>
          </a:p>
        </p:txBody>
      </p:sp>
      <p:cxnSp>
        <p:nvCxnSpPr>
          <p:cNvPr id="5" name="Straight Connector 4">
            <a:extLst>
              <a:ext uri="{FF2B5EF4-FFF2-40B4-BE49-F238E27FC236}">
                <a16:creationId xmlns:a16="http://schemas.microsoft.com/office/drawing/2014/main" id="{1F33DBAF-3309-474A-9520-E2936349F789}"/>
              </a:ext>
              <a:ext uri="{C183D7F6-B498-43B3-948B-1728B52AA6E4}">
                <adec:decorative xmlns:adec="http://schemas.microsoft.com/office/drawing/2017/decorative" val="1"/>
              </a:ext>
            </a:extLst>
          </p:cNvPr>
          <p:cNvCxnSpPr>
            <a:cxnSpLocks/>
          </p:cNvCxnSpPr>
          <p:nvPr/>
        </p:nvCxnSpPr>
        <p:spPr>
          <a:xfrm>
            <a:off x="0" y="523783"/>
            <a:ext cx="372282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291D72D-5B07-4FDF-8C5C-2B31F0F6B19C}"/>
              </a:ext>
              <a:ext uri="{C183D7F6-B498-43B3-948B-1728B52AA6E4}">
                <adec:decorative xmlns:adec="http://schemas.microsoft.com/office/drawing/2017/decorative" val="1"/>
              </a:ext>
            </a:extLst>
          </p:cNvPr>
          <p:cNvCxnSpPr>
            <a:cxnSpLocks/>
          </p:cNvCxnSpPr>
          <p:nvPr/>
        </p:nvCxnSpPr>
        <p:spPr>
          <a:xfrm>
            <a:off x="8460053" y="523783"/>
            <a:ext cx="373194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7A169237-74FD-4A8A-8235-7BA3E3B6D0E7}"/>
              </a:ext>
            </a:extLst>
          </p:cNvPr>
          <p:cNvSpPr/>
          <p:nvPr/>
        </p:nvSpPr>
        <p:spPr>
          <a:xfrm>
            <a:off x="838200" y="642974"/>
            <a:ext cx="10750420" cy="1335112"/>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just"/>
            <a:endParaRPr lang="en-IN" b="0" i="0" dirty="0">
              <a:solidFill>
                <a:schemeClr val="bg1"/>
              </a:solidFill>
              <a:effectLst/>
              <a:latin typeface="arial" panose="020B0604020202020204" pitchFamily="34" charset="0"/>
            </a:endParaRPr>
          </a:p>
          <a:p>
            <a:pPr algn="just"/>
            <a:r>
              <a:rPr lang="en-IN" b="0" i="0" dirty="0">
                <a:solidFill>
                  <a:schemeClr val="bg1"/>
                </a:solidFill>
                <a:effectLst/>
                <a:latin typeface="arial" panose="020B0604020202020204" pitchFamily="34" charset="0"/>
              </a:rPr>
              <a:t>Multiple regression is an extension of simple linear regression. It is used when we want to predict the value of a variable based on the value of two or more other variables. The variable we want to predict is called the dependent variable (or sometimes, the outcome, target or criterion variable) </a:t>
            </a:r>
          </a:p>
          <a:p>
            <a:pPr algn="ctr"/>
            <a:endParaRPr lang="en-US" b="0" i="0" dirty="0">
              <a:solidFill>
                <a:schemeClr val="bg1"/>
              </a:solidFill>
              <a:effectLst/>
              <a:latin typeface="arial" panose="020B0604020202020204" pitchFamily="34" charset="0"/>
            </a:endParaRPr>
          </a:p>
        </p:txBody>
      </p:sp>
      <p:sp>
        <p:nvSpPr>
          <p:cNvPr id="11" name="Rectangle: Rounded Corners 10">
            <a:extLst>
              <a:ext uri="{FF2B5EF4-FFF2-40B4-BE49-F238E27FC236}">
                <a16:creationId xmlns:a16="http://schemas.microsoft.com/office/drawing/2014/main" id="{23E77440-B252-4862-B16D-95D074D5EF37}"/>
              </a:ext>
            </a:extLst>
          </p:cNvPr>
          <p:cNvSpPr/>
          <p:nvPr/>
        </p:nvSpPr>
        <p:spPr>
          <a:xfrm>
            <a:off x="884955" y="2097276"/>
            <a:ext cx="4450501" cy="5304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i="0" dirty="0">
                <a:solidFill>
                  <a:schemeClr val="bg1"/>
                </a:solidFill>
                <a:effectLst/>
                <a:latin typeface="arial" panose="020B0604020202020204" pitchFamily="34" charset="0"/>
              </a:rPr>
              <a:t>Actual vs Predicted values</a:t>
            </a:r>
            <a:endParaRPr lang="en-US" dirty="0">
              <a:solidFill>
                <a:schemeClr val="bg1"/>
              </a:solidFill>
            </a:endParaRPr>
          </a:p>
        </p:txBody>
      </p:sp>
      <p:pic>
        <p:nvPicPr>
          <p:cNvPr id="13" name="Picture 12" descr="Table&#10;&#10;Description automatically generated">
            <a:extLst>
              <a:ext uri="{FF2B5EF4-FFF2-40B4-BE49-F238E27FC236}">
                <a16:creationId xmlns:a16="http://schemas.microsoft.com/office/drawing/2014/main" id="{B45B5463-8345-4BE7-B997-96424D8EE0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497" y="2746873"/>
            <a:ext cx="4665757" cy="3831446"/>
          </a:xfrm>
          <a:prstGeom prst="rect">
            <a:avLst/>
          </a:prstGeom>
        </p:spPr>
      </p:pic>
      <p:sp>
        <p:nvSpPr>
          <p:cNvPr id="14" name="Rectangle: Rounded Corners 13">
            <a:extLst>
              <a:ext uri="{FF2B5EF4-FFF2-40B4-BE49-F238E27FC236}">
                <a16:creationId xmlns:a16="http://schemas.microsoft.com/office/drawing/2014/main" id="{750FEFC0-19C5-4294-8EA4-1250A576D71B}"/>
              </a:ext>
            </a:extLst>
          </p:cNvPr>
          <p:cNvSpPr/>
          <p:nvPr/>
        </p:nvSpPr>
        <p:spPr>
          <a:xfrm>
            <a:off x="7202940" y="2162590"/>
            <a:ext cx="3844505" cy="757891"/>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dirty="0">
                <a:solidFill>
                  <a:schemeClr val="bg1"/>
                </a:solidFill>
                <a:latin typeface="Arial" panose="020B0604020202020204" pitchFamily="34" charset="0"/>
                <a:cs typeface="Arial" panose="020B0604020202020204" pitchFamily="34" charset="0"/>
              </a:rPr>
              <a:t>R^2 Score: 0.6604280706669454</a:t>
            </a:r>
          </a:p>
        </p:txBody>
      </p:sp>
      <p:sp>
        <p:nvSpPr>
          <p:cNvPr id="15" name="Rectangle: Rounded Corners 14">
            <a:extLst>
              <a:ext uri="{FF2B5EF4-FFF2-40B4-BE49-F238E27FC236}">
                <a16:creationId xmlns:a16="http://schemas.microsoft.com/office/drawing/2014/main" id="{528F2D10-3E59-447D-AF67-EE0F6673B159}"/>
              </a:ext>
            </a:extLst>
          </p:cNvPr>
          <p:cNvSpPr/>
          <p:nvPr/>
        </p:nvSpPr>
        <p:spPr>
          <a:xfrm>
            <a:off x="7072311" y="3413201"/>
            <a:ext cx="4180563" cy="180652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IN" dirty="0">
                <a:solidFill>
                  <a:schemeClr val="bg1"/>
                </a:solidFill>
                <a:latin typeface="Arial" panose="020B0604020202020204" pitchFamily="34" charset="0"/>
                <a:cs typeface="Arial" panose="020B0604020202020204" pitchFamily="34" charset="0"/>
              </a:rPr>
              <a:t>The model score is 66% that means 66% of the data fit the regression model, since the r-squared score is not close to 1, so the model does not fit best.</a:t>
            </a:r>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4705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97F680-987B-4505-AF44-92891C69227F}"/>
              </a:ext>
            </a:extLst>
          </p:cNvPr>
          <p:cNvSpPr txBox="1">
            <a:spLocks/>
          </p:cNvSpPr>
          <p:nvPr/>
        </p:nvSpPr>
        <p:spPr>
          <a:xfrm>
            <a:off x="838200" y="251748"/>
            <a:ext cx="10515600" cy="33735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t>Support Vector Regression</a:t>
            </a:r>
          </a:p>
        </p:txBody>
      </p:sp>
      <p:cxnSp>
        <p:nvCxnSpPr>
          <p:cNvPr id="5" name="Straight Connector 4">
            <a:extLst>
              <a:ext uri="{FF2B5EF4-FFF2-40B4-BE49-F238E27FC236}">
                <a16:creationId xmlns:a16="http://schemas.microsoft.com/office/drawing/2014/main" id="{1F33DBAF-3309-474A-9520-E2936349F789}"/>
              </a:ext>
              <a:ext uri="{C183D7F6-B498-43B3-948B-1728B52AA6E4}">
                <adec:decorative xmlns:adec="http://schemas.microsoft.com/office/drawing/2017/decorative" val="1"/>
              </a:ext>
            </a:extLst>
          </p:cNvPr>
          <p:cNvCxnSpPr>
            <a:cxnSpLocks/>
          </p:cNvCxnSpPr>
          <p:nvPr/>
        </p:nvCxnSpPr>
        <p:spPr>
          <a:xfrm>
            <a:off x="0" y="523783"/>
            <a:ext cx="372282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291D72D-5B07-4FDF-8C5C-2B31F0F6B19C}"/>
              </a:ext>
              <a:ext uri="{C183D7F6-B498-43B3-948B-1728B52AA6E4}">
                <adec:decorative xmlns:adec="http://schemas.microsoft.com/office/drawing/2017/decorative" val="1"/>
              </a:ext>
            </a:extLst>
          </p:cNvPr>
          <p:cNvCxnSpPr>
            <a:cxnSpLocks/>
          </p:cNvCxnSpPr>
          <p:nvPr/>
        </p:nvCxnSpPr>
        <p:spPr>
          <a:xfrm>
            <a:off x="8460053" y="523783"/>
            <a:ext cx="373194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7A169237-74FD-4A8A-8235-7BA3E3B6D0E7}"/>
              </a:ext>
            </a:extLst>
          </p:cNvPr>
          <p:cNvSpPr/>
          <p:nvPr/>
        </p:nvSpPr>
        <p:spPr>
          <a:xfrm>
            <a:off x="838200" y="661636"/>
            <a:ext cx="10750420" cy="1335112"/>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just"/>
            <a:r>
              <a:rPr lang="en-IN" b="0" i="0" dirty="0">
                <a:solidFill>
                  <a:schemeClr val="bg1"/>
                </a:solidFill>
                <a:effectLst/>
                <a:latin typeface="arial" panose="020B0604020202020204" pitchFamily="34" charset="0"/>
              </a:rPr>
              <a:t>Supervised Machine Learning Models with associated learning algorithms that </a:t>
            </a:r>
            <a:r>
              <a:rPr lang="en-IN" b="0" i="0" dirty="0" err="1">
                <a:solidFill>
                  <a:schemeClr val="bg1"/>
                </a:solidFill>
                <a:effectLst/>
                <a:latin typeface="arial" panose="020B0604020202020204" pitchFamily="34" charset="0"/>
              </a:rPr>
              <a:t>analiyze</a:t>
            </a:r>
            <a:r>
              <a:rPr lang="en-IN" b="0" i="0" dirty="0">
                <a:solidFill>
                  <a:schemeClr val="bg1"/>
                </a:solidFill>
                <a:effectLst/>
                <a:latin typeface="arial" panose="020B0604020202020204" pitchFamily="34" charset="0"/>
              </a:rPr>
              <a:t> data for classification and regression analysis are known as Support Vector Regression. SVR is built based on the concept of Support Vector Machine or SVM.</a:t>
            </a:r>
            <a:endParaRPr lang="en-US" b="0" i="0" dirty="0">
              <a:solidFill>
                <a:schemeClr val="bg1"/>
              </a:solidFill>
              <a:effectLst/>
              <a:latin typeface="arial" panose="020B0604020202020204" pitchFamily="34" charset="0"/>
            </a:endParaRPr>
          </a:p>
        </p:txBody>
      </p:sp>
      <p:sp>
        <p:nvSpPr>
          <p:cNvPr id="11" name="Rectangle: Rounded Corners 10">
            <a:extLst>
              <a:ext uri="{FF2B5EF4-FFF2-40B4-BE49-F238E27FC236}">
                <a16:creationId xmlns:a16="http://schemas.microsoft.com/office/drawing/2014/main" id="{23E77440-B252-4862-B16D-95D074D5EF37}"/>
              </a:ext>
            </a:extLst>
          </p:cNvPr>
          <p:cNvSpPr/>
          <p:nvPr/>
        </p:nvSpPr>
        <p:spPr>
          <a:xfrm>
            <a:off x="884955" y="2097276"/>
            <a:ext cx="4450501" cy="5304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i="0" dirty="0">
                <a:solidFill>
                  <a:schemeClr val="bg1"/>
                </a:solidFill>
                <a:effectLst/>
                <a:latin typeface="arial" panose="020B0604020202020204" pitchFamily="34" charset="0"/>
              </a:rPr>
              <a:t>Actual vs Predicted values</a:t>
            </a:r>
            <a:endParaRPr lang="en-US" dirty="0">
              <a:solidFill>
                <a:schemeClr val="bg1"/>
              </a:solidFill>
            </a:endParaRPr>
          </a:p>
        </p:txBody>
      </p:sp>
      <p:sp>
        <p:nvSpPr>
          <p:cNvPr id="14" name="Rectangle: Rounded Corners 13">
            <a:extLst>
              <a:ext uri="{FF2B5EF4-FFF2-40B4-BE49-F238E27FC236}">
                <a16:creationId xmlns:a16="http://schemas.microsoft.com/office/drawing/2014/main" id="{750FEFC0-19C5-4294-8EA4-1250A576D71B}"/>
              </a:ext>
            </a:extLst>
          </p:cNvPr>
          <p:cNvSpPr/>
          <p:nvPr/>
        </p:nvSpPr>
        <p:spPr>
          <a:xfrm>
            <a:off x="7202940" y="2162590"/>
            <a:ext cx="3844505" cy="757891"/>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dirty="0">
                <a:solidFill>
                  <a:schemeClr val="bg1"/>
                </a:solidFill>
                <a:latin typeface="Arial" panose="020B0604020202020204" pitchFamily="34" charset="0"/>
                <a:cs typeface="Arial" panose="020B0604020202020204" pitchFamily="34" charset="0"/>
              </a:rPr>
              <a:t>R^2 Score: 0.518815148933865</a:t>
            </a:r>
          </a:p>
        </p:txBody>
      </p:sp>
      <p:sp>
        <p:nvSpPr>
          <p:cNvPr id="15" name="Rectangle: Rounded Corners 14">
            <a:extLst>
              <a:ext uri="{FF2B5EF4-FFF2-40B4-BE49-F238E27FC236}">
                <a16:creationId xmlns:a16="http://schemas.microsoft.com/office/drawing/2014/main" id="{528F2D10-3E59-447D-AF67-EE0F6673B159}"/>
              </a:ext>
            </a:extLst>
          </p:cNvPr>
          <p:cNvSpPr/>
          <p:nvPr/>
        </p:nvSpPr>
        <p:spPr>
          <a:xfrm>
            <a:off x="7072311" y="3413201"/>
            <a:ext cx="4180563" cy="180652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IN" dirty="0">
                <a:solidFill>
                  <a:schemeClr val="bg1"/>
                </a:solidFill>
                <a:latin typeface="Arial" panose="020B0604020202020204" pitchFamily="34" charset="0"/>
                <a:cs typeface="Arial" panose="020B0604020202020204" pitchFamily="34" charset="0"/>
              </a:rPr>
              <a:t>The model score is 51% that means only 51% of the data fit the regression mode, since the r-squared score is not close to 1, so the model does not fit best.</a:t>
            </a:r>
            <a:endParaRPr lang="en-US" dirty="0">
              <a:solidFill>
                <a:schemeClr val="bg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441E1E33-65A3-4CDA-A4B5-843A58CFA2A4}"/>
              </a:ext>
            </a:extLst>
          </p:cNvPr>
          <p:cNvPicPr>
            <a:picLocks noChangeAspect="1"/>
          </p:cNvPicPr>
          <p:nvPr/>
        </p:nvPicPr>
        <p:blipFill>
          <a:blip r:embed="rId2"/>
          <a:stretch>
            <a:fillRect/>
          </a:stretch>
        </p:blipFill>
        <p:spPr>
          <a:xfrm>
            <a:off x="906344" y="2840121"/>
            <a:ext cx="4587528" cy="3766131"/>
          </a:xfrm>
          <a:prstGeom prst="rect">
            <a:avLst/>
          </a:prstGeom>
        </p:spPr>
      </p:pic>
    </p:spTree>
    <p:extLst>
      <p:ext uri="{BB962C8B-B14F-4D97-AF65-F5344CB8AC3E}">
        <p14:creationId xmlns:p14="http://schemas.microsoft.com/office/powerpoint/2010/main" val="3962169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97F680-987B-4505-AF44-92891C69227F}"/>
              </a:ext>
            </a:extLst>
          </p:cNvPr>
          <p:cNvSpPr txBox="1">
            <a:spLocks/>
          </p:cNvSpPr>
          <p:nvPr/>
        </p:nvSpPr>
        <p:spPr>
          <a:xfrm>
            <a:off x="838200" y="251748"/>
            <a:ext cx="10515600" cy="33735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t>Decision Tree Regression</a:t>
            </a:r>
          </a:p>
        </p:txBody>
      </p:sp>
      <p:cxnSp>
        <p:nvCxnSpPr>
          <p:cNvPr id="5" name="Straight Connector 4">
            <a:extLst>
              <a:ext uri="{FF2B5EF4-FFF2-40B4-BE49-F238E27FC236}">
                <a16:creationId xmlns:a16="http://schemas.microsoft.com/office/drawing/2014/main" id="{1F33DBAF-3309-474A-9520-E2936349F789}"/>
              </a:ext>
              <a:ext uri="{C183D7F6-B498-43B3-948B-1728B52AA6E4}">
                <adec:decorative xmlns:adec="http://schemas.microsoft.com/office/drawing/2017/decorative" val="1"/>
              </a:ext>
            </a:extLst>
          </p:cNvPr>
          <p:cNvCxnSpPr>
            <a:cxnSpLocks/>
          </p:cNvCxnSpPr>
          <p:nvPr/>
        </p:nvCxnSpPr>
        <p:spPr>
          <a:xfrm>
            <a:off x="0" y="523783"/>
            <a:ext cx="372282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291D72D-5B07-4FDF-8C5C-2B31F0F6B19C}"/>
              </a:ext>
              <a:ext uri="{C183D7F6-B498-43B3-948B-1728B52AA6E4}">
                <adec:decorative xmlns:adec="http://schemas.microsoft.com/office/drawing/2017/decorative" val="1"/>
              </a:ext>
            </a:extLst>
          </p:cNvPr>
          <p:cNvCxnSpPr>
            <a:cxnSpLocks/>
          </p:cNvCxnSpPr>
          <p:nvPr/>
        </p:nvCxnSpPr>
        <p:spPr>
          <a:xfrm>
            <a:off x="8460053" y="523783"/>
            <a:ext cx="373194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7A169237-74FD-4A8A-8235-7BA3E3B6D0E7}"/>
              </a:ext>
            </a:extLst>
          </p:cNvPr>
          <p:cNvSpPr/>
          <p:nvPr/>
        </p:nvSpPr>
        <p:spPr>
          <a:xfrm>
            <a:off x="838200" y="642974"/>
            <a:ext cx="10769082" cy="168034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just"/>
            <a:r>
              <a:rPr lang="en-IN" sz="1700" b="0" i="0" dirty="0">
                <a:solidFill>
                  <a:schemeClr val="bg1"/>
                </a:solidFill>
                <a:effectLst/>
                <a:latin typeface="arial" panose="020B0604020202020204" pitchFamily="34" charset="0"/>
              </a:rPr>
              <a:t>Decision Tree is one of the most commonly used, practical approaches for supervised learning. It can be used to solve both Regression and Classification tasks with the latter being put more into practical application. The Root Node is the initial node which represents the entire sample and may get split further into further nodes. The Interior Nodes represent the features of a data set and the branches represent the decision rules. Finally, the Leaf Nodes represent the outcome.</a:t>
            </a:r>
            <a:endParaRPr lang="en-US" sz="1700" b="0" i="0" dirty="0">
              <a:solidFill>
                <a:schemeClr val="bg1"/>
              </a:solidFill>
              <a:effectLst/>
              <a:latin typeface="arial" panose="020B0604020202020204" pitchFamily="34" charset="0"/>
            </a:endParaRPr>
          </a:p>
        </p:txBody>
      </p:sp>
      <p:sp>
        <p:nvSpPr>
          <p:cNvPr id="11" name="Rectangle: Rounded Corners 10">
            <a:extLst>
              <a:ext uri="{FF2B5EF4-FFF2-40B4-BE49-F238E27FC236}">
                <a16:creationId xmlns:a16="http://schemas.microsoft.com/office/drawing/2014/main" id="{23E77440-B252-4862-B16D-95D074D5EF37}"/>
              </a:ext>
            </a:extLst>
          </p:cNvPr>
          <p:cNvSpPr/>
          <p:nvPr/>
        </p:nvSpPr>
        <p:spPr>
          <a:xfrm>
            <a:off x="851761" y="2435294"/>
            <a:ext cx="4450501" cy="5304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i="0" dirty="0">
                <a:solidFill>
                  <a:schemeClr val="bg1"/>
                </a:solidFill>
                <a:effectLst/>
                <a:latin typeface="arial" panose="020B0604020202020204" pitchFamily="34" charset="0"/>
              </a:rPr>
              <a:t>Actual vs Predicted values</a:t>
            </a:r>
            <a:endParaRPr lang="en-US" dirty="0">
              <a:solidFill>
                <a:schemeClr val="bg1"/>
              </a:solidFill>
            </a:endParaRPr>
          </a:p>
        </p:txBody>
      </p:sp>
      <p:sp>
        <p:nvSpPr>
          <p:cNvPr id="14" name="Rectangle: Rounded Corners 13">
            <a:extLst>
              <a:ext uri="{FF2B5EF4-FFF2-40B4-BE49-F238E27FC236}">
                <a16:creationId xmlns:a16="http://schemas.microsoft.com/office/drawing/2014/main" id="{750FEFC0-19C5-4294-8EA4-1250A576D71B}"/>
              </a:ext>
            </a:extLst>
          </p:cNvPr>
          <p:cNvSpPr/>
          <p:nvPr/>
        </p:nvSpPr>
        <p:spPr>
          <a:xfrm>
            <a:off x="7314985" y="2503156"/>
            <a:ext cx="3844505" cy="757891"/>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dirty="0">
                <a:solidFill>
                  <a:schemeClr val="bg1"/>
                </a:solidFill>
                <a:latin typeface="Arial" panose="020B0604020202020204" pitchFamily="34" charset="0"/>
                <a:cs typeface="Arial" panose="020B0604020202020204" pitchFamily="34" charset="0"/>
              </a:rPr>
              <a:t>R^2 Score: 0.45316105389854877</a:t>
            </a:r>
          </a:p>
        </p:txBody>
      </p:sp>
      <p:sp>
        <p:nvSpPr>
          <p:cNvPr id="15" name="Rectangle: Rounded Corners 14">
            <a:extLst>
              <a:ext uri="{FF2B5EF4-FFF2-40B4-BE49-F238E27FC236}">
                <a16:creationId xmlns:a16="http://schemas.microsoft.com/office/drawing/2014/main" id="{528F2D10-3E59-447D-AF67-EE0F6673B159}"/>
              </a:ext>
            </a:extLst>
          </p:cNvPr>
          <p:cNvSpPr/>
          <p:nvPr/>
        </p:nvSpPr>
        <p:spPr>
          <a:xfrm>
            <a:off x="7184279" y="3646471"/>
            <a:ext cx="4180563" cy="180652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IN" dirty="0">
                <a:solidFill>
                  <a:schemeClr val="bg1"/>
                </a:solidFill>
                <a:latin typeface="Arial" panose="020B0604020202020204" pitchFamily="34" charset="0"/>
                <a:cs typeface="Arial" panose="020B0604020202020204" pitchFamily="34" charset="0"/>
              </a:rPr>
              <a:t>The model score is 45% that means only 45% of the data fit the regression model, the model score is less than 50% ,since the r-squared score is not close to 1, so the model does not fit best.</a:t>
            </a:r>
            <a:endParaRPr lang="en-US" dirty="0">
              <a:solidFill>
                <a:schemeClr val="bg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5F76A018-8929-4886-9F29-2FBB507A54AC}"/>
              </a:ext>
            </a:extLst>
          </p:cNvPr>
          <p:cNvPicPr>
            <a:picLocks noChangeAspect="1"/>
          </p:cNvPicPr>
          <p:nvPr/>
        </p:nvPicPr>
        <p:blipFill>
          <a:blip r:embed="rId2"/>
          <a:stretch>
            <a:fillRect/>
          </a:stretch>
        </p:blipFill>
        <p:spPr>
          <a:xfrm>
            <a:off x="858329" y="3054125"/>
            <a:ext cx="4609410" cy="3702737"/>
          </a:xfrm>
          <a:prstGeom prst="rect">
            <a:avLst/>
          </a:prstGeom>
        </p:spPr>
      </p:pic>
    </p:spTree>
    <p:extLst>
      <p:ext uri="{BB962C8B-B14F-4D97-AF65-F5344CB8AC3E}">
        <p14:creationId xmlns:p14="http://schemas.microsoft.com/office/powerpoint/2010/main" val="36568336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97F680-987B-4505-AF44-92891C69227F}"/>
              </a:ext>
            </a:extLst>
          </p:cNvPr>
          <p:cNvSpPr txBox="1">
            <a:spLocks/>
          </p:cNvSpPr>
          <p:nvPr/>
        </p:nvSpPr>
        <p:spPr>
          <a:xfrm>
            <a:off x="838200" y="251748"/>
            <a:ext cx="10515600" cy="33735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t>Random Forest Regression</a:t>
            </a:r>
          </a:p>
        </p:txBody>
      </p:sp>
      <p:cxnSp>
        <p:nvCxnSpPr>
          <p:cNvPr id="5" name="Straight Connector 4">
            <a:extLst>
              <a:ext uri="{FF2B5EF4-FFF2-40B4-BE49-F238E27FC236}">
                <a16:creationId xmlns:a16="http://schemas.microsoft.com/office/drawing/2014/main" id="{1F33DBAF-3309-474A-9520-E2936349F789}"/>
              </a:ext>
              <a:ext uri="{C183D7F6-B498-43B3-948B-1728B52AA6E4}">
                <adec:decorative xmlns:adec="http://schemas.microsoft.com/office/drawing/2017/decorative" val="1"/>
              </a:ext>
            </a:extLst>
          </p:cNvPr>
          <p:cNvCxnSpPr>
            <a:cxnSpLocks/>
          </p:cNvCxnSpPr>
          <p:nvPr/>
        </p:nvCxnSpPr>
        <p:spPr>
          <a:xfrm>
            <a:off x="0" y="523783"/>
            <a:ext cx="372282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291D72D-5B07-4FDF-8C5C-2B31F0F6B19C}"/>
              </a:ext>
              <a:ext uri="{C183D7F6-B498-43B3-948B-1728B52AA6E4}">
                <adec:decorative xmlns:adec="http://schemas.microsoft.com/office/drawing/2017/decorative" val="1"/>
              </a:ext>
            </a:extLst>
          </p:cNvPr>
          <p:cNvCxnSpPr>
            <a:cxnSpLocks/>
          </p:cNvCxnSpPr>
          <p:nvPr/>
        </p:nvCxnSpPr>
        <p:spPr>
          <a:xfrm>
            <a:off x="8460053" y="523783"/>
            <a:ext cx="373194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7A169237-74FD-4A8A-8235-7BA3E3B6D0E7}"/>
              </a:ext>
            </a:extLst>
          </p:cNvPr>
          <p:cNvSpPr/>
          <p:nvPr/>
        </p:nvSpPr>
        <p:spPr>
          <a:xfrm>
            <a:off x="838200" y="642974"/>
            <a:ext cx="10750420" cy="1335112"/>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just"/>
            <a:r>
              <a:rPr lang="en-IN" b="0" i="0" dirty="0">
                <a:solidFill>
                  <a:schemeClr val="bg1"/>
                </a:solidFill>
                <a:effectLst/>
                <a:latin typeface="arial" panose="020B0604020202020204" pitchFamily="34" charset="0"/>
              </a:rPr>
              <a:t>Random Forest Regression is a supervised learning algorithm that uses ensemble learning method for regression. A Random Forest operates by constructing several decision trees during training time and outputting the mean of the classes as the prediction of all the trees.</a:t>
            </a:r>
            <a:endParaRPr lang="en-US" b="0" i="0" dirty="0">
              <a:solidFill>
                <a:schemeClr val="bg1"/>
              </a:solidFill>
              <a:effectLst/>
              <a:latin typeface="arial" panose="020B0604020202020204" pitchFamily="34" charset="0"/>
            </a:endParaRPr>
          </a:p>
        </p:txBody>
      </p:sp>
      <p:sp>
        <p:nvSpPr>
          <p:cNvPr id="11" name="Rectangle: Rounded Corners 10">
            <a:extLst>
              <a:ext uri="{FF2B5EF4-FFF2-40B4-BE49-F238E27FC236}">
                <a16:creationId xmlns:a16="http://schemas.microsoft.com/office/drawing/2014/main" id="{23E77440-B252-4862-B16D-95D074D5EF37}"/>
              </a:ext>
            </a:extLst>
          </p:cNvPr>
          <p:cNvSpPr/>
          <p:nvPr/>
        </p:nvSpPr>
        <p:spPr>
          <a:xfrm>
            <a:off x="884955" y="2097276"/>
            <a:ext cx="4450501" cy="5304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i="0" dirty="0">
                <a:solidFill>
                  <a:schemeClr val="bg1"/>
                </a:solidFill>
                <a:effectLst/>
                <a:latin typeface="arial" panose="020B0604020202020204" pitchFamily="34" charset="0"/>
              </a:rPr>
              <a:t>Actual vs Predicted values</a:t>
            </a:r>
            <a:endParaRPr lang="en-US" dirty="0">
              <a:solidFill>
                <a:schemeClr val="bg1"/>
              </a:solidFill>
            </a:endParaRPr>
          </a:p>
        </p:txBody>
      </p:sp>
      <p:sp>
        <p:nvSpPr>
          <p:cNvPr id="14" name="Rectangle: Rounded Corners 13">
            <a:extLst>
              <a:ext uri="{FF2B5EF4-FFF2-40B4-BE49-F238E27FC236}">
                <a16:creationId xmlns:a16="http://schemas.microsoft.com/office/drawing/2014/main" id="{750FEFC0-19C5-4294-8EA4-1250A576D71B}"/>
              </a:ext>
            </a:extLst>
          </p:cNvPr>
          <p:cNvSpPr/>
          <p:nvPr/>
        </p:nvSpPr>
        <p:spPr>
          <a:xfrm>
            <a:off x="7202940" y="2162590"/>
            <a:ext cx="3844505" cy="757891"/>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dirty="0">
                <a:solidFill>
                  <a:schemeClr val="bg1"/>
                </a:solidFill>
                <a:latin typeface="Arial" panose="020B0604020202020204" pitchFamily="34" charset="0"/>
                <a:cs typeface="Arial" panose="020B0604020202020204" pitchFamily="34" charset="0"/>
              </a:rPr>
              <a:t>R^2 Score: 0.755300315635314</a:t>
            </a:r>
          </a:p>
        </p:txBody>
      </p:sp>
      <p:sp>
        <p:nvSpPr>
          <p:cNvPr id="15" name="Rectangle: Rounded Corners 14">
            <a:extLst>
              <a:ext uri="{FF2B5EF4-FFF2-40B4-BE49-F238E27FC236}">
                <a16:creationId xmlns:a16="http://schemas.microsoft.com/office/drawing/2014/main" id="{528F2D10-3E59-447D-AF67-EE0F6673B159}"/>
              </a:ext>
            </a:extLst>
          </p:cNvPr>
          <p:cNvSpPr/>
          <p:nvPr/>
        </p:nvSpPr>
        <p:spPr>
          <a:xfrm>
            <a:off x="7139078" y="3429000"/>
            <a:ext cx="4180563" cy="180652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IN" dirty="0">
                <a:solidFill>
                  <a:schemeClr val="bg1"/>
                </a:solidFill>
                <a:latin typeface="Arial" panose="020B0604020202020204" pitchFamily="34" charset="0"/>
                <a:cs typeface="Arial" panose="020B0604020202020204" pitchFamily="34" charset="0"/>
              </a:rPr>
              <a:t>The model score is 75% that means 75% of the data fit the regression model, since the r-squared score is close to 1 the model fits best.</a:t>
            </a:r>
            <a:endParaRPr lang="en-US" dirty="0">
              <a:solidFill>
                <a:schemeClr val="bg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87BF8D4B-FCEF-4166-B0D6-CEFCD5FC94E0}"/>
              </a:ext>
            </a:extLst>
          </p:cNvPr>
          <p:cNvPicPr>
            <a:picLocks noChangeAspect="1"/>
          </p:cNvPicPr>
          <p:nvPr/>
        </p:nvPicPr>
        <p:blipFill>
          <a:blip r:embed="rId2"/>
          <a:stretch>
            <a:fillRect/>
          </a:stretch>
        </p:blipFill>
        <p:spPr>
          <a:xfrm>
            <a:off x="872359" y="2793531"/>
            <a:ext cx="4856335" cy="3907114"/>
          </a:xfrm>
          <a:prstGeom prst="rect">
            <a:avLst/>
          </a:prstGeom>
        </p:spPr>
      </p:pic>
    </p:spTree>
    <p:extLst>
      <p:ext uri="{BB962C8B-B14F-4D97-AF65-F5344CB8AC3E}">
        <p14:creationId xmlns:p14="http://schemas.microsoft.com/office/powerpoint/2010/main" val="3492532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97F680-987B-4505-AF44-92891C69227F}"/>
              </a:ext>
            </a:extLst>
          </p:cNvPr>
          <p:cNvSpPr txBox="1">
            <a:spLocks/>
          </p:cNvSpPr>
          <p:nvPr/>
        </p:nvSpPr>
        <p:spPr>
          <a:xfrm>
            <a:off x="838200" y="251748"/>
            <a:ext cx="10515600" cy="33735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t>Accuracy of the Regression Models</a:t>
            </a:r>
            <a:endParaRPr lang="en-US" sz="2800" b="1" dirty="0"/>
          </a:p>
        </p:txBody>
      </p:sp>
      <p:cxnSp>
        <p:nvCxnSpPr>
          <p:cNvPr id="5" name="Straight Connector 4">
            <a:extLst>
              <a:ext uri="{FF2B5EF4-FFF2-40B4-BE49-F238E27FC236}">
                <a16:creationId xmlns:a16="http://schemas.microsoft.com/office/drawing/2014/main" id="{1F33DBAF-3309-474A-9520-E2936349F789}"/>
              </a:ext>
              <a:ext uri="{C183D7F6-B498-43B3-948B-1728B52AA6E4}">
                <adec:decorative xmlns:adec="http://schemas.microsoft.com/office/drawing/2017/decorative" val="1"/>
              </a:ext>
            </a:extLst>
          </p:cNvPr>
          <p:cNvCxnSpPr>
            <a:cxnSpLocks/>
          </p:cNvCxnSpPr>
          <p:nvPr/>
        </p:nvCxnSpPr>
        <p:spPr>
          <a:xfrm>
            <a:off x="0" y="523783"/>
            <a:ext cx="299512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291D72D-5B07-4FDF-8C5C-2B31F0F6B19C}"/>
              </a:ext>
              <a:ext uri="{C183D7F6-B498-43B3-948B-1728B52AA6E4}">
                <adec:decorative xmlns:adec="http://schemas.microsoft.com/office/drawing/2017/decorative" val="1"/>
              </a:ext>
            </a:extLst>
          </p:cNvPr>
          <p:cNvCxnSpPr>
            <a:cxnSpLocks/>
          </p:cNvCxnSpPr>
          <p:nvPr/>
        </p:nvCxnSpPr>
        <p:spPr>
          <a:xfrm>
            <a:off x="9171992" y="523783"/>
            <a:ext cx="3020008"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24EF7F14-CABA-45F7-B59F-F1256359087D}"/>
              </a:ext>
            </a:extLst>
          </p:cNvPr>
          <p:cNvSpPr/>
          <p:nvPr/>
        </p:nvSpPr>
        <p:spPr>
          <a:xfrm>
            <a:off x="1517780" y="861135"/>
            <a:ext cx="9492342" cy="3524254"/>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endParaRPr lang="en-US" dirty="0">
              <a:solidFill>
                <a:schemeClr val="bg1"/>
              </a:solidFill>
              <a:latin typeface="Arial" panose="020B0604020202020204" pitchFamily="34" charset="0"/>
              <a:cs typeface="Arial" panose="020B0604020202020204" pitchFamily="34" charset="0"/>
            </a:endParaRPr>
          </a:p>
        </p:txBody>
      </p:sp>
      <p:graphicFrame>
        <p:nvGraphicFramePr>
          <p:cNvPr id="13" name="Table 17">
            <a:extLst>
              <a:ext uri="{FF2B5EF4-FFF2-40B4-BE49-F238E27FC236}">
                <a16:creationId xmlns:a16="http://schemas.microsoft.com/office/drawing/2014/main" id="{42D05C55-062F-4131-929D-7C84BCE39800}"/>
              </a:ext>
            </a:extLst>
          </p:cNvPr>
          <p:cNvGraphicFramePr>
            <a:graphicFrameLocks noGrp="1"/>
          </p:cNvGraphicFramePr>
          <p:nvPr>
            <p:extLst>
              <p:ext uri="{D42A27DB-BD31-4B8C-83A1-F6EECF244321}">
                <p14:modId xmlns:p14="http://schemas.microsoft.com/office/powerpoint/2010/main" val="2440419339"/>
              </p:ext>
            </p:extLst>
          </p:nvPr>
        </p:nvGraphicFramePr>
        <p:xfrm>
          <a:off x="1800807" y="1222996"/>
          <a:ext cx="8798767" cy="2728601"/>
        </p:xfrm>
        <a:graphic>
          <a:graphicData uri="http://schemas.openxmlformats.org/drawingml/2006/table">
            <a:tbl>
              <a:tblPr firstRow="1" bandRow="1">
                <a:tableStyleId>{2D5ABB26-0587-4C30-8999-92F81FD0307C}</a:tableStyleId>
              </a:tblPr>
              <a:tblGrid>
                <a:gridCol w="4384009">
                  <a:extLst>
                    <a:ext uri="{9D8B030D-6E8A-4147-A177-3AD203B41FA5}">
                      <a16:colId xmlns:a16="http://schemas.microsoft.com/office/drawing/2014/main" val="3934099021"/>
                    </a:ext>
                  </a:extLst>
                </a:gridCol>
                <a:gridCol w="4414758">
                  <a:extLst>
                    <a:ext uri="{9D8B030D-6E8A-4147-A177-3AD203B41FA5}">
                      <a16:colId xmlns:a16="http://schemas.microsoft.com/office/drawing/2014/main" val="614293111"/>
                    </a:ext>
                  </a:extLst>
                </a:gridCol>
              </a:tblGrid>
              <a:tr h="569495">
                <a:tc>
                  <a:txBody>
                    <a:bodyPr/>
                    <a:lstStyle/>
                    <a:p>
                      <a:pPr algn="ctr"/>
                      <a:r>
                        <a:rPr lang="en-IN" sz="1800" dirty="0">
                          <a:solidFill>
                            <a:schemeClr val="bg1"/>
                          </a:solidFill>
                          <a:latin typeface="Arial" panose="020B0604020202020204" pitchFamily="34" charset="0"/>
                          <a:cs typeface="Arial" panose="020B0604020202020204" pitchFamily="34" charset="0"/>
                        </a:rPr>
                        <a:t>Regression Model</a:t>
                      </a:r>
                    </a:p>
                  </a:txBody>
                  <a:tcPr/>
                </a:tc>
                <a:tc>
                  <a:txBody>
                    <a:bodyPr/>
                    <a:lstStyle/>
                    <a:p>
                      <a:pPr algn="ctr"/>
                      <a:r>
                        <a:rPr lang="en-IN" sz="1800" dirty="0">
                          <a:solidFill>
                            <a:schemeClr val="bg1"/>
                          </a:solidFill>
                          <a:latin typeface="Arial" panose="020B0604020202020204" pitchFamily="34" charset="0"/>
                          <a:cs typeface="Arial" panose="020B0604020202020204" pitchFamily="34" charset="0"/>
                        </a:rPr>
                        <a:t>R2 Score</a:t>
                      </a:r>
                    </a:p>
                  </a:txBody>
                  <a:tcPr/>
                </a:tc>
                <a:extLst>
                  <a:ext uri="{0D108BD9-81ED-4DB2-BD59-A6C34878D82A}">
                    <a16:rowId xmlns:a16="http://schemas.microsoft.com/office/drawing/2014/main" val="1780922426"/>
                  </a:ext>
                </a:extLst>
              </a:tr>
              <a:tr h="569495">
                <a:tc>
                  <a:txBody>
                    <a:bodyPr/>
                    <a:lstStyle/>
                    <a:p>
                      <a:pPr algn="ctr"/>
                      <a:r>
                        <a:rPr lang="en-IN" sz="1800" dirty="0">
                          <a:solidFill>
                            <a:schemeClr val="bg1"/>
                          </a:solidFill>
                          <a:latin typeface="Arial" panose="020B0604020202020204" pitchFamily="34" charset="0"/>
                          <a:cs typeface="Arial" panose="020B0604020202020204" pitchFamily="34" charset="0"/>
                        </a:rPr>
                        <a:t>Multiple Linear Regression</a:t>
                      </a:r>
                    </a:p>
                  </a:txBody>
                  <a:tcPr/>
                </a:tc>
                <a:tc>
                  <a:txBody>
                    <a:bodyPr/>
                    <a:lstStyle/>
                    <a:p>
                      <a:pPr algn="ctr"/>
                      <a:r>
                        <a:rPr lang="en-IN" sz="1800" dirty="0">
                          <a:solidFill>
                            <a:schemeClr val="bg1"/>
                          </a:solidFill>
                          <a:latin typeface="Arial" panose="020B0604020202020204" pitchFamily="34" charset="0"/>
                          <a:cs typeface="Arial" panose="020B0604020202020204" pitchFamily="34" charset="0"/>
                        </a:rPr>
                        <a:t>0.6604280706669454</a:t>
                      </a:r>
                    </a:p>
                  </a:txBody>
                  <a:tcPr/>
                </a:tc>
                <a:extLst>
                  <a:ext uri="{0D108BD9-81ED-4DB2-BD59-A6C34878D82A}">
                    <a16:rowId xmlns:a16="http://schemas.microsoft.com/office/drawing/2014/main" val="3036561228"/>
                  </a:ext>
                </a:extLst>
              </a:tr>
              <a:tr h="569495">
                <a:tc>
                  <a:txBody>
                    <a:bodyPr/>
                    <a:lstStyle/>
                    <a:p>
                      <a:pPr algn="ctr"/>
                      <a:r>
                        <a:rPr lang="en-IN" sz="1800" dirty="0">
                          <a:solidFill>
                            <a:schemeClr val="bg1"/>
                          </a:solidFill>
                          <a:latin typeface="Arial" panose="020B0604020202020204" pitchFamily="34" charset="0"/>
                          <a:cs typeface="Arial" panose="020B0604020202020204" pitchFamily="34" charset="0"/>
                        </a:rPr>
                        <a:t>Support Vector Regression</a:t>
                      </a:r>
                    </a:p>
                  </a:txBody>
                  <a:tcPr/>
                </a:tc>
                <a:tc>
                  <a:txBody>
                    <a:bodyPr/>
                    <a:lstStyle/>
                    <a:p>
                      <a:pPr algn="ctr"/>
                      <a:r>
                        <a:rPr lang="en-IN" sz="1800" dirty="0">
                          <a:solidFill>
                            <a:schemeClr val="bg1"/>
                          </a:solidFill>
                          <a:latin typeface="Arial" panose="020B0604020202020204" pitchFamily="34" charset="0"/>
                          <a:cs typeface="Arial" panose="020B0604020202020204" pitchFamily="34" charset="0"/>
                        </a:rPr>
                        <a:t>0.518815148933865</a:t>
                      </a:r>
                    </a:p>
                  </a:txBody>
                  <a:tcPr/>
                </a:tc>
                <a:extLst>
                  <a:ext uri="{0D108BD9-81ED-4DB2-BD59-A6C34878D82A}">
                    <a16:rowId xmlns:a16="http://schemas.microsoft.com/office/drawing/2014/main" val="970221926"/>
                  </a:ext>
                </a:extLst>
              </a:tr>
              <a:tr h="569495">
                <a:tc>
                  <a:txBody>
                    <a:bodyPr/>
                    <a:lstStyle/>
                    <a:p>
                      <a:pPr algn="ctr"/>
                      <a:r>
                        <a:rPr lang="en-IN" sz="1800" dirty="0">
                          <a:solidFill>
                            <a:schemeClr val="bg1"/>
                          </a:solidFill>
                          <a:latin typeface="Arial" panose="020B0604020202020204" pitchFamily="34" charset="0"/>
                          <a:cs typeface="Arial" panose="020B0604020202020204" pitchFamily="34" charset="0"/>
                        </a:rPr>
                        <a:t>Decision Tree Regressor</a:t>
                      </a:r>
                    </a:p>
                  </a:txBody>
                  <a:tcPr/>
                </a:tc>
                <a:tc>
                  <a:txBody>
                    <a:bodyPr/>
                    <a:lstStyle/>
                    <a:p>
                      <a:pPr algn="ctr"/>
                      <a:r>
                        <a:rPr lang="en-IN" sz="1800" dirty="0">
                          <a:solidFill>
                            <a:schemeClr val="bg1"/>
                          </a:solidFill>
                          <a:latin typeface="Arial" panose="020B0604020202020204" pitchFamily="34" charset="0"/>
                          <a:cs typeface="Arial" panose="020B0604020202020204" pitchFamily="34" charset="0"/>
                        </a:rPr>
                        <a:t>0.45316105389854877</a:t>
                      </a:r>
                    </a:p>
                  </a:txBody>
                  <a:tcPr/>
                </a:tc>
                <a:extLst>
                  <a:ext uri="{0D108BD9-81ED-4DB2-BD59-A6C34878D82A}">
                    <a16:rowId xmlns:a16="http://schemas.microsoft.com/office/drawing/2014/main" val="3634774652"/>
                  </a:ext>
                </a:extLst>
              </a:tr>
              <a:tr h="450621">
                <a:tc>
                  <a:txBody>
                    <a:bodyPr/>
                    <a:lstStyle/>
                    <a:p>
                      <a:pPr algn="ctr"/>
                      <a:r>
                        <a:rPr lang="en-IN" sz="1800" dirty="0">
                          <a:solidFill>
                            <a:schemeClr val="bg1"/>
                          </a:solidFill>
                          <a:latin typeface="Arial" panose="020B0604020202020204" pitchFamily="34" charset="0"/>
                          <a:cs typeface="Arial" panose="020B0604020202020204" pitchFamily="34" charset="0"/>
                        </a:rPr>
                        <a:t>Random Forest Regressor</a:t>
                      </a:r>
                    </a:p>
                  </a:txBody>
                  <a:tcPr/>
                </a:tc>
                <a:tc>
                  <a:txBody>
                    <a:bodyPr/>
                    <a:lstStyle/>
                    <a:p>
                      <a:pPr algn="ctr"/>
                      <a:r>
                        <a:rPr lang="en-IN" sz="1800" dirty="0">
                          <a:solidFill>
                            <a:schemeClr val="bg1"/>
                          </a:solidFill>
                          <a:latin typeface="Arial" panose="020B0604020202020204" pitchFamily="34" charset="0"/>
                          <a:cs typeface="Arial" panose="020B0604020202020204" pitchFamily="34" charset="0"/>
                        </a:rPr>
                        <a:t>0.755300315635314</a:t>
                      </a:r>
                    </a:p>
                  </a:txBody>
                  <a:tcPr/>
                </a:tc>
                <a:extLst>
                  <a:ext uri="{0D108BD9-81ED-4DB2-BD59-A6C34878D82A}">
                    <a16:rowId xmlns:a16="http://schemas.microsoft.com/office/drawing/2014/main" val="3811414059"/>
                  </a:ext>
                </a:extLst>
              </a:tr>
            </a:tbl>
          </a:graphicData>
        </a:graphic>
      </p:graphicFrame>
      <p:graphicFrame>
        <p:nvGraphicFramePr>
          <p:cNvPr id="19" name="Table 18">
            <a:extLst>
              <a:ext uri="{FF2B5EF4-FFF2-40B4-BE49-F238E27FC236}">
                <a16:creationId xmlns:a16="http://schemas.microsoft.com/office/drawing/2014/main" id="{60E5F592-7F67-4AAC-9633-C562A0B3EA44}"/>
              </a:ext>
            </a:extLst>
          </p:cNvPr>
          <p:cNvGraphicFramePr>
            <a:graphicFrameLocks noGrp="1"/>
          </p:cNvGraphicFramePr>
          <p:nvPr>
            <p:extLst>
              <p:ext uri="{D42A27DB-BD31-4B8C-83A1-F6EECF244321}">
                <p14:modId xmlns:p14="http://schemas.microsoft.com/office/powerpoint/2010/main" val="1691320484"/>
              </p:ext>
            </p:extLst>
          </p:nvPr>
        </p:nvGraphicFramePr>
        <p:xfrm>
          <a:off x="1810139" y="1231641"/>
          <a:ext cx="8845420" cy="2789853"/>
        </p:xfrm>
        <a:graphic>
          <a:graphicData uri="http://schemas.openxmlformats.org/drawingml/2006/table">
            <a:tbl>
              <a:tblPr/>
              <a:tblGrid>
                <a:gridCol w="8845420">
                  <a:extLst>
                    <a:ext uri="{9D8B030D-6E8A-4147-A177-3AD203B41FA5}">
                      <a16:colId xmlns:a16="http://schemas.microsoft.com/office/drawing/2014/main" val="2824758938"/>
                    </a:ext>
                  </a:extLst>
                </a:gridCol>
              </a:tblGrid>
              <a:tr h="2789853">
                <a:tc>
                  <a:txBody>
                    <a:bodyPr/>
                    <a:lstStyle/>
                    <a:p>
                      <a:endParaRPr lang="en-IN" dirty="0"/>
                    </a:p>
                  </a:txBody>
                  <a:tcP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extLst>
                  <a:ext uri="{0D108BD9-81ED-4DB2-BD59-A6C34878D82A}">
                    <a16:rowId xmlns:a16="http://schemas.microsoft.com/office/drawing/2014/main" val="2800589778"/>
                  </a:ext>
                </a:extLst>
              </a:tr>
            </a:tbl>
          </a:graphicData>
        </a:graphic>
      </p:graphicFrame>
      <p:graphicFrame>
        <p:nvGraphicFramePr>
          <p:cNvPr id="20" name="Table 19">
            <a:extLst>
              <a:ext uri="{FF2B5EF4-FFF2-40B4-BE49-F238E27FC236}">
                <a16:creationId xmlns:a16="http://schemas.microsoft.com/office/drawing/2014/main" id="{D711805F-1CDF-46DC-AAC2-8CC44C6BA50B}"/>
              </a:ext>
            </a:extLst>
          </p:cNvPr>
          <p:cNvGraphicFramePr>
            <a:graphicFrameLocks noGrp="1"/>
          </p:cNvGraphicFramePr>
          <p:nvPr>
            <p:extLst>
              <p:ext uri="{D42A27DB-BD31-4B8C-83A1-F6EECF244321}">
                <p14:modId xmlns:p14="http://schemas.microsoft.com/office/powerpoint/2010/main" val="2398805177"/>
              </p:ext>
            </p:extLst>
          </p:nvPr>
        </p:nvGraphicFramePr>
        <p:xfrm>
          <a:off x="1828800" y="1231640"/>
          <a:ext cx="8836089" cy="457200"/>
        </p:xfrm>
        <a:graphic>
          <a:graphicData uri="http://schemas.openxmlformats.org/drawingml/2006/table">
            <a:tbl>
              <a:tblPr/>
              <a:tblGrid>
                <a:gridCol w="8836089">
                  <a:extLst>
                    <a:ext uri="{9D8B030D-6E8A-4147-A177-3AD203B41FA5}">
                      <a16:colId xmlns:a16="http://schemas.microsoft.com/office/drawing/2014/main" val="822510724"/>
                    </a:ext>
                  </a:extLst>
                </a:gridCol>
              </a:tblGrid>
              <a:tr h="457200">
                <a:tc>
                  <a:txBody>
                    <a:bodyPr/>
                    <a:lstStyle/>
                    <a:p>
                      <a:endParaRPr lang="en-IN" dirty="0"/>
                    </a:p>
                  </a:txBody>
                  <a:tcP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extLst>
                  <a:ext uri="{0D108BD9-81ED-4DB2-BD59-A6C34878D82A}">
                    <a16:rowId xmlns:a16="http://schemas.microsoft.com/office/drawing/2014/main" val="2263684052"/>
                  </a:ext>
                </a:extLst>
              </a:tr>
            </a:tbl>
          </a:graphicData>
        </a:graphic>
      </p:graphicFrame>
      <p:cxnSp>
        <p:nvCxnSpPr>
          <p:cNvPr id="23" name="Straight Connector 22">
            <a:extLst>
              <a:ext uri="{FF2B5EF4-FFF2-40B4-BE49-F238E27FC236}">
                <a16:creationId xmlns:a16="http://schemas.microsoft.com/office/drawing/2014/main" id="{CB5190E0-BF45-448D-90A8-EDBCCB2B341F}"/>
              </a:ext>
            </a:extLst>
          </p:cNvPr>
          <p:cNvCxnSpPr>
            <a:endCxn id="19" idx="2"/>
          </p:cNvCxnSpPr>
          <p:nvPr/>
        </p:nvCxnSpPr>
        <p:spPr>
          <a:xfrm>
            <a:off x="6186196" y="1250302"/>
            <a:ext cx="46653" cy="27711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4D044D8A-6596-4A36-B921-8848093A267B}"/>
              </a:ext>
            </a:extLst>
          </p:cNvPr>
          <p:cNvSpPr/>
          <p:nvPr/>
        </p:nvSpPr>
        <p:spPr>
          <a:xfrm>
            <a:off x="1598645" y="4747250"/>
            <a:ext cx="9523444" cy="131557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just"/>
            <a:r>
              <a:rPr lang="en-IN" sz="1600" dirty="0">
                <a:solidFill>
                  <a:schemeClr val="bg1"/>
                </a:solidFill>
                <a:latin typeface="Arial" panose="020B0604020202020204" pitchFamily="34" charset="0"/>
                <a:cs typeface="Arial" panose="020B0604020202020204" pitchFamily="34" charset="0"/>
              </a:rPr>
              <a:t>By comparing the R2 of the regressions model we conclude that the Random Forest Regressor have more accuracy in prediction when compared to the others regression model, it has the highest R2 Score </a:t>
            </a:r>
            <a:r>
              <a:rPr lang="en-IN" sz="1600" dirty="0" err="1">
                <a:solidFill>
                  <a:schemeClr val="bg1"/>
                </a:solidFill>
                <a:latin typeface="Arial" panose="020B0604020202020204" pitchFamily="34" charset="0"/>
                <a:cs typeface="Arial" panose="020B0604020202020204" pitchFamily="34" charset="0"/>
              </a:rPr>
              <a:t>i.e</a:t>
            </a:r>
            <a:r>
              <a:rPr lang="en-IN" sz="1600" dirty="0">
                <a:solidFill>
                  <a:schemeClr val="bg1"/>
                </a:solidFill>
                <a:latin typeface="Arial" panose="020B0604020202020204" pitchFamily="34" charset="0"/>
                <a:cs typeface="Arial" panose="020B0604020202020204" pitchFamily="34" charset="0"/>
              </a:rPr>
              <a:t> 0.755300315635314</a:t>
            </a:r>
            <a:endParaRPr lang="en-US" sz="1600" dirty="0">
              <a:solidFill>
                <a:schemeClr val="bg1"/>
              </a:solidFill>
              <a:latin typeface="Arial" panose="020B0604020202020204" pitchFamily="34" charset="0"/>
              <a:cs typeface="Arial" panose="020B0604020202020204" pitchFamily="34" charset="0"/>
            </a:endParaRPr>
          </a:p>
        </p:txBody>
      </p:sp>
      <p:pic>
        <p:nvPicPr>
          <p:cNvPr id="25" name="Picture 24">
            <a:extLst>
              <a:ext uri="{FF2B5EF4-FFF2-40B4-BE49-F238E27FC236}">
                <a16:creationId xmlns:a16="http://schemas.microsoft.com/office/drawing/2014/main" id="{26F48DDA-F1E6-4D06-8550-5F2467E01168}"/>
              </a:ext>
            </a:extLst>
          </p:cNvPr>
          <p:cNvPicPr>
            <a:picLocks noChangeAspect="1"/>
          </p:cNvPicPr>
          <p:nvPr/>
        </p:nvPicPr>
        <p:blipFill>
          <a:blip r:embed="rId2"/>
          <a:stretch>
            <a:fillRect/>
          </a:stretch>
        </p:blipFill>
        <p:spPr>
          <a:xfrm>
            <a:off x="6150795" y="4400424"/>
            <a:ext cx="188992" cy="408467"/>
          </a:xfrm>
          <a:prstGeom prst="rect">
            <a:avLst/>
          </a:prstGeom>
        </p:spPr>
      </p:pic>
    </p:spTree>
    <p:extLst>
      <p:ext uri="{BB962C8B-B14F-4D97-AF65-F5344CB8AC3E}">
        <p14:creationId xmlns:p14="http://schemas.microsoft.com/office/powerpoint/2010/main" val="617365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A3C28A3C-8AD2-4C23-B363-9D10C97E7190}"/>
              </a:ext>
            </a:extLst>
          </p:cNvPr>
          <p:cNvSpPr txBox="1">
            <a:spLocks/>
          </p:cNvSpPr>
          <p:nvPr/>
        </p:nvSpPr>
        <p:spPr>
          <a:xfrm>
            <a:off x="838200" y="251748"/>
            <a:ext cx="10515600" cy="33735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t>Classification Models</a:t>
            </a:r>
          </a:p>
        </p:txBody>
      </p:sp>
      <p:cxnSp>
        <p:nvCxnSpPr>
          <p:cNvPr id="7" name="Straight Connector 6">
            <a:extLst>
              <a:ext uri="{FF2B5EF4-FFF2-40B4-BE49-F238E27FC236}">
                <a16:creationId xmlns:a16="http://schemas.microsoft.com/office/drawing/2014/main" id="{8DF78373-47AC-4721-83C6-1D6412C5C0CE}"/>
              </a:ext>
              <a:ext uri="{C183D7F6-B498-43B3-948B-1728B52AA6E4}">
                <adec:decorative xmlns:adec="http://schemas.microsoft.com/office/drawing/2017/decorative" val="1"/>
              </a:ext>
            </a:extLst>
          </p:cNvPr>
          <p:cNvCxnSpPr>
            <a:cxnSpLocks/>
          </p:cNvCxnSpPr>
          <p:nvPr/>
        </p:nvCxnSpPr>
        <p:spPr>
          <a:xfrm>
            <a:off x="0" y="523783"/>
            <a:ext cx="4208016"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C8EEF0-D580-4371-B28A-DE0D185CEC51}"/>
              </a:ext>
              <a:ext uri="{C183D7F6-B498-43B3-948B-1728B52AA6E4}">
                <adec:decorative xmlns:adec="http://schemas.microsoft.com/office/drawing/2017/decorative" val="1"/>
              </a:ext>
            </a:extLst>
          </p:cNvPr>
          <p:cNvCxnSpPr>
            <a:cxnSpLocks/>
          </p:cNvCxnSpPr>
          <p:nvPr/>
        </p:nvCxnSpPr>
        <p:spPr>
          <a:xfrm>
            <a:off x="8035115" y="523783"/>
            <a:ext cx="415688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30D597FE-13C2-4646-88E7-6640E40A2E34}"/>
              </a:ext>
              <a:ext uri="{C183D7F6-B498-43B3-948B-1728B52AA6E4}">
                <adec:decorative xmlns:adec="http://schemas.microsoft.com/office/drawing/2017/decorative" val="1"/>
              </a:ext>
            </a:extLst>
          </p:cNvPr>
          <p:cNvSpPr/>
          <p:nvPr/>
        </p:nvSpPr>
        <p:spPr>
          <a:xfrm>
            <a:off x="1347449" y="4584851"/>
            <a:ext cx="3198937" cy="680812"/>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Random Forest Classifier</a:t>
            </a:r>
          </a:p>
        </p:txBody>
      </p:sp>
      <p:pic>
        <p:nvPicPr>
          <p:cNvPr id="4" name="Picture 3" descr="Chart&#10;&#10;Description automatically generated">
            <a:extLst>
              <a:ext uri="{FF2B5EF4-FFF2-40B4-BE49-F238E27FC236}">
                <a16:creationId xmlns:a16="http://schemas.microsoft.com/office/drawing/2014/main" id="{2D87A019-EF79-44F1-A86F-FEEA053531AA}"/>
              </a:ext>
            </a:extLst>
          </p:cNvPr>
          <p:cNvPicPr>
            <a:picLocks noChangeAspect="1"/>
          </p:cNvPicPr>
          <p:nvPr/>
        </p:nvPicPr>
        <p:blipFill rotWithShape="1">
          <a:blip r:embed="rId2">
            <a:extLst>
              <a:ext uri="{28A0092B-C50C-407E-A947-70E740481C1C}">
                <a14:useLocalDpi xmlns:a14="http://schemas.microsoft.com/office/drawing/2010/main" val="0"/>
              </a:ext>
            </a:extLst>
          </a:blip>
          <a:srcRect l="12934" t="26394" r="15816" b="6276"/>
          <a:stretch/>
        </p:blipFill>
        <p:spPr>
          <a:xfrm>
            <a:off x="558283" y="1608075"/>
            <a:ext cx="4963886" cy="2638612"/>
          </a:xfrm>
          <a:prstGeom prst="rect">
            <a:avLst/>
          </a:prstGeom>
        </p:spPr>
      </p:pic>
      <p:pic>
        <p:nvPicPr>
          <p:cNvPr id="9" name="Picture 8" descr="A picture containing shape&#10;&#10;Description automatically generated">
            <a:extLst>
              <a:ext uri="{FF2B5EF4-FFF2-40B4-BE49-F238E27FC236}">
                <a16:creationId xmlns:a16="http://schemas.microsoft.com/office/drawing/2014/main" id="{768BF483-DC09-4C28-A923-20D84E9F83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8503" y="1306287"/>
            <a:ext cx="3598602" cy="2940400"/>
          </a:xfrm>
          <a:prstGeom prst="rect">
            <a:avLst/>
          </a:prstGeom>
        </p:spPr>
      </p:pic>
      <p:sp>
        <p:nvSpPr>
          <p:cNvPr id="18" name="Rectangle: Rounded Corners 17">
            <a:extLst>
              <a:ext uri="{FF2B5EF4-FFF2-40B4-BE49-F238E27FC236}">
                <a16:creationId xmlns:a16="http://schemas.microsoft.com/office/drawing/2014/main" id="{528CAC11-112E-4190-9C12-42A28137B1AB}"/>
              </a:ext>
              <a:ext uri="{C183D7F6-B498-43B3-948B-1728B52AA6E4}">
                <adec:decorative xmlns:adec="http://schemas.microsoft.com/office/drawing/2017/decorative" val="1"/>
              </a:ext>
            </a:extLst>
          </p:cNvPr>
          <p:cNvSpPr/>
          <p:nvPr/>
        </p:nvSpPr>
        <p:spPr>
          <a:xfrm>
            <a:off x="8065483" y="4602206"/>
            <a:ext cx="3198937" cy="680812"/>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KNN Classifier</a:t>
            </a:r>
          </a:p>
        </p:txBody>
      </p:sp>
    </p:spTree>
    <p:extLst>
      <p:ext uri="{BB962C8B-B14F-4D97-AF65-F5344CB8AC3E}">
        <p14:creationId xmlns:p14="http://schemas.microsoft.com/office/powerpoint/2010/main" val="29397789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97F680-987B-4505-AF44-92891C69227F}"/>
              </a:ext>
            </a:extLst>
          </p:cNvPr>
          <p:cNvSpPr txBox="1">
            <a:spLocks/>
          </p:cNvSpPr>
          <p:nvPr/>
        </p:nvSpPr>
        <p:spPr>
          <a:xfrm>
            <a:off x="838200" y="251748"/>
            <a:ext cx="10515600" cy="33735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t>Random Forest Classifier</a:t>
            </a:r>
          </a:p>
        </p:txBody>
      </p:sp>
      <p:cxnSp>
        <p:nvCxnSpPr>
          <p:cNvPr id="5" name="Straight Connector 4">
            <a:extLst>
              <a:ext uri="{FF2B5EF4-FFF2-40B4-BE49-F238E27FC236}">
                <a16:creationId xmlns:a16="http://schemas.microsoft.com/office/drawing/2014/main" id="{1F33DBAF-3309-474A-9520-E2936349F789}"/>
              </a:ext>
              <a:ext uri="{C183D7F6-B498-43B3-948B-1728B52AA6E4}">
                <adec:decorative xmlns:adec="http://schemas.microsoft.com/office/drawing/2017/decorative" val="1"/>
              </a:ext>
            </a:extLst>
          </p:cNvPr>
          <p:cNvCxnSpPr>
            <a:cxnSpLocks/>
          </p:cNvCxnSpPr>
          <p:nvPr/>
        </p:nvCxnSpPr>
        <p:spPr>
          <a:xfrm>
            <a:off x="0" y="523783"/>
            <a:ext cx="372282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291D72D-5B07-4FDF-8C5C-2B31F0F6B19C}"/>
              </a:ext>
              <a:ext uri="{C183D7F6-B498-43B3-948B-1728B52AA6E4}">
                <adec:decorative xmlns:adec="http://schemas.microsoft.com/office/drawing/2017/decorative" val="1"/>
              </a:ext>
            </a:extLst>
          </p:cNvPr>
          <p:cNvCxnSpPr>
            <a:cxnSpLocks/>
          </p:cNvCxnSpPr>
          <p:nvPr/>
        </p:nvCxnSpPr>
        <p:spPr>
          <a:xfrm>
            <a:off x="8460053" y="523783"/>
            <a:ext cx="373194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7A169237-74FD-4A8A-8235-7BA3E3B6D0E7}"/>
              </a:ext>
            </a:extLst>
          </p:cNvPr>
          <p:cNvSpPr/>
          <p:nvPr/>
        </p:nvSpPr>
        <p:spPr>
          <a:xfrm>
            <a:off x="838200" y="642974"/>
            <a:ext cx="10750420" cy="1335112"/>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just"/>
            <a:r>
              <a:rPr lang="en-IN" b="0" i="0" dirty="0">
                <a:solidFill>
                  <a:schemeClr val="bg1"/>
                </a:solidFill>
                <a:effectLst/>
                <a:latin typeface="arial" panose="020B0604020202020204" pitchFamily="34" charset="0"/>
              </a:rPr>
              <a:t>Random forest, like its name implies, consists of a large number of individual decision trees that operate as an ensemble. Each individual tree in the random forest spits out a class prediction and the class with the most votes become our model’s prediction</a:t>
            </a:r>
            <a:endParaRPr lang="en-US" b="0" i="0" dirty="0">
              <a:solidFill>
                <a:schemeClr val="bg1"/>
              </a:solidFill>
              <a:effectLst/>
              <a:latin typeface="arial" panose="020B0604020202020204" pitchFamily="34" charset="0"/>
            </a:endParaRPr>
          </a:p>
        </p:txBody>
      </p:sp>
      <p:sp>
        <p:nvSpPr>
          <p:cNvPr id="11" name="Rectangle: Rounded Corners 10">
            <a:extLst>
              <a:ext uri="{FF2B5EF4-FFF2-40B4-BE49-F238E27FC236}">
                <a16:creationId xmlns:a16="http://schemas.microsoft.com/office/drawing/2014/main" id="{23E77440-B252-4862-B16D-95D074D5EF37}"/>
              </a:ext>
            </a:extLst>
          </p:cNvPr>
          <p:cNvSpPr/>
          <p:nvPr/>
        </p:nvSpPr>
        <p:spPr>
          <a:xfrm>
            <a:off x="726333" y="2097276"/>
            <a:ext cx="4450501" cy="5304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Classification Report</a:t>
            </a:r>
          </a:p>
        </p:txBody>
      </p:sp>
      <p:sp>
        <p:nvSpPr>
          <p:cNvPr id="12" name="Rectangle: Rounded Corners 11">
            <a:extLst>
              <a:ext uri="{FF2B5EF4-FFF2-40B4-BE49-F238E27FC236}">
                <a16:creationId xmlns:a16="http://schemas.microsoft.com/office/drawing/2014/main" id="{E93B3B78-3212-408D-ADA4-328451D175DD}"/>
              </a:ext>
            </a:extLst>
          </p:cNvPr>
          <p:cNvSpPr/>
          <p:nvPr/>
        </p:nvSpPr>
        <p:spPr>
          <a:xfrm>
            <a:off x="7304409" y="2089779"/>
            <a:ext cx="4450501" cy="5304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Confusion Matrix Heat Map</a:t>
            </a:r>
          </a:p>
        </p:txBody>
      </p:sp>
      <p:pic>
        <p:nvPicPr>
          <p:cNvPr id="8" name="Picture 7">
            <a:extLst>
              <a:ext uri="{FF2B5EF4-FFF2-40B4-BE49-F238E27FC236}">
                <a16:creationId xmlns:a16="http://schemas.microsoft.com/office/drawing/2014/main" id="{5B0F01AF-090B-486F-857F-B1933E366A61}"/>
              </a:ext>
            </a:extLst>
          </p:cNvPr>
          <p:cNvPicPr>
            <a:picLocks noChangeAspect="1"/>
          </p:cNvPicPr>
          <p:nvPr/>
        </p:nvPicPr>
        <p:blipFill rotWithShape="1">
          <a:blip r:embed="rId2"/>
          <a:srcRect l="5016" t="1" r="786" b="4625"/>
          <a:stretch/>
        </p:blipFill>
        <p:spPr>
          <a:xfrm>
            <a:off x="7231224" y="2862168"/>
            <a:ext cx="4523687" cy="3146748"/>
          </a:xfrm>
          <a:prstGeom prst="rect">
            <a:avLst/>
          </a:prstGeom>
        </p:spPr>
      </p:pic>
      <p:sp>
        <p:nvSpPr>
          <p:cNvPr id="16" name="Rectangle: Rounded Corners 15">
            <a:extLst>
              <a:ext uri="{FF2B5EF4-FFF2-40B4-BE49-F238E27FC236}">
                <a16:creationId xmlns:a16="http://schemas.microsoft.com/office/drawing/2014/main" id="{4D4BBC59-264A-48AB-875D-3A1056AB5A60}"/>
              </a:ext>
            </a:extLst>
          </p:cNvPr>
          <p:cNvSpPr/>
          <p:nvPr/>
        </p:nvSpPr>
        <p:spPr>
          <a:xfrm>
            <a:off x="726333" y="5219729"/>
            <a:ext cx="4450501" cy="147724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IN" sz="1600" dirty="0">
                <a:solidFill>
                  <a:schemeClr val="bg1"/>
                </a:solidFill>
                <a:latin typeface="Arial" panose="020B0604020202020204" pitchFamily="34" charset="0"/>
                <a:cs typeface="Arial" panose="020B0604020202020204" pitchFamily="34" charset="0"/>
              </a:rPr>
              <a:t>From the above analysis result we conclude that since the overall accuracy score of the model is 0.51 which is not that close to 1 so the model does not fit best.</a:t>
            </a:r>
            <a:endParaRPr lang="en-US" sz="1600" dirty="0">
              <a:solidFill>
                <a:schemeClr val="bg1"/>
              </a:solidFill>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210413EC-B6ED-4644-A5DE-AA8BFA0C0106}"/>
              </a:ext>
            </a:extLst>
          </p:cNvPr>
          <p:cNvPicPr>
            <a:picLocks noChangeAspect="1"/>
          </p:cNvPicPr>
          <p:nvPr/>
        </p:nvPicPr>
        <p:blipFill>
          <a:blip r:embed="rId3"/>
          <a:stretch>
            <a:fillRect/>
          </a:stretch>
        </p:blipFill>
        <p:spPr>
          <a:xfrm>
            <a:off x="633121" y="2746873"/>
            <a:ext cx="6467475" cy="2228850"/>
          </a:xfrm>
          <a:prstGeom prst="rect">
            <a:avLst/>
          </a:prstGeom>
        </p:spPr>
      </p:pic>
    </p:spTree>
    <p:extLst>
      <p:ext uri="{BB962C8B-B14F-4D97-AF65-F5344CB8AC3E}">
        <p14:creationId xmlns:p14="http://schemas.microsoft.com/office/powerpoint/2010/main" val="29497541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97F680-987B-4505-AF44-92891C69227F}"/>
              </a:ext>
            </a:extLst>
          </p:cNvPr>
          <p:cNvSpPr txBox="1">
            <a:spLocks/>
          </p:cNvSpPr>
          <p:nvPr/>
        </p:nvSpPr>
        <p:spPr>
          <a:xfrm>
            <a:off x="838200" y="251748"/>
            <a:ext cx="10515600" cy="33735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t>K-Nearest Neighbors Classifier</a:t>
            </a:r>
          </a:p>
        </p:txBody>
      </p:sp>
      <p:cxnSp>
        <p:nvCxnSpPr>
          <p:cNvPr id="5" name="Straight Connector 4">
            <a:extLst>
              <a:ext uri="{FF2B5EF4-FFF2-40B4-BE49-F238E27FC236}">
                <a16:creationId xmlns:a16="http://schemas.microsoft.com/office/drawing/2014/main" id="{1F33DBAF-3309-474A-9520-E2936349F789}"/>
              </a:ext>
              <a:ext uri="{C183D7F6-B498-43B3-948B-1728B52AA6E4}">
                <adec:decorative xmlns:adec="http://schemas.microsoft.com/office/drawing/2017/decorative" val="1"/>
              </a:ext>
            </a:extLst>
          </p:cNvPr>
          <p:cNvCxnSpPr>
            <a:cxnSpLocks/>
          </p:cNvCxnSpPr>
          <p:nvPr/>
        </p:nvCxnSpPr>
        <p:spPr>
          <a:xfrm>
            <a:off x="0" y="523783"/>
            <a:ext cx="3470988"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291D72D-5B07-4FDF-8C5C-2B31F0F6B19C}"/>
              </a:ext>
              <a:ext uri="{C183D7F6-B498-43B3-948B-1728B52AA6E4}">
                <adec:decorative xmlns:adec="http://schemas.microsoft.com/office/drawing/2017/decorative" val="1"/>
              </a:ext>
            </a:extLst>
          </p:cNvPr>
          <p:cNvCxnSpPr>
            <a:cxnSpLocks/>
          </p:cNvCxnSpPr>
          <p:nvPr/>
        </p:nvCxnSpPr>
        <p:spPr>
          <a:xfrm>
            <a:off x="8696131" y="523783"/>
            <a:ext cx="3495869"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7A169237-74FD-4A8A-8235-7BA3E3B6D0E7}"/>
              </a:ext>
            </a:extLst>
          </p:cNvPr>
          <p:cNvSpPr/>
          <p:nvPr/>
        </p:nvSpPr>
        <p:spPr>
          <a:xfrm>
            <a:off x="838199" y="642974"/>
            <a:ext cx="10815735" cy="11018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just"/>
            <a:r>
              <a:rPr lang="en-IN" b="0" i="0" dirty="0">
                <a:solidFill>
                  <a:schemeClr val="bg1"/>
                </a:solidFill>
                <a:effectLst/>
                <a:latin typeface="arial" panose="020B0604020202020204" pitchFamily="34" charset="0"/>
              </a:rPr>
              <a:t>KNN algorithms use data and classify new data points based on similarity measures (</a:t>
            </a:r>
            <a:r>
              <a:rPr lang="en-IN" b="0" i="0" dirty="0" err="1">
                <a:solidFill>
                  <a:schemeClr val="bg1"/>
                </a:solidFill>
                <a:effectLst/>
                <a:latin typeface="arial" panose="020B0604020202020204" pitchFamily="34" charset="0"/>
              </a:rPr>
              <a:t>e.g</a:t>
            </a:r>
            <a:r>
              <a:rPr lang="en-IN" b="0" i="0" dirty="0">
                <a:solidFill>
                  <a:schemeClr val="bg1"/>
                </a:solidFill>
                <a:effectLst/>
                <a:latin typeface="arial" panose="020B0604020202020204" pitchFamily="34" charset="0"/>
              </a:rPr>
              <a:t> distance function). Classification is done by a majority vote to its neighbours.</a:t>
            </a:r>
            <a:endParaRPr lang="en-US" b="0" i="0" dirty="0">
              <a:solidFill>
                <a:schemeClr val="bg1"/>
              </a:solidFill>
              <a:effectLst/>
              <a:latin typeface="arial" panose="020B0604020202020204" pitchFamily="34" charset="0"/>
            </a:endParaRPr>
          </a:p>
        </p:txBody>
      </p:sp>
      <p:sp>
        <p:nvSpPr>
          <p:cNvPr id="11" name="Rectangle: Rounded Corners 10">
            <a:extLst>
              <a:ext uri="{FF2B5EF4-FFF2-40B4-BE49-F238E27FC236}">
                <a16:creationId xmlns:a16="http://schemas.microsoft.com/office/drawing/2014/main" id="{23E77440-B252-4862-B16D-95D074D5EF37}"/>
              </a:ext>
            </a:extLst>
          </p:cNvPr>
          <p:cNvSpPr/>
          <p:nvPr/>
        </p:nvSpPr>
        <p:spPr>
          <a:xfrm>
            <a:off x="931605" y="1854670"/>
            <a:ext cx="4450501" cy="5304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Choosing the K value</a:t>
            </a:r>
          </a:p>
        </p:txBody>
      </p:sp>
      <p:sp>
        <p:nvSpPr>
          <p:cNvPr id="12" name="Rectangle: Rounded Corners 11">
            <a:extLst>
              <a:ext uri="{FF2B5EF4-FFF2-40B4-BE49-F238E27FC236}">
                <a16:creationId xmlns:a16="http://schemas.microsoft.com/office/drawing/2014/main" id="{E93B3B78-3212-408D-ADA4-328451D175DD}"/>
              </a:ext>
            </a:extLst>
          </p:cNvPr>
          <p:cNvSpPr/>
          <p:nvPr/>
        </p:nvSpPr>
        <p:spPr>
          <a:xfrm>
            <a:off x="7071146" y="1837855"/>
            <a:ext cx="4450501" cy="5304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solidFill>
                  <a:schemeClr val="bg1"/>
                </a:solidFill>
                <a:latin typeface="Arial" panose="020B0604020202020204" pitchFamily="34" charset="0"/>
                <a:cs typeface="Arial" panose="020B0604020202020204" pitchFamily="34" charset="0"/>
              </a:rPr>
              <a:t>Checking the accuracy of K = 23</a:t>
            </a:r>
            <a:endParaRPr lang="en-US" dirty="0">
              <a:solidFill>
                <a:schemeClr val="bg1"/>
              </a:solidFill>
              <a:latin typeface="Arial" panose="020B0604020202020204" pitchFamily="34" charset="0"/>
              <a:cs typeface="Arial" panose="020B0604020202020204" pitchFamily="34" charset="0"/>
            </a:endParaRPr>
          </a:p>
        </p:txBody>
      </p:sp>
      <p:sp>
        <p:nvSpPr>
          <p:cNvPr id="16" name="Rectangle: Rounded Corners 15">
            <a:extLst>
              <a:ext uri="{FF2B5EF4-FFF2-40B4-BE49-F238E27FC236}">
                <a16:creationId xmlns:a16="http://schemas.microsoft.com/office/drawing/2014/main" id="{4D4BBC59-264A-48AB-875D-3A1056AB5A60}"/>
              </a:ext>
            </a:extLst>
          </p:cNvPr>
          <p:cNvSpPr/>
          <p:nvPr/>
        </p:nvSpPr>
        <p:spPr>
          <a:xfrm>
            <a:off x="520956" y="5736955"/>
            <a:ext cx="5179945" cy="956142"/>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IN" sz="1600" dirty="0">
                <a:solidFill>
                  <a:schemeClr val="bg1"/>
                </a:solidFill>
                <a:latin typeface="Arial" panose="020B0604020202020204" pitchFamily="34" charset="0"/>
                <a:cs typeface="Arial" panose="020B0604020202020204" pitchFamily="34" charset="0"/>
              </a:rPr>
              <a:t>From the above graph we conclude that since the error rate does not fluctuate after k=23, so we choose k value as K=23</a:t>
            </a:r>
            <a:endParaRPr lang="en-US" sz="1600" dirty="0">
              <a:solidFill>
                <a:schemeClr val="bg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07115941-CE47-4047-BB64-54FC43B72DC3}"/>
              </a:ext>
            </a:extLst>
          </p:cNvPr>
          <p:cNvPicPr>
            <a:picLocks noChangeAspect="1"/>
          </p:cNvPicPr>
          <p:nvPr/>
        </p:nvPicPr>
        <p:blipFill rotWithShape="1">
          <a:blip r:embed="rId2"/>
          <a:srcRect l="888" b="1042"/>
          <a:stretch/>
        </p:blipFill>
        <p:spPr>
          <a:xfrm>
            <a:off x="513181" y="2462100"/>
            <a:ext cx="5103845" cy="3219838"/>
          </a:xfrm>
          <a:prstGeom prst="rect">
            <a:avLst/>
          </a:prstGeom>
        </p:spPr>
      </p:pic>
      <p:pic>
        <p:nvPicPr>
          <p:cNvPr id="8" name="Picture 7">
            <a:extLst>
              <a:ext uri="{FF2B5EF4-FFF2-40B4-BE49-F238E27FC236}">
                <a16:creationId xmlns:a16="http://schemas.microsoft.com/office/drawing/2014/main" id="{2BAF8D9E-027C-4352-BF01-22F24706B863}"/>
              </a:ext>
            </a:extLst>
          </p:cNvPr>
          <p:cNvPicPr>
            <a:picLocks noChangeAspect="1"/>
          </p:cNvPicPr>
          <p:nvPr/>
        </p:nvPicPr>
        <p:blipFill>
          <a:blip r:embed="rId3"/>
          <a:stretch>
            <a:fillRect/>
          </a:stretch>
        </p:blipFill>
        <p:spPr>
          <a:xfrm>
            <a:off x="6417903" y="2489188"/>
            <a:ext cx="5585383" cy="3082116"/>
          </a:xfrm>
          <a:prstGeom prst="rect">
            <a:avLst/>
          </a:prstGeom>
        </p:spPr>
      </p:pic>
      <p:sp>
        <p:nvSpPr>
          <p:cNvPr id="17" name="Rectangle: Rounded Corners 16">
            <a:extLst>
              <a:ext uri="{FF2B5EF4-FFF2-40B4-BE49-F238E27FC236}">
                <a16:creationId xmlns:a16="http://schemas.microsoft.com/office/drawing/2014/main" id="{E7457D0E-B359-4D46-A7EC-A368D80A6257}"/>
              </a:ext>
            </a:extLst>
          </p:cNvPr>
          <p:cNvSpPr/>
          <p:nvPr/>
        </p:nvSpPr>
        <p:spPr>
          <a:xfrm>
            <a:off x="6785010" y="5718293"/>
            <a:ext cx="5179945" cy="956142"/>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IN" sz="1600" dirty="0">
                <a:solidFill>
                  <a:schemeClr val="bg1"/>
                </a:solidFill>
                <a:latin typeface="Arial" panose="020B0604020202020204" pitchFamily="34" charset="0"/>
                <a:cs typeface="Arial" panose="020B0604020202020204" pitchFamily="34" charset="0"/>
              </a:rPr>
              <a:t>From the graph we conclude that since the accuracy of K value at k=23 neither increases nor decreases the k value chosen is accurate</a:t>
            </a:r>
            <a:endParaRPr lang="en-US" sz="16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6289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97F680-987B-4505-AF44-92891C69227F}"/>
              </a:ext>
            </a:extLst>
          </p:cNvPr>
          <p:cNvSpPr txBox="1">
            <a:spLocks/>
          </p:cNvSpPr>
          <p:nvPr/>
        </p:nvSpPr>
        <p:spPr>
          <a:xfrm>
            <a:off x="838200" y="251748"/>
            <a:ext cx="10515600" cy="33735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t>K-Nearest Neighbors Classifier</a:t>
            </a:r>
          </a:p>
        </p:txBody>
      </p:sp>
      <p:cxnSp>
        <p:nvCxnSpPr>
          <p:cNvPr id="5" name="Straight Connector 4">
            <a:extLst>
              <a:ext uri="{FF2B5EF4-FFF2-40B4-BE49-F238E27FC236}">
                <a16:creationId xmlns:a16="http://schemas.microsoft.com/office/drawing/2014/main" id="{1F33DBAF-3309-474A-9520-E2936349F789}"/>
              </a:ext>
              <a:ext uri="{C183D7F6-B498-43B3-948B-1728B52AA6E4}">
                <adec:decorative xmlns:adec="http://schemas.microsoft.com/office/drawing/2017/decorative" val="1"/>
              </a:ext>
            </a:extLst>
          </p:cNvPr>
          <p:cNvCxnSpPr>
            <a:cxnSpLocks/>
          </p:cNvCxnSpPr>
          <p:nvPr/>
        </p:nvCxnSpPr>
        <p:spPr>
          <a:xfrm>
            <a:off x="0" y="523783"/>
            <a:ext cx="3470988"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291D72D-5B07-4FDF-8C5C-2B31F0F6B19C}"/>
              </a:ext>
              <a:ext uri="{C183D7F6-B498-43B3-948B-1728B52AA6E4}">
                <adec:decorative xmlns:adec="http://schemas.microsoft.com/office/drawing/2017/decorative" val="1"/>
              </a:ext>
            </a:extLst>
          </p:cNvPr>
          <p:cNvCxnSpPr>
            <a:cxnSpLocks/>
          </p:cNvCxnSpPr>
          <p:nvPr/>
        </p:nvCxnSpPr>
        <p:spPr>
          <a:xfrm>
            <a:off x="8696131" y="523783"/>
            <a:ext cx="3495869"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23E77440-B252-4862-B16D-95D074D5EF37}"/>
              </a:ext>
            </a:extLst>
          </p:cNvPr>
          <p:cNvSpPr/>
          <p:nvPr/>
        </p:nvSpPr>
        <p:spPr>
          <a:xfrm>
            <a:off x="726331" y="812364"/>
            <a:ext cx="4450501" cy="5304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Classification Report</a:t>
            </a:r>
          </a:p>
        </p:txBody>
      </p:sp>
      <p:sp>
        <p:nvSpPr>
          <p:cNvPr id="12" name="Rectangle: Rounded Corners 11">
            <a:extLst>
              <a:ext uri="{FF2B5EF4-FFF2-40B4-BE49-F238E27FC236}">
                <a16:creationId xmlns:a16="http://schemas.microsoft.com/office/drawing/2014/main" id="{E93B3B78-3212-408D-ADA4-328451D175DD}"/>
              </a:ext>
            </a:extLst>
          </p:cNvPr>
          <p:cNvSpPr/>
          <p:nvPr/>
        </p:nvSpPr>
        <p:spPr>
          <a:xfrm>
            <a:off x="7257761" y="764838"/>
            <a:ext cx="4450501" cy="53040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Confusion Matrix Heat Map</a:t>
            </a:r>
          </a:p>
        </p:txBody>
      </p:sp>
      <p:sp>
        <p:nvSpPr>
          <p:cNvPr id="16" name="Rectangle: Rounded Corners 15">
            <a:extLst>
              <a:ext uri="{FF2B5EF4-FFF2-40B4-BE49-F238E27FC236}">
                <a16:creationId xmlns:a16="http://schemas.microsoft.com/office/drawing/2014/main" id="{4D4BBC59-264A-48AB-875D-3A1056AB5A60}"/>
              </a:ext>
            </a:extLst>
          </p:cNvPr>
          <p:cNvSpPr/>
          <p:nvPr/>
        </p:nvSpPr>
        <p:spPr>
          <a:xfrm>
            <a:off x="838200" y="5091676"/>
            <a:ext cx="10218576" cy="1113181"/>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IN" sz="1600" dirty="0">
                <a:solidFill>
                  <a:schemeClr val="bg1"/>
                </a:solidFill>
                <a:latin typeface="Arial" panose="020B0604020202020204" pitchFamily="34" charset="0"/>
                <a:cs typeface="Arial" panose="020B0604020202020204" pitchFamily="34" charset="0"/>
              </a:rPr>
              <a:t>From the above analysis result we conclude that since the overall accuracy score of the model is 0.71 which is close to 1 so the model fits best.</a:t>
            </a:r>
            <a:endParaRPr lang="en-US" sz="1600" dirty="0">
              <a:solidFill>
                <a:schemeClr val="bg1"/>
              </a:solidFill>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FAB435D2-6979-4BF8-9893-E2622BDFDD75}"/>
              </a:ext>
            </a:extLst>
          </p:cNvPr>
          <p:cNvPicPr>
            <a:picLocks noChangeAspect="1"/>
          </p:cNvPicPr>
          <p:nvPr/>
        </p:nvPicPr>
        <p:blipFill>
          <a:blip r:embed="rId2"/>
          <a:stretch>
            <a:fillRect/>
          </a:stretch>
        </p:blipFill>
        <p:spPr>
          <a:xfrm>
            <a:off x="390000" y="1673339"/>
            <a:ext cx="5772659" cy="2142881"/>
          </a:xfrm>
          <a:prstGeom prst="rect">
            <a:avLst/>
          </a:prstGeom>
        </p:spPr>
      </p:pic>
      <p:pic>
        <p:nvPicPr>
          <p:cNvPr id="15" name="Picture 14">
            <a:extLst>
              <a:ext uri="{FF2B5EF4-FFF2-40B4-BE49-F238E27FC236}">
                <a16:creationId xmlns:a16="http://schemas.microsoft.com/office/drawing/2014/main" id="{A633E4BB-8F84-485F-9CE0-CC1DA54CB0FD}"/>
              </a:ext>
            </a:extLst>
          </p:cNvPr>
          <p:cNvPicPr>
            <a:picLocks noChangeAspect="1"/>
          </p:cNvPicPr>
          <p:nvPr/>
        </p:nvPicPr>
        <p:blipFill rotWithShape="1">
          <a:blip r:embed="rId3"/>
          <a:srcRect l="4826" r="342" b="5751"/>
          <a:stretch/>
        </p:blipFill>
        <p:spPr>
          <a:xfrm>
            <a:off x="6708711" y="1466289"/>
            <a:ext cx="5206482" cy="3021736"/>
          </a:xfrm>
          <a:prstGeom prst="rect">
            <a:avLst/>
          </a:prstGeom>
        </p:spPr>
      </p:pic>
    </p:spTree>
    <p:extLst>
      <p:ext uri="{BB962C8B-B14F-4D97-AF65-F5344CB8AC3E}">
        <p14:creationId xmlns:p14="http://schemas.microsoft.com/office/powerpoint/2010/main" val="7463657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97F680-987B-4505-AF44-92891C69227F}"/>
              </a:ext>
            </a:extLst>
          </p:cNvPr>
          <p:cNvSpPr txBox="1">
            <a:spLocks/>
          </p:cNvSpPr>
          <p:nvPr/>
        </p:nvSpPr>
        <p:spPr>
          <a:xfrm>
            <a:off x="838200" y="251748"/>
            <a:ext cx="10515600" cy="33735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t>Accuracy of the Classification Models</a:t>
            </a:r>
            <a:endParaRPr lang="en-US" sz="2800" b="1" dirty="0"/>
          </a:p>
        </p:txBody>
      </p:sp>
      <p:cxnSp>
        <p:nvCxnSpPr>
          <p:cNvPr id="5" name="Straight Connector 4">
            <a:extLst>
              <a:ext uri="{FF2B5EF4-FFF2-40B4-BE49-F238E27FC236}">
                <a16:creationId xmlns:a16="http://schemas.microsoft.com/office/drawing/2014/main" id="{1F33DBAF-3309-474A-9520-E2936349F789}"/>
              </a:ext>
              <a:ext uri="{C183D7F6-B498-43B3-948B-1728B52AA6E4}">
                <adec:decorative xmlns:adec="http://schemas.microsoft.com/office/drawing/2017/decorative" val="1"/>
              </a:ext>
            </a:extLst>
          </p:cNvPr>
          <p:cNvCxnSpPr>
            <a:cxnSpLocks/>
          </p:cNvCxnSpPr>
          <p:nvPr/>
        </p:nvCxnSpPr>
        <p:spPr>
          <a:xfrm>
            <a:off x="0" y="523783"/>
            <a:ext cx="2808514"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291D72D-5B07-4FDF-8C5C-2B31F0F6B19C}"/>
              </a:ext>
              <a:ext uri="{C183D7F6-B498-43B3-948B-1728B52AA6E4}">
                <adec:decorative xmlns:adec="http://schemas.microsoft.com/office/drawing/2017/decorative" val="1"/>
              </a:ext>
            </a:extLst>
          </p:cNvPr>
          <p:cNvCxnSpPr>
            <a:cxnSpLocks/>
          </p:cNvCxnSpPr>
          <p:nvPr/>
        </p:nvCxnSpPr>
        <p:spPr>
          <a:xfrm>
            <a:off x="9339943" y="523783"/>
            <a:ext cx="285205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24EF7F14-CABA-45F7-B59F-F1256359087D}"/>
              </a:ext>
            </a:extLst>
          </p:cNvPr>
          <p:cNvSpPr/>
          <p:nvPr/>
        </p:nvSpPr>
        <p:spPr>
          <a:xfrm>
            <a:off x="1517780" y="861135"/>
            <a:ext cx="9523444" cy="264717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endParaRPr lang="en-US" dirty="0">
              <a:solidFill>
                <a:schemeClr val="bg1"/>
              </a:solidFill>
              <a:latin typeface="Arial" panose="020B0604020202020204" pitchFamily="34" charset="0"/>
              <a:cs typeface="Arial" panose="020B0604020202020204" pitchFamily="34" charset="0"/>
            </a:endParaRPr>
          </a:p>
        </p:txBody>
      </p:sp>
      <p:graphicFrame>
        <p:nvGraphicFramePr>
          <p:cNvPr id="13" name="Table 17">
            <a:extLst>
              <a:ext uri="{FF2B5EF4-FFF2-40B4-BE49-F238E27FC236}">
                <a16:creationId xmlns:a16="http://schemas.microsoft.com/office/drawing/2014/main" id="{42D05C55-062F-4131-929D-7C84BCE39800}"/>
              </a:ext>
            </a:extLst>
          </p:cNvPr>
          <p:cNvGraphicFramePr>
            <a:graphicFrameLocks noGrp="1"/>
          </p:cNvGraphicFramePr>
          <p:nvPr>
            <p:extLst>
              <p:ext uri="{D42A27DB-BD31-4B8C-83A1-F6EECF244321}">
                <p14:modId xmlns:p14="http://schemas.microsoft.com/office/powerpoint/2010/main" val="4243212229"/>
              </p:ext>
            </p:extLst>
          </p:nvPr>
        </p:nvGraphicFramePr>
        <p:xfrm>
          <a:off x="1800807" y="1222996"/>
          <a:ext cx="8798767" cy="1708485"/>
        </p:xfrm>
        <a:graphic>
          <a:graphicData uri="http://schemas.openxmlformats.org/drawingml/2006/table">
            <a:tbl>
              <a:tblPr firstRow="1" bandRow="1">
                <a:tableStyleId>{2D5ABB26-0587-4C30-8999-92F81FD0307C}</a:tableStyleId>
              </a:tblPr>
              <a:tblGrid>
                <a:gridCol w="4384009">
                  <a:extLst>
                    <a:ext uri="{9D8B030D-6E8A-4147-A177-3AD203B41FA5}">
                      <a16:colId xmlns:a16="http://schemas.microsoft.com/office/drawing/2014/main" val="3934099021"/>
                    </a:ext>
                  </a:extLst>
                </a:gridCol>
                <a:gridCol w="4414758">
                  <a:extLst>
                    <a:ext uri="{9D8B030D-6E8A-4147-A177-3AD203B41FA5}">
                      <a16:colId xmlns:a16="http://schemas.microsoft.com/office/drawing/2014/main" val="614293111"/>
                    </a:ext>
                  </a:extLst>
                </a:gridCol>
              </a:tblGrid>
              <a:tr h="569495">
                <a:tc>
                  <a:txBody>
                    <a:bodyPr/>
                    <a:lstStyle/>
                    <a:p>
                      <a:pPr algn="ctr"/>
                      <a:r>
                        <a:rPr lang="en-IN" sz="1800" dirty="0">
                          <a:solidFill>
                            <a:schemeClr val="bg1"/>
                          </a:solidFill>
                          <a:latin typeface="Arial" panose="020B0604020202020204" pitchFamily="34" charset="0"/>
                          <a:cs typeface="Arial" panose="020B0604020202020204" pitchFamily="34" charset="0"/>
                        </a:rPr>
                        <a:t>Classification Model</a:t>
                      </a:r>
                    </a:p>
                  </a:txBody>
                  <a:tcPr/>
                </a:tc>
                <a:tc>
                  <a:txBody>
                    <a:bodyPr/>
                    <a:lstStyle/>
                    <a:p>
                      <a:pPr algn="ctr"/>
                      <a:r>
                        <a:rPr lang="en-IN" sz="1800" dirty="0">
                          <a:solidFill>
                            <a:schemeClr val="bg1"/>
                          </a:solidFill>
                          <a:latin typeface="Arial" panose="020B0604020202020204" pitchFamily="34" charset="0"/>
                          <a:cs typeface="Arial" panose="020B0604020202020204" pitchFamily="34" charset="0"/>
                        </a:rPr>
                        <a:t>Accuracy</a:t>
                      </a:r>
                    </a:p>
                  </a:txBody>
                  <a:tcPr/>
                </a:tc>
                <a:extLst>
                  <a:ext uri="{0D108BD9-81ED-4DB2-BD59-A6C34878D82A}">
                    <a16:rowId xmlns:a16="http://schemas.microsoft.com/office/drawing/2014/main" val="1780922426"/>
                  </a:ext>
                </a:extLst>
              </a:tr>
              <a:tr h="569495">
                <a:tc>
                  <a:txBody>
                    <a:bodyPr/>
                    <a:lstStyle/>
                    <a:p>
                      <a:pPr algn="ctr"/>
                      <a:r>
                        <a:rPr lang="en-IN" sz="1800" dirty="0">
                          <a:solidFill>
                            <a:schemeClr val="bg1"/>
                          </a:solidFill>
                          <a:latin typeface="Arial" panose="020B0604020202020204" pitchFamily="34" charset="0"/>
                          <a:cs typeface="Arial" panose="020B0604020202020204" pitchFamily="34" charset="0"/>
                        </a:rPr>
                        <a:t>Random Forest Classifier</a:t>
                      </a:r>
                    </a:p>
                  </a:txBody>
                  <a:tcPr/>
                </a:tc>
                <a:tc>
                  <a:txBody>
                    <a:bodyPr/>
                    <a:lstStyle/>
                    <a:p>
                      <a:pPr algn="ctr"/>
                      <a:r>
                        <a:rPr lang="en-IN" sz="1800" dirty="0">
                          <a:solidFill>
                            <a:schemeClr val="bg1"/>
                          </a:solidFill>
                          <a:latin typeface="Arial" panose="020B0604020202020204" pitchFamily="34" charset="0"/>
                          <a:cs typeface="Arial" panose="020B0604020202020204" pitchFamily="34" charset="0"/>
                        </a:rPr>
                        <a:t>0.5121951219512195</a:t>
                      </a:r>
                    </a:p>
                  </a:txBody>
                  <a:tcPr/>
                </a:tc>
                <a:extLst>
                  <a:ext uri="{0D108BD9-81ED-4DB2-BD59-A6C34878D82A}">
                    <a16:rowId xmlns:a16="http://schemas.microsoft.com/office/drawing/2014/main" val="3036561228"/>
                  </a:ext>
                </a:extLst>
              </a:tr>
              <a:tr h="569495">
                <a:tc>
                  <a:txBody>
                    <a:bodyPr/>
                    <a:lstStyle/>
                    <a:p>
                      <a:pPr algn="ctr"/>
                      <a:r>
                        <a:rPr lang="en-IN" sz="1800" dirty="0">
                          <a:solidFill>
                            <a:schemeClr val="bg1"/>
                          </a:solidFill>
                          <a:latin typeface="Arial" panose="020B0604020202020204" pitchFamily="34" charset="0"/>
                          <a:cs typeface="Arial" panose="020B0604020202020204" pitchFamily="34" charset="0"/>
                        </a:rPr>
                        <a:t>K-Nearest </a:t>
                      </a:r>
                      <a:r>
                        <a:rPr lang="en-IN" sz="1800" dirty="0" err="1">
                          <a:solidFill>
                            <a:schemeClr val="bg1"/>
                          </a:solidFill>
                          <a:latin typeface="Arial" panose="020B0604020202020204" pitchFamily="34" charset="0"/>
                          <a:cs typeface="Arial" panose="020B0604020202020204" pitchFamily="34" charset="0"/>
                        </a:rPr>
                        <a:t>Neighbor</a:t>
                      </a:r>
                      <a:r>
                        <a:rPr lang="en-IN" sz="1800" dirty="0">
                          <a:solidFill>
                            <a:schemeClr val="bg1"/>
                          </a:solidFill>
                          <a:latin typeface="Arial" panose="020B0604020202020204" pitchFamily="34" charset="0"/>
                          <a:cs typeface="Arial" panose="020B0604020202020204" pitchFamily="34" charset="0"/>
                        </a:rPr>
                        <a:t> Classifier</a:t>
                      </a:r>
                    </a:p>
                  </a:txBody>
                  <a:tcPr/>
                </a:tc>
                <a:tc>
                  <a:txBody>
                    <a:bodyPr/>
                    <a:lstStyle/>
                    <a:p>
                      <a:pPr algn="ctr"/>
                      <a:r>
                        <a:rPr lang="en-IN" sz="1800" dirty="0">
                          <a:solidFill>
                            <a:schemeClr val="bg1"/>
                          </a:solidFill>
                          <a:latin typeface="Arial" panose="020B0604020202020204" pitchFamily="34" charset="0"/>
                          <a:cs typeface="Arial" panose="020B0604020202020204" pitchFamily="34" charset="0"/>
                        </a:rPr>
                        <a:t>0.7073170731707317</a:t>
                      </a:r>
                    </a:p>
                  </a:txBody>
                  <a:tcPr/>
                </a:tc>
                <a:extLst>
                  <a:ext uri="{0D108BD9-81ED-4DB2-BD59-A6C34878D82A}">
                    <a16:rowId xmlns:a16="http://schemas.microsoft.com/office/drawing/2014/main" val="970221926"/>
                  </a:ext>
                </a:extLst>
              </a:tr>
            </a:tbl>
          </a:graphicData>
        </a:graphic>
      </p:graphicFrame>
      <p:graphicFrame>
        <p:nvGraphicFramePr>
          <p:cNvPr id="19" name="Table 18">
            <a:extLst>
              <a:ext uri="{FF2B5EF4-FFF2-40B4-BE49-F238E27FC236}">
                <a16:creationId xmlns:a16="http://schemas.microsoft.com/office/drawing/2014/main" id="{60E5F592-7F67-4AAC-9633-C562A0B3EA44}"/>
              </a:ext>
            </a:extLst>
          </p:cNvPr>
          <p:cNvGraphicFramePr>
            <a:graphicFrameLocks noGrp="1"/>
          </p:cNvGraphicFramePr>
          <p:nvPr>
            <p:extLst>
              <p:ext uri="{D42A27DB-BD31-4B8C-83A1-F6EECF244321}">
                <p14:modId xmlns:p14="http://schemas.microsoft.com/office/powerpoint/2010/main" val="1266702310"/>
              </p:ext>
            </p:extLst>
          </p:nvPr>
        </p:nvGraphicFramePr>
        <p:xfrm>
          <a:off x="1828799" y="1193504"/>
          <a:ext cx="8845421" cy="2001156"/>
        </p:xfrm>
        <a:graphic>
          <a:graphicData uri="http://schemas.openxmlformats.org/drawingml/2006/table">
            <a:tbl>
              <a:tblPr/>
              <a:tblGrid>
                <a:gridCol w="8845421">
                  <a:extLst>
                    <a:ext uri="{9D8B030D-6E8A-4147-A177-3AD203B41FA5}">
                      <a16:colId xmlns:a16="http://schemas.microsoft.com/office/drawing/2014/main" val="2824758938"/>
                    </a:ext>
                  </a:extLst>
                </a:gridCol>
              </a:tblGrid>
              <a:tr h="2001156">
                <a:tc>
                  <a:txBody>
                    <a:bodyPr/>
                    <a:lstStyle/>
                    <a:p>
                      <a:endParaRPr lang="en-IN" dirty="0"/>
                    </a:p>
                  </a:txBody>
                  <a:tcP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extLst>
                  <a:ext uri="{0D108BD9-81ED-4DB2-BD59-A6C34878D82A}">
                    <a16:rowId xmlns:a16="http://schemas.microsoft.com/office/drawing/2014/main" val="2800589778"/>
                  </a:ext>
                </a:extLst>
              </a:tr>
            </a:tbl>
          </a:graphicData>
        </a:graphic>
      </p:graphicFrame>
      <p:graphicFrame>
        <p:nvGraphicFramePr>
          <p:cNvPr id="20" name="Table 19">
            <a:extLst>
              <a:ext uri="{FF2B5EF4-FFF2-40B4-BE49-F238E27FC236}">
                <a16:creationId xmlns:a16="http://schemas.microsoft.com/office/drawing/2014/main" id="{D711805F-1CDF-46DC-AAC2-8CC44C6BA50B}"/>
              </a:ext>
            </a:extLst>
          </p:cNvPr>
          <p:cNvGraphicFramePr>
            <a:graphicFrameLocks noGrp="1"/>
          </p:cNvGraphicFramePr>
          <p:nvPr>
            <p:extLst>
              <p:ext uri="{D42A27DB-BD31-4B8C-83A1-F6EECF244321}">
                <p14:modId xmlns:p14="http://schemas.microsoft.com/office/powerpoint/2010/main" val="2128880376"/>
              </p:ext>
            </p:extLst>
          </p:nvPr>
        </p:nvGraphicFramePr>
        <p:xfrm>
          <a:off x="1819469" y="1189915"/>
          <a:ext cx="8836089" cy="505999"/>
        </p:xfrm>
        <a:graphic>
          <a:graphicData uri="http://schemas.openxmlformats.org/drawingml/2006/table">
            <a:tbl>
              <a:tblPr/>
              <a:tblGrid>
                <a:gridCol w="8836089">
                  <a:extLst>
                    <a:ext uri="{9D8B030D-6E8A-4147-A177-3AD203B41FA5}">
                      <a16:colId xmlns:a16="http://schemas.microsoft.com/office/drawing/2014/main" val="822510724"/>
                    </a:ext>
                  </a:extLst>
                </a:gridCol>
              </a:tblGrid>
              <a:tr h="505999">
                <a:tc>
                  <a:txBody>
                    <a:bodyPr/>
                    <a:lstStyle/>
                    <a:p>
                      <a:endParaRPr lang="en-IN" dirty="0"/>
                    </a:p>
                  </a:txBody>
                  <a:tcP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extLst>
                  <a:ext uri="{0D108BD9-81ED-4DB2-BD59-A6C34878D82A}">
                    <a16:rowId xmlns:a16="http://schemas.microsoft.com/office/drawing/2014/main" val="2263684052"/>
                  </a:ext>
                </a:extLst>
              </a:tr>
            </a:tbl>
          </a:graphicData>
        </a:graphic>
      </p:graphicFrame>
      <p:cxnSp>
        <p:nvCxnSpPr>
          <p:cNvPr id="23" name="Straight Connector 22">
            <a:extLst>
              <a:ext uri="{FF2B5EF4-FFF2-40B4-BE49-F238E27FC236}">
                <a16:creationId xmlns:a16="http://schemas.microsoft.com/office/drawing/2014/main" id="{CB5190E0-BF45-448D-90A8-EDBCCB2B341F}"/>
              </a:ext>
            </a:extLst>
          </p:cNvPr>
          <p:cNvCxnSpPr>
            <a:cxnSpLocks/>
            <a:endCxn id="19" idx="2"/>
          </p:cNvCxnSpPr>
          <p:nvPr/>
        </p:nvCxnSpPr>
        <p:spPr>
          <a:xfrm>
            <a:off x="6204857" y="1212164"/>
            <a:ext cx="46652" cy="198249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4D044D8A-6596-4A36-B921-8848093A267B}"/>
              </a:ext>
            </a:extLst>
          </p:cNvPr>
          <p:cNvSpPr/>
          <p:nvPr/>
        </p:nvSpPr>
        <p:spPr>
          <a:xfrm>
            <a:off x="1446840" y="4001613"/>
            <a:ext cx="9712572" cy="1995251"/>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just"/>
            <a:r>
              <a:rPr lang="en-IN" sz="1600" dirty="0">
                <a:solidFill>
                  <a:schemeClr val="bg1"/>
                </a:solidFill>
                <a:latin typeface="Arial" panose="020B0604020202020204" pitchFamily="34" charset="0"/>
                <a:cs typeface="Arial" panose="020B0604020202020204" pitchFamily="34" charset="0"/>
              </a:rPr>
              <a:t>By comparing the accuracy of the classification model we conclude that the K- Nearest </a:t>
            </a:r>
            <a:r>
              <a:rPr lang="en-IN" sz="1600" dirty="0" err="1">
                <a:solidFill>
                  <a:schemeClr val="bg1"/>
                </a:solidFill>
                <a:latin typeface="Arial" panose="020B0604020202020204" pitchFamily="34" charset="0"/>
                <a:cs typeface="Arial" panose="020B0604020202020204" pitchFamily="34" charset="0"/>
              </a:rPr>
              <a:t>Neighbor</a:t>
            </a:r>
            <a:r>
              <a:rPr lang="en-IN" sz="1600" dirty="0">
                <a:solidFill>
                  <a:schemeClr val="bg1"/>
                </a:solidFill>
                <a:latin typeface="Arial" panose="020B0604020202020204" pitchFamily="34" charset="0"/>
                <a:cs typeface="Arial" panose="020B0604020202020204" pitchFamily="34" charset="0"/>
              </a:rPr>
              <a:t> Classifier have more accuracy in prediction when compared to the others classification model, it has the highest Accuracy Score </a:t>
            </a:r>
            <a:r>
              <a:rPr lang="en-IN" sz="1600" dirty="0" err="1">
                <a:solidFill>
                  <a:schemeClr val="bg1"/>
                </a:solidFill>
                <a:latin typeface="Arial" panose="020B0604020202020204" pitchFamily="34" charset="0"/>
                <a:cs typeface="Arial" panose="020B0604020202020204" pitchFamily="34" charset="0"/>
              </a:rPr>
              <a:t>i.e</a:t>
            </a:r>
            <a:r>
              <a:rPr lang="en-IN" sz="1600" dirty="0">
                <a:solidFill>
                  <a:schemeClr val="bg1"/>
                </a:solidFill>
                <a:latin typeface="Arial" panose="020B0604020202020204" pitchFamily="34" charset="0"/>
                <a:cs typeface="Arial" panose="020B0604020202020204" pitchFamily="34" charset="0"/>
              </a:rPr>
              <a:t> 0.7073170731707317</a:t>
            </a:r>
          </a:p>
          <a:p>
            <a:pPr algn="just"/>
            <a:endParaRPr lang="en-IN" sz="1600" dirty="0">
              <a:solidFill>
                <a:schemeClr val="bg1"/>
              </a:solidFill>
              <a:latin typeface="Arial" panose="020B0604020202020204" pitchFamily="34" charset="0"/>
              <a:cs typeface="Arial" panose="020B0604020202020204" pitchFamily="34" charset="0"/>
            </a:endParaRPr>
          </a:p>
          <a:p>
            <a:pPr algn="just"/>
            <a:r>
              <a:rPr lang="en-US" sz="1600" dirty="0">
                <a:solidFill>
                  <a:schemeClr val="bg1"/>
                </a:solidFill>
                <a:latin typeface="Arial" panose="020B0604020202020204" pitchFamily="34" charset="0"/>
                <a:cs typeface="Arial" panose="020B0604020202020204" pitchFamily="34" charset="0"/>
              </a:rPr>
              <a:t>Hence, </a:t>
            </a:r>
            <a:r>
              <a:rPr lang="en-IN" sz="1600" dirty="0">
                <a:solidFill>
                  <a:schemeClr val="bg1"/>
                </a:solidFill>
                <a:latin typeface="Arial" panose="020B0604020202020204" pitchFamily="34" charset="0"/>
                <a:cs typeface="Arial" panose="020B0604020202020204" pitchFamily="34" charset="0"/>
              </a:rPr>
              <a:t>K-Nearest </a:t>
            </a:r>
            <a:r>
              <a:rPr lang="en-IN" sz="1600" dirty="0" err="1">
                <a:solidFill>
                  <a:schemeClr val="bg1"/>
                </a:solidFill>
                <a:latin typeface="Arial" panose="020B0604020202020204" pitchFamily="34" charset="0"/>
                <a:cs typeface="Arial" panose="020B0604020202020204" pitchFamily="34" charset="0"/>
              </a:rPr>
              <a:t>Neighbor</a:t>
            </a:r>
            <a:r>
              <a:rPr lang="en-IN" sz="1600" dirty="0">
                <a:solidFill>
                  <a:schemeClr val="bg1"/>
                </a:solidFill>
                <a:latin typeface="Arial" panose="020B0604020202020204" pitchFamily="34" charset="0"/>
                <a:cs typeface="Arial" panose="020B0604020202020204" pitchFamily="34" charset="0"/>
              </a:rPr>
              <a:t> Classifier is used for predicting whether the user will take a house loan or not take a house loan to buy a house.</a:t>
            </a:r>
          </a:p>
        </p:txBody>
      </p:sp>
      <p:pic>
        <p:nvPicPr>
          <p:cNvPr id="25" name="Picture 24">
            <a:extLst>
              <a:ext uri="{FF2B5EF4-FFF2-40B4-BE49-F238E27FC236}">
                <a16:creationId xmlns:a16="http://schemas.microsoft.com/office/drawing/2014/main" id="{26F48DDA-F1E6-4D06-8550-5F2467E01168}"/>
              </a:ext>
            </a:extLst>
          </p:cNvPr>
          <p:cNvPicPr>
            <a:picLocks noChangeAspect="1"/>
          </p:cNvPicPr>
          <p:nvPr/>
        </p:nvPicPr>
        <p:blipFill>
          <a:blip r:embed="rId2"/>
          <a:stretch>
            <a:fillRect/>
          </a:stretch>
        </p:blipFill>
        <p:spPr>
          <a:xfrm>
            <a:off x="6132133" y="3523338"/>
            <a:ext cx="299564" cy="647446"/>
          </a:xfrm>
          <a:prstGeom prst="rect">
            <a:avLst/>
          </a:prstGeom>
        </p:spPr>
      </p:pic>
    </p:spTree>
    <p:extLst>
      <p:ext uri="{BB962C8B-B14F-4D97-AF65-F5344CB8AC3E}">
        <p14:creationId xmlns:p14="http://schemas.microsoft.com/office/powerpoint/2010/main" val="39651915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p:nvPr>
        </p:nvSpPr>
        <p:spPr/>
        <p:txBody>
          <a:bodyPr/>
          <a:lstStyle/>
          <a:p>
            <a:r>
              <a:rPr lang="en-US" dirty="0"/>
              <a:t>Project analysis slide 4</a:t>
            </a:r>
          </a:p>
        </p:txBody>
      </p:sp>
      <p:sp>
        <p:nvSpPr>
          <p:cNvPr id="2" name="Content Placeholder 1">
            <a:extLst>
              <a:ext uri="{FF2B5EF4-FFF2-40B4-BE49-F238E27FC236}">
                <a16:creationId xmlns:a16="http://schemas.microsoft.com/office/drawing/2014/main" id="{D485D20B-7EC1-4476-AB07-150CC198B08B}"/>
              </a:ext>
            </a:extLst>
          </p:cNvPr>
          <p:cNvSpPr>
            <a:spLocks noGrp="1"/>
          </p:cNvSpPr>
          <p:nvPr>
            <p:ph idx="1"/>
          </p:nvPr>
        </p:nvSpPr>
        <p:spPr/>
        <p:txBody>
          <a:bodyPr>
            <a:normAutofit/>
          </a:bodyPr>
          <a:lstStyle/>
          <a:p>
            <a:r>
              <a:rPr lang="en-IN" sz="1800" b="0" i="0" u="none" strike="noStrike" baseline="0" dirty="0">
                <a:solidFill>
                  <a:srgbClr val="000000"/>
                </a:solidFill>
                <a:latin typeface="Times New Roman" panose="02020603050405020304" pitchFamily="18" charset="0"/>
              </a:rPr>
              <a:t>The main of this project is to determine the prediction of house prices which have successfully done using different machine learning algorithms like Multiple Linear Regression, Support Vector Regressor, Decision Tree Regressor and Random Forest Regressor, so after the analysis it was clear that Random Forest Regressor have more accuracy in prediction as compared to other regression models.</a:t>
            </a:r>
          </a:p>
          <a:p>
            <a:r>
              <a:rPr lang="en-IN" sz="1800" b="0" i="0" u="none" strike="noStrike" baseline="0" dirty="0">
                <a:solidFill>
                  <a:srgbClr val="000000"/>
                </a:solidFill>
                <a:latin typeface="Times New Roman" panose="02020603050405020304" pitchFamily="18" charset="0"/>
              </a:rPr>
              <a:t>Maximum house owners are between the age group of 46-65 and male house owners are more as compared to female.</a:t>
            </a:r>
          </a:p>
          <a:p>
            <a:r>
              <a:rPr lang="en-IN" sz="1800" b="0" i="0" u="none" strike="noStrike" baseline="0" dirty="0">
                <a:solidFill>
                  <a:srgbClr val="000000"/>
                </a:solidFill>
                <a:latin typeface="Times New Roman" panose="02020603050405020304" pitchFamily="18" charset="0"/>
              </a:rPr>
              <a:t>Maximum new house buyers are between the age group of 36-55 and minimum new house buyers are between the age group of 25-35 and 56-45 male buyers are more as compared to female.</a:t>
            </a:r>
          </a:p>
          <a:p>
            <a:r>
              <a:rPr lang="en-IN" sz="1800" b="0" i="0" u="none" strike="noStrike" baseline="0" dirty="0">
                <a:solidFill>
                  <a:srgbClr val="000000"/>
                </a:solidFill>
                <a:latin typeface="Times New Roman" panose="02020603050405020304" pitchFamily="18" charset="0"/>
              </a:rPr>
              <a:t>The house price is highly dependent on the following features (No of Bed Rooms, Carpet Area, Location, 24Hr Water Supply, Gas Pipeline, Lift and medical).</a:t>
            </a:r>
          </a:p>
          <a:p>
            <a:r>
              <a:rPr lang="en-IN" sz="1800" b="0" i="0" u="none" strike="noStrike" baseline="0" dirty="0">
                <a:solidFill>
                  <a:srgbClr val="000000"/>
                </a:solidFill>
                <a:latin typeface="Times New Roman" panose="02020603050405020304" pitchFamily="18" charset="0"/>
              </a:rPr>
              <a:t>Most of the buyers take housing loan to buy a new house.</a:t>
            </a:r>
          </a:p>
          <a:p>
            <a:r>
              <a:rPr lang="en-IN" sz="1800" b="0" i="0" u="none" strike="noStrike" baseline="0" dirty="0">
                <a:solidFill>
                  <a:srgbClr val="000000"/>
                </a:solidFill>
                <a:latin typeface="Times New Roman" panose="02020603050405020304" pitchFamily="18" charset="0"/>
              </a:rPr>
              <a:t>Since we considered western line house prices so people staying between Borivali to Bandra have moderate house price as compared to people staying in between Mahim to Churchgate have very high prices and people staying in between Dahisar to Virar have less house price.</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753383" y="522898"/>
            <a:ext cx="343861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House Price Prediction System</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471169"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87" name="Rectangle 86">
            <a:extLst>
              <a:ext uri="{FF2B5EF4-FFF2-40B4-BE49-F238E27FC236}">
                <a16:creationId xmlns:a16="http://schemas.microsoft.com/office/drawing/2014/main" id="{D927301F-4FAD-47A6-987B-1D9C411B7CC1}"/>
              </a:ext>
            </a:extLst>
          </p:cNvPr>
          <p:cNvSpPr/>
          <p:nvPr/>
        </p:nvSpPr>
        <p:spPr>
          <a:xfrm>
            <a:off x="10576718" y="1789886"/>
            <a:ext cx="1348582" cy="223394"/>
          </a:xfrm>
          <a:prstGeom prst="rect">
            <a:avLst/>
          </a:prstGeom>
        </p:spPr>
        <p:txBody>
          <a:bodyPr wrap="square" lIns="0" tIns="0" rIns="0" bIns="0" anchor="ctr">
            <a:spAutoFit/>
          </a:bodyPr>
          <a:lstStyle/>
          <a:p>
            <a:pPr>
              <a:lnSpc>
                <a:spcPts val="1900"/>
              </a:lnSpc>
            </a:pPr>
            <a:r>
              <a:rPr lang="en-US" sz="1400" dirty="0">
                <a:solidFill>
                  <a:schemeClr val="tx1">
                    <a:lumMod val="75000"/>
                    <a:lumOff val="25000"/>
                  </a:schemeClr>
                </a:solidFill>
                <a:cs typeface="Segoe UI" panose="020B0502040204020203" pitchFamily="34" charset="0"/>
              </a:rPr>
              <a:t>.</a:t>
            </a:r>
          </a:p>
        </p:txBody>
      </p:sp>
      <p:sp>
        <p:nvSpPr>
          <p:cNvPr id="89" name="Rectangle 88">
            <a:extLst>
              <a:ext uri="{FF2B5EF4-FFF2-40B4-BE49-F238E27FC236}">
                <a16:creationId xmlns:a16="http://schemas.microsoft.com/office/drawing/2014/main" id="{AAC2972F-490F-4F2F-8A08-930B8C850374}"/>
              </a:ext>
            </a:extLst>
          </p:cNvPr>
          <p:cNvSpPr/>
          <p:nvPr/>
        </p:nvSpPr>
        <p:spPr>
          <a:xfrm>
            <a:off x="10576718" y="5431847"/>
            <a:ext cx="1348582" cy="223394"/>
          </a:xfrm>
          <a:prstGeom prst="rect">
            <a:avLst/>
          </a:prstGeom>
        </p:spPr>
        <p:txBody>
          <a:bodyPr wrap="square" lIns="0" tIns="0" rIns="0" bIns="0" anchor="ctr">
            <a:spAutoFit/>
          </a:bodyPr>
          <a:lstStyle/>
          <a:p>
            <a:pPr>
              <a:lnSpc>
                <a:spcPts val="1900"/>
              </a:lnSpc>
            </a:pPr>
            <a:r>
              <a:rPr lang="en-US" sz="1400" dirty="0">
                <a:solidFill>
                  <a:schemeClr val="tx1">
                    <a:lumMod val="75000"/>
                    <a:lumOff val="25000"/>
                  </a:schemeClr>
                </a:solidFill>
                <a:cs typeface="Segoe UI" panose="020B0502040204020203" pitchFamily="34" charset="0"/>
              </a:rPr>
              <a:t>.</a:t>
            </a:r>
          </a:p>
        </p:txBody>
      </p:sp>
      <p:sp>
        <p:nvSpPr>
          <p:cNvPr id="92" name="Rectangle 91">
            <a:extLst>
              <a:ext uri="{FF2B5EF4-FFF2-40B4-BE49-F238E27FC236}">
                <a16:creationId xmlns:a16="http://schemas.microsoft.com/office/drawing/2014/main" id="{A69BDC62-882D-49FD-B60A-05F493B04723}"/>
              </a:ext>
            </a:extLst>
          </p:cNvPr>
          <p:cNvSpPr/>
          <p:nvPr/>
        </p:nvSpPr>
        <p:spPr>
          <a:xfrm>
            <a:off x="266700" y="2468356"/>
            <a:ext cx="1348582" cy="223394"/>
          </a:xfrm>
          <a:prstGeom prst="rect">
            <a:avLst/>
          </a:prstGeom>
        </p:spPr>
        <p:txBody>
          <a:bodyPr wrap="square" lIns="0" tIns="0" rIns="0" bIns="0" anchor="ctr">
            <a:spAutoFit/>
          </a:bodyPr>
          <a:lstStyle/>
          <a:p>
            <a:pPr algn="r">
              <a:lnSpc>
                <a:spcPts val="1900"/>
              </a:lnSpc>
            </a:pPr>
            <a:r>
              <a:rPr lang="en-US" sz="1400" dirty="0">
                <a:solidFill>
                  <a:schemeClr val="tx1">
                    <a:lumMod val="75000"/>
                    <a:lumOff val="25000"/>
                  </a:schemeClr>
                </a:solidFill>
                <a:cs typeface="Segoe UI" panose="020B0502040204020203" pitchFamily="34" charset="0"/>
              </a:rPr>
              <a:t>.</a:t>
            </a:r>
          </a:p>
        </p:txBody>
      </p:sp>
      <p:sp>
        <p:nvSpPr>
          <p:cNvPr id="93" name="Rectangle 92">
            <a:extLst>
              <a:ext uri="{FF2B5EF4-FFF2-40B4-BE49-F238E27FC236}">
                <a16:creationId xmlns:a16="http://schemas.microsoft.com/office/drawing/2014/main" id="{FC109BEC-95E0-4EA0-B65C-A8353481F394}"/>
              </a:ext>
            </a:extLst>
          </p:cNvPr>
          <p:cNvSpPr/>
          <p:nvPr/>
        </p:nvSpPr>
        <p:spPr>
          <a:xfrm>
            <a:off x="266700" y="4753379"/>
            <a:ext cx="1348582" cy="223394"/>
          </a:xfrm>
          <a:prstGeom prst="rect">
            <a:avLst/>
          </a:prstGeom>
        </p:spPr>
        <p:txBody>
          <a:bodyPr wrap="square" lIns="0" tIns="0" rIns="0" bIns="0" anchor="ctr">
            <a:spAutoFit/>
          </a:bodyPr>
          <a:lstStyle/>
          <a:p>
            <a:pPr algn="r">
              <a:lnSpc>
                <a:spcPts val="1900"/>
              </a:lnSpc>
            </a:pPr>
            <a:r>
              <a:rPr lang="en-US" sz="1400" dirty="0">
                <a:solidFill>
                  <a:schemeClr val="tx1">
                    <a:lumMod val="75000"/>
                    <a:lumOff val="25000"/>
                  </a:schemeClr>
                </a:solidFill>
                <a:cs typeface="Segoe UI" panose="020B0502040204020203" pitchFamily="34" charset="0"/>
              </a:rPr>
              <a:t> .</a:t>
            </a:r>
          </a:p>
        </p:txBody>
      </p:sp>
      <p:sp>
        <p:nvSpPr>
          <p:cNvPr id="40" name="Rectangle: Top Corners Rounded 39">
            <a:extLst>
              <a:ext uri="{FF2B5EF4-FFF2-40B4-BE49-F238E27FC236}">
                <a16:creationId xmlns:a16="http://schemas.microsoft.com/office/drawing/2014/main" id="{209B9788-B6A3-4180-85C9-FF1B97E514BD}"/>
              </a:ext>
            </a:extLst>
          </p:cNvPr>
          <p:cNvSpPr/>
          <p:nvPr/>
        </p:nvSpPr>
        <p:spPr>
          <a:xfrm>
            <a:off x="4202467" y="850987"/>
            <a:ext cx="3787066" cy="435003"/>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Conclusion</a:t>
            </a:r>
          </a:p>
        </p:txBody>
      </p:sp>
    </p:spTree>
    <p:extLst>
      <p:ext uri="{BB962C8B-B14F-4D97-AF65-F5344CB8AC3E}">
        <p14:creationId xmlns:p14="http://schemas.microsoft.com/office/powerpoint/2010/main" val="37629959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7" y="1544067"/>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3.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1184</TotalTime>
  <Words>2284</Words>
  <Application>Microsoft Office PowerPoint</Application>
  <PresentationFormat>Widescreen</PresentationFormat>
  <Paragraphs>292</Paragraphs>
  <Slides>32</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arial</vt:lpstr>
      <vt:lpstr>Calibri</vt:lpstr>
      <vt:lpstr>Century Gothic</vt:lpstr>
      <vt:lpstr>Segoe UI Light</vt:lpstr>
      <vt:lpstr>Times New Roman</vt:lpstr>
      <vt:lpstr>Office Theme</vt:lpstr>
      <vt:lpstr>Project Presentation On House Price Prediction System </vt:lpstr>
      <vt:lpstr>Project analysis slide 4</vt:lpstr>
      <vt:lpstr>Project analysis slide 4</vt:lpstr>
      <vt:lpstr>Experimental Setup</vt:lpstr>
      <vt:lpstr>Project analysis slide 2</vt:lpstr>
      <vt:lpstr>Data Collection</vt:lpstr>
      <vt:lpstr>Project analysis slide 3</vt:lpstr>
      <vt:lpstr>Project analysis slide 5</vt:lpstr>
      <vt:lpstr>Exploratory Data Analysis</vt:lpstr>
      <vt:lpstr>                                     Exploratory Data Analysis</vt:lpstr>
      <vt:lpstr>Exploratory Data Analysis</vt:lpstr>
      <vt:lpstr>                                       Exploratory Data Analysis</vt:lpstr>
      <vt:lpstr>Exploratory Data Analysis</vt:lpstr>
      <vt:lpstr>Exploratory Data Analysis</vt:lpstr>
      <vt:lpstr>Exploratory Data Analysis</vt:lpstr>
      <vt:lpstr>Exploratory Data Analysis</vt:lpstr>
      <vt:lpstr> Feature Selection</vt:lpstr>
      <vt:lpstr>Data Transformation</vt:lpstr>
      <vt:lpstr>Data Transformation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analysis slide 4</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Presentation On House Price Prediction System</dc:title>
  <dc:creator>Simran Solanki</dc:creator>
  <cp:lastModifiedBy>Simran Solanki</cp:lastModifiedBy>
  <cp:revision>77</cp:revision>
  <dcterms:created xsi:type="dcterms:W3CDTF">2021-06-05T08:46:27Z</dcterms:created>
  <dcterms:modified xsi:type="dcterms:W3CDTF">2021-07-01T14:47:33Z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